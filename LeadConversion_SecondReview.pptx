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0e193983-9f64-aafa-1ebb-5254b45151de}">
          <p14:sldIdLst>
            <p14:sldId id="256"/>
            <p14:sldId id="257"/>
          </p14:sldIdLst>
        </p14:section>
        <p14:section name="Design" id="{8d0d7831-8e1e-1abd-0104-e44f40a9069d}">
          <p14:sldIdLst>
            <p14:sldId id="258"/>
            <p14:sldId id="259"/>
            <p14:sldId id="260"/>
            <p14:sldId id="261"/>
            <p14:sldId id="262"/>
          </p14:sldIdLst>
        </p14:section>
        <p14:section name="Implementation" id="{995a3f96-5a0c-75d4-9cde-d25afd836fa4}">
          <p14:sldIdLst>
            <p14:sldId id="263"/>
            <p14:sldId id="264"/>
            <p14:sldId id="265"/>
            <p14:sldId id="266"/>
          </p14:sldIdLst>
        </p14:section>
        <p14:section name="Results" id="{db7f73f8-4b3e-631c-c75c-deacc6f7f527}">
          <p14:sldIdLst>
            <p14:sldId id="267"/>
            <p14:sldId id="268"/>
            <p14:sldId id="269"/>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3315C"/>
                </a:solidFill>
                <a:latin typeface="+mn-lt"/>
              </a:defRPr>
            </a:pPr>
            <a:r>
              <a:rPr sz="1300" b="0" i="0" u="none" strike="noStrike">
                <a:solidFill>
                  <a:srgbClr val="13315C"/>
                </a:solidFill>
                <a:latin typeface="+mn-lt"/>
              </a:rPr>
              <a:t>What the model finds most important (permutation importance)</a:t>
            </a:r>
          </a:p>
        </c:rich>
      </c:tx>
      <c:layout/>
      <c:overlay val="0"/>
    </c:title>
    <c:autoTitleDeleted val="0"/>
    <c:plotArea>
      <c:layout/>
      <c:barChart>
        <c:barDir val="bar"/>
        <c:grouping val="clustered"/>
        <c:varyColors val="0"/>
        <c:ser>
          <c:idx val="0"/>
          <c:order val="0"/>
          <c:tx>
            <c:strRef>
              <c:f>Sheet1!$B$1</c:f>
              <c:strCache>
                <c:ptCount val="1"/>
                <c:pt idx="0">
                  <c:v>Importance</c:v>
                </c:pt>
              </c:strCache>
            </c:strRef>
          </c:tx>
          <c:spPr>
            <a:solidFill>
              <a:srgbClr val="2F6DB5"/>
            </a:solidFill>
            <a:effectLst/>
          </c:spPr>
          <c:invertIfNegative val="0"/>
          <c:dLbls>
            <c:numFmt formatCode="0.000" sourceLinked="0"/>
            <c:txPr>
              <a:bodyPr/>
              <a:lstStyle/>
              <a:p>
                <a:pPr>
                  <a:defRPr b="0" i="0" strike="noStrike" sz="1100" u="none">
                    <a:solidFill>
                      <a:srgbClr val="222B38"/>
                    </a:solidFill>
                    <a:latin typeface="+mn-lt"/>
                  </a:defRPr>
                </a:pPr>
              </a:p>
            </c:txPr>
            <c:showLegendKey val="0"/>
            <c:showVal val="1"/>
            <c:showCatName val="0"/>
            <c:showSerName val="0"/>
            <c:showPercent val="0"/>
            <c:showBubbleSize val="0"/>
            <c:showLeaderLines val="0"/>
          </c:dLbls>
          <c:cat>
            <c:multiLvlStrRef>
              <c:f>Sheet1!$A$2:$A$7</c:f>
              <c:multiLvlStrCache>
                <c:ptCount val="6"/>
                <c:lvl>
                  <c:pt idx="0">
                    <c:v>Time on website</c:v>
                  </c:pt>
                  <c:pt idx="1">
                    <c:v>Received our SMS / WhatsApp</c:v>
                  </c:pt>
                  <c:pt idx="2">
                    <c:v>Occupation not given</c:v>
                  </c:pt>
                  <c:pt idx="3">
                    <c:v>Working professional</c:v>
                  </c:pt>
                  <c:pt idx="4">
                    <c:v>Lead came from a form</c:v>
                  </c:pt>
                  <c:pt idx="5">
                    <c:v>Website visits</c:v>
                  </c:pt>
                </c:lvl>
              </c:multiLvlStrCache>
            </c:multiLvlStrRef>
          </c:cat>
          <c:val>
            <c:numRef>
              <c:f>Sheet1!$B$2:$B$7</c:f>
              <c:numCache>
                <c:formatCode>General</c:formatCode>
                <c:ptCount val="6"/>
                <c:pt idx="0">
                  <c:v>0.114</c:v>
                </c:pt>
                <c:pt idx="1">
                  <c:v>0.048</c:v>
                </c:pt>
                <c:pt idx="2">
                  <c:v>0.034</c:v>
                </c:pt>
                <c:pt idx="3">
                  <c:v>0.031</c:v>
                </c:pt>
                <c:pt idx="4">
                  <c:v>0.024</c:v>
                </c:pt>
                <c:pt idx="5">
                  <c:v>0.008</c:v>
                </c:pt>
              </c:numCache>
            </c:numRef>
          </c:val>
        </c:ser>
        <c:dLbls>
          <c:numFmt formatCode="0.000" sourceLinked="0"/>
          <c:txPr>
            <a:bodyPr/>
            <a:lstStyle/>
            <a:p>
              <a:pPr>
                <a:defRPr b="0" i="0" strike="noStrike" sz="1100" u="none">
                  <a:solidFill>
                    <a:srgbClr val="222B38"/>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50" b="0" i="0" u="none" strike="noStrike">
                <a:solidFill>
                  <a:srgbClr val="222B38"/>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guide. Say that Review 1 was the design; Review 2 shows the working system: trained model, backend, dashboard and live WhatsApp.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sentence for the whole system, then the six parts that are now built. Emphasise that every number shown later comes from the working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to right: four lead sources reach the FastAPI backend through the API or webhooks (Twilio signature checked). The Orchestrator runs the agents, saves to SQLite, and the React dashboard reads everything as JSON. Outcomes feed the learning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chart: a new number gets the question flow; a known number's message is added to its lead. Price and product questions are answered by the bot from the owner's list, others go to the team. Every message is scored; the salesperson sends the follow-up and records the outcome, which drives retraining.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nine modules from the first review are now implemented; the grey line under each shows where it lives in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paths: training builds the model file from the dataset; live scoring uses that file for every enquiry. Outcomes recorded by the team flow back to retrain both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with one real lead: the model gives 76% from the profile, the message raises the odds by 2.5 and 1.6, the result is 93% and HIGH. Odds keep the answer between 0 and 100% and make one signal matter more for a middle lead than for a sure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measured on a fixed test set the model never saw. Recall matters most: missing a buyer loses a sale. Removing leakage lowered the headline accuracy but made the model honest.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owner sets up the business once in four steps; afterwards My Business shows the details with Edit buttons. The bot uses this product list to answer customers.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Python and FastAPI for the backend, scikit-learn for the model, React and Tailwind for the dashboard, SQLite for storage. Twilio connects WhatsApp; cloudflared gives the laptop a public 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training compares gradient boosting and random forest inside one pipeline and calibrates them. Right: the core of the Conversion Prediction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how the list is ordered and how each score is explained. Point to the breakdown line on the details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chat is produced by our backend. Tested live on the Twilio sandbox with real phones; the Connect page shows each channel's status.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command runs over a hundred checks. Each bug found was fixed and a test added so it cannot come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challenge came from testing the real system; the solution is in the code and covered by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in three points: captures, scores and explains, keeps learning. Then the four next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685800"/>
          </a:xfrm>
          <a:prstGeom prst="rect">
            <a:avLst/>
          </a:prstGeom>
          <a:noFill/>
          <a:ln/>
        </p:spPr>
        <p:txBody>
          <a:bodyPr wrap="square" rtlCol="0"/>
          <a:lstStyle>
            <a:lvl1pPr algn="ctr" indent="0" marL="0">
              <a:buNone/>
              <a:defRPr lang="en-US" sz="3200" b="1" dirty="0">
                <a:solidFill>
                  <a:srgbClr val="222B38"/>
                </a:solidFill>
                <a:latin typeface="Times New Roman" pitchFamily="34" charset="0"/>
                <a:ea typeface="Times New Roman" pitchFamily="34" charset="-122"/>
                <a:cs typeface="Times New Roman" pitchFamily="34" charset="-120"/>
              </a:defRPr>
            </a:lvl1pPr>
          </a:lstStyle>
          <a:p>
            <a:pPr algn="ctr" indent="0" marL="0">
              <a:buNone/>
            </a:pPr>
            <a:endParaRPr lang="en-US" sz="3200" dirty="0"/>
          </a:p>
        </p:txBody>
      </p:sp>
      <p:sp>
        <p:nvSpPr>
          <p:cNvPr id="25" name="Slide Number Placeholder 0"/>
          <p:cNvSpPr>
            <a:spLocks noGrp="1"/>
          </p:cNvSpPr>
          <p:nvPr>
            <p:ph type="sldNum" sz="quarter" idx="4294967295"/>
          </p:nvPr>
        </p:nvSpPr>
        <p:spPr>
          <a:xfrm>
            <a:off x="1127455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F5A68"/>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LAIN">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rgbClr val="13315C"/>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455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F5A68"/>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2.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2.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slideLayout" Target="../slideLayouts/slideLayout2.xml"/><Relationship Id="rId11"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image" Target="../media/image-10-11.png"/><Relationship Id="rId12" Type="http://schemas.openxmlformats.org/officeDocument/2006/relationships/image" Target="../media/image-10-12.png"/><Relationship Id="rId13" Type="http://schemas.openxmlformats.org/officeDocument/2006/relationships/image" Target="../media/image-10-13.png"/><Relationship Id="rId14" Type="http://schemas.openxmlformats.org/officeDocument/2006/relationships/image" Target="../media/image-10-14.png"/><Relationship Id="rId15" Type="http://schemas.openxmlformats.org/officeDocument/2006/relationships/image" Target="../media/image-10-15.png"/><Relationship Id="rId16" Type="http://schemas.openxmlformats.org/officeDocument/2006/relationships/image" Target="../media/image-10-16.png"/><Relationship Id="rId17" Type="http://schemas.openxmlformats.org/officeDocument/2006/relationships/slideLayout" Target="../slideLayouts/slideLayout2.xml"/><Relationship Id="rId1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2.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Matrusri Engineering College header with logos">    </p:cNvPr>
          <p:cNvPicPr>
            <a:picLocks noChangeAspect="1"/>
          </p:cNvPicPr>
          <p:nvPr/>
        </p:nvPicPr>
        <p:blipFill>
          <a:blip r:embed="rId1"/>
          <a:stretch>
            <a:fillRect/>
          </a:stretch>
        </p:blipFill>
        <p:spPr>
          <a:xfrm>
            <a:off x="320040" y="182880"/>
            <a:ext cx="11548872" cy="1600200"/>
          </a:xfrm>
          <a:prstGeom prst="rect">
            <a:avLst/>
          </a:prstGeom>
        </p:spPr>
      </p:pic>
      <p:sp>
        <p:nvSpPr>
          <p:cNvPr id="3" name="Header rule"/>
          <p:cNvSpPr/>
          <p:nvPr/>
        </p:nvSpPr>
        <p:spPr>
          <a:xfrm>
            <a:off x="320040" y="1828800"/>
            <a:ext cx="11548872" cy="0"/>
          </a:xfrm>
          <a:prstGeom prst="line">
            <a:avLst/>
          </a:prstGeom>
          <a:noFill/>
          <a:ln w="15875">
            <a:solidFill>
              <a:srgbClr val="2F6DB5"/>
            </a:solidFill>
            <a:prstDash val="solid"/>
          </a:ln>
        </p:spPr>
      </p:sp>
      <p:sp>
        <p:nvSpPr>
          <p:cNvPr id="4" name="Text 1"/>
          <p:cNvSpPr txBox="1"/>
          <p:nvPr/>
        </p:nvSpPr>
        <p:spPr>
          <a:xfrm>
            <a:off x="457200" y="2011680"/>
            <a:ext cx="11274552" cy="640080"/>
          </a:xfrm>
          <a:prstGeom prst="rect">
            <a:avLst/>
          </a:prstGeom>
          <a:noFill/>
          <a:ln/>
        </p:spPr>
        <p:txBody>
          <a:bodyPr wrap="square" lIns="0" tIns="0" rIns="0" bIns="0" rtlCol="0" anchor="ctr"/>
          <a:lstStyle/>
          <a:p>
            <a:pPr algn="ctr" indent="0" marL="0">
              <a:buNone/>
            </a:pPr>
            <a:r>
              <a:rPr lang="en-US" sz="3000" b="1" dirty="0">
                <a:solidFill>
                  <a:schemeClr val="tx2"/>
                </a:solidFill>
                <a:latin typeface="Times New Roman" pitchFamily="34" charset="0"/>
                <a:ea typeface="Times New Roman" pitchFamily="34" charset="-122"/>
                <a:cs typeface="Times New Roman" pitchFamily="34" charset="-120"/>
              </a:rPr>
              <a:t>SALES / LEAD CONVERSION INTELLIGENCE SYSTEM</a:t>
            </a:r>
            <a:endParaRPr lang="en-US" sz="3000" dirty="0"/>
          </a:p>
        </p:txBody>
      </p:sp>
      <p:sp>
        <p:nvSpPr>
          <p:cNvPr id="5" name="Text 2"/>
          <p:cNvSpPr txBox="1"/>
          <p:nvPr/>
        </p:nvSpPr>
        <p:spPr>
          <a:xfrm>
            <a:off x="457200" y="2651760"/>
            <a:ext cx="11274552" cy="457200"/>
          </a:xfrm>
          <a:prstGeom prst="rect">
            <a:avLst/>
          </a:prstGeom>
          <a:noFill/>
          <a:ln/>
        </p:spPr>
        <p:txBody>
          <a:bodyPr wrap="square" lIns="0" tIns="0" rIns="0" bIns="0" rtlCol="0" anchor="ctr"/>
          <a:lstStyle/>
          <a:p>
            <a:pPr algn="ctr" indent="0" marL="0">
              <a:buNone/>
            </a:pPr>
            <a:r>
              <a:rPr lang="en-US" sz="2100" dirty="0">
                <a:solidFill>
                  <a:schemeClr val="tx1"/>
                </a:solidFill>
                <a:latin typeface="Times New Roman" pitchFamily="34" charset="0"/>
                <a:ea typeface="Times New Roman" pitchFamily="34" charset="-122"/>
                <a:cs typeface="Times New Roman" pitchFamily="34" charset="-120"/>
              </a:rPr>
              <a:t>For Small and Medium Enterprises</a:t>
            </a:r>
            <a:endParaRPr lang="en-US" sz="2100" dirty="0"/>
          </a:p>
        </p:txBody>
      </p:sp>
      <p:sp>
        <p:nvSpPr>
          <p:cNvPr id="6" name="Text 3"/>
          <p:cNvSpPr txBox="1"/>
          <p:nvPr/>
        </p:nvSpPr>
        <p:spPr>
          <a:xfrm>
            <a:off x="411480" y="3474720"/>
            <a:ext cx="7315200" cy="457200"/>
          </a:xfrm>
          <a:prstGeom prst="rect">
            <a:avLst/>
          </a:prstGeom>
          <a:noFill/>
          <a:ln/>
        </p:spPr>
        <p:txBody>
          <a:bodyPr wrap="square" lIns="0" tIns="0" rIns="0" bIns="0" rtlCol="0" anchor="ctr"/>
          <a:lstStyle/>
          <a:p>
            <a:pPr indent="0" marL="0">
              <a:buNone/>
            </a:pPr>
            <a:r>
              <a:rPr lang="en-US" sz="1900" b="1" dirty="0">
                <a:solidFill>
                  <a:schemeClr val="accent3"/>
                </a:solidFill>
                <a:latin typeface="Times New Roman" pitchFamily="34" charset="0"/>
                <a:ea typeface="Times New Roman" pitchFamily="34" charset="-122"/>
                <a:cs typeface="Times New Roman" pitchFamily="34" charset="-120"/>
              </a:rPr>
              <a:t>SECOND PROJECT REVIEW</a:t>
            </a:r>
            <a:endParaRPr lang="en-US" sz="1900" dirty="0"/>
          </a:p>
        </p:txBody>
      </p:sp>
      <p:sp>
        <p:nvSpPr>
          <p:cNvPr id="7" name="Text 4"/>
          <p:cNvSpPr txBox="1"/>
          <p:nvPr/>
        </p:nvSpPr>
        <p:spPr>
          <a:xfrm>
            <a:off x="411480" y="4023360"/>
            <a:ext cx="3291840" cy="1371600"/>
          </a:xfrm>
          <a:prstGeom prst="rect">
            <a:avLst/>
          </a:prstGeom>
          <a:noFill/>
          <a:ln/>
        </p:spPr>
        <p:txBody>
          <a:bodyPr wrap="square" lIns="0" tIns="0" rIns="0" bIns="0" rtlCol="0" anchor="t"/>
          <a:lstStyle/>
          <a:p>
            <a:pPr indent="0" marL="0">
              <a:spcAft>
                <a:spcPts val="200"/>
              </a:spcAft>
              <a:buNone/>
            </a:pPr>
            <a:r>
              <a:rPr lang="en-US" sz="1700" b="1" dirty="0">
                <a:solidFill>
                  <a:schemeClr val="tx1"/>
                </a:solidFill>
                <a:latin typeface="Times New Roman" pitchFamily="34" charset="0"/>
                <a:ea typeface="Times New Roman" pitchFamily="34" charset="-122"/>
                <a:cs typeface="Times New Roman" pitchFamily="34" charset="-120"/>
              </a:rPr>
              <a:t>Presented by:</a:t>
            </a:r>
            <a:endParaRPr lang="en-US" sz="1700" dirty="0"/>
          </a:p>
          <a:p>
            <a:pPr indent="0" marL="0">
              <a:spcAft>
                <a:spcPts val="200"/>
              </a:spcAft>
              <a:buNone/>
            </a:pPr>
            <a:r>
              <a:rPr lang="en-US" sz="1700" dirty="0">
                <a:solidFill>
                  <a:schemeClr val="tx1"/>
                </a:solidFill>
                <a:latin typeface="Times New Roman" pitchFamily="34" charset="0"/>
                <a:ea typeface="Times New Roman" pitchFamily="34" charset="-122"/>
                <a:cs typeface="Times New Roman" pitchFamily="34" charset="-120"/>
              </a:rPr>
              <a:t>Thoomu Rithwik Reddy</a:t>
            </a:r>
            <a:endParaRPr lang="en-US" sz="1700" dirty="0"/>
          </a:p>
          <a:p>
            <a:pPr indent="0" marL="0">
              <a:spcAft>
                <a:spcPts val="200"/>
              </a:spcAft>
              <a:buNone/>
            </a:pPr>
            <a:r>
              <a:rPr lang="en-US" sz="1700" dirty="0">
                <a:solidFill>
                  <a:schemeClr val="tx1"/>
                </a:solidFill>
                <a:latin typeface="Times New Roman" pitchFamily="34" charset="0"/>
                <a:ea typeface="Times New Roman" pitchFamily="34" charset="-122"/>
                <a:cs typeface="Times New Roman" pitchFamily="34" charset="-120"/>
              </a:rPr>
              <a:t>Vadla Dinesh Achary</a:t>
            </a:r>
            <a:endParaRPr lang="en-US" sz="1700" dirty="0"/>
          </a:p>
          <a:p>
            <a:pPr indent="0" marL="0">
              <a:spcAft>
                <a:spcPts val="200"/>
              </a:spcAft>
              <a:buNone/>
            </a:pPr>
            <a:r>
              <a:rPr lang="en-US" sz="1700" dirty="0">
                <a:solidFill>
                  <a:schemeClr val="tx1"/>
                </a:solidFill>
                <a:latin typeface="Times New Roman" pitchFamily="34" charset="0"/>
                <a:ea typeface="Times New Roman" pitchFamily="34" charset="-122"/>
                <a:cs typeface="Times New Roman" pitchFamily="34" charset="-120"/>
              </a:rPr>
              <a:t>Bathula Shivani</a:t>
            </a:r>
            <a:endParaRPr lang="en-US" sz="1700" dirty="0"/>
          </a:p>
        </p:txBody>
      </p:sp>
      <p:sp>
        <p:nvSpPr>
          <p:cNvPr id="8" name="Text 5"/>
          <p:cNvSpPr txBox="1"/>
          <p:nvPr/>
        </p:nvSpPr>
        <p:spPr>
          <a:xfrm>
            <a:off x="3566160" y="4023360"/>
            <a:ext cx="2743200" cy="1371600"/>
          </a:xfrm>
          <a:prstGeom prst="rect">
            <a:avLst/>
          </a:prstGeom>
          <a:noFill/>
          <a:ln/>
        </p:spPr>
        <p:txBody>
          <a:bodyPr wrap="square" lIns="0" tIns="0" rIns="0" bIns="0" rtlCol="0" anchor="t"/>
          <a:lstStyle/>
          <a:p>
            <a:pPr indent="0" marL="0">
              <a:spcAft>
                <a:spcPts val="200"/>
              </a:spcAft>
              <a:buNone/>
            </a:pPr>
            <a:r>
              <a:rPr lang="en-US" sz="1700" dirty="0">
                <a:solidFill>
                  <a:schemeClr val="tx1"/>
                </a:solidFill>
                <a:latin typeface="Times New Roman" pitchFamily="34" charset="0"/>
                <a:ea typeface="Times New Roman" pitchFamily="34" charset="-122"/>
                <a:cs typeface="Times New Roman" pitchFamily="34" charset="-120"/>
              </a:rPr>
              <a:t> </a:t>
            </a:r>
            <a:endParaRPr lang="en-US" sz="1700" dirty="0"/>
          </a:p>
          <a:p>
            <a:pPr indent="0" marL="0">
              <a:spcAft>
                <a:spcPts val="200"/>
              </a:spcAft>
              <a:buNone/>
            </a:pPr>
            <a:r>
              <a:rPr lang="en-US" sz="1700" dirty="0">
                <a:solidFill>
                  <a:schemeClr val="tx1"/>
                </a:solidFill>
                <a:latin typeface="Times New Roman" pitchFamily="34" charset="0"/>
                <a:ea typeface="Times New Roman" pitchFamily="34" charset="-122"/>
                <a:cs typeface="Times New Roman" pitchFamily="34" charset="-120"/>
              </a:rPr>
              <a:t>- 1608-24-737-004</a:t>
            </a:r>
            <a:endParaRPr lang="en-US" sz="1700" dirty="0"/>
          </a:p>
          <a:p>
            <a:pPr indent="0" marL="0">
              <a:spcAft>
                <a:spcPts val="200"/>
              </a:spcAft>
              <a:buNone/>
            </a:pPr>
            <a:r>
              <a:rPr lang="en-US" sz="1700" dirty="0">
                <a:solidFill>
                  <a:schemeClr val="tx1"/>
                </a:solidFill>
                <a:latin typeface="Times New Roman" pitchFamily="34" charset="0"/>
                <a:ea typeface="Times New Roman" pitchFamily="34" charset="-122"/>
                <a:cs typeface="Times New Roman" pitchFamily="34" charset="-120"/>
              </a:rPr>
              <a:t>- 1608-24-737-026</a:t>
            </a:r>
            <a:endParaRPr lang="en-US" sz="1700" dirty="0"/>
          </a:p>
          <a:p>
            <a:pPr indent="0" marL="0">
              <a:spcAft>
                <a:spcPts val="200"/>
              </a:spcAft>
              <a:buNone/>
            </a:pPr>
            <a:r>
              <a:rPr lang="en-US" sz="1700" dirty="0">
                <a:solidFill>
                  <a:schemeClr val="tx1"/>
                </a:solidFill>
                <a:latin typeface="Times New Roman" pitchFamily="34" charset="0"/>
                <a:ea typeface="Times New Roman" pitchFamily="34" charset="-122"/>
                <a:cs typeface="Times New Roman" pitchFamily="34" charset="-120"/>
              </a:rPr>
              <a:t>- 1608-24-737-302</a:t>
            </a:r>
            <a:endParaRPr lang="en-US" sz="1700" dirty="0"/>
          </a:p>
        </p:txBody>
      </p:sp>
      <p:sp>
        <p:nvSpPr>
          <p:cNvPr id="9" name="Text 6"/>
          <p:cNvSpPr txBox="1"/>
          <p:nvPr/>
        </p:nvSpPr>
        <p:spPr>
          <a:xfrm>
            <a:off x="411480" y="5440680"/>
            <a:ext cx="7315200" cy="777240"/>
          </a:xfrm>
          <a:prstGeom prst="rect">
            <a:avLst/>
          </a:prstGeom>
          <a:noFill/>
          <a:ln/>
        </p:spPr>
        <p:txBody>
          <a:bodyPr wrap="square" lIns="0" tIns="0" rIns="0" bIns="0" rtlCol="0" anchor="t"/>
          <a:lstStyle/>
          <a:p>
            <a:pPr indent="0" marL="0">
              <a:spcAft>
                <a:spcPts val="200"/>
              </a:spcAft>
              <a:buNone/>
            </a:pPr>
            <a:r>
              <a:rPr lang="en-US" sz="1700" b="1" dirty="0">
                <a:solidFill>
                  <a:schemeClr val="tx1"/>
                </a:solidFill>
                <a:latin typeface="Times New Roman" pitchFamily="34" charset="0"/>
                <a:ea typeface="Times New Roman" pitchFamily="34" charset="-122"/>
                <a:cs typeface="Times New Roman" pitchFamily="34" charset="-120"/>
              </a:rPr>
              <a:t>Project Guide: </a:t>
            </a:r>
            <a:pPr indent="0" marL="0">
              <a:spcAft>
                <a:spcPts val="200"/>
              </a:spcAft>
              <a:buNone/>
            </a:pPr>
            <a:r>
              <a:rPr lang="en-US" sz="1700" dirty="0">
                <a:solidFill>
                  <a:schemeClr val="tx1"/>
                </a:solidFill>
                <a:latin typeface="Times New Roman" pitchFamily="34" charset="0"/>
                <a:ea typeface="Times New Roman" pitchFamily="34" charset="-122"/>
                <a:cs typeface="Times New Roman" pitchFamily="34" charset="-120"/>
              </a:rPr>
              <a:t>Ms. T. Vijayalaxmi</a:t>
            </a:r>
            <a:endParaRPr lang="en-US" sz="1700" dirty="0"/>
          </a:p>
          <a:p>
            <a:pPr indent="0" marL="0">
              <a:spcAft>
                <a:spcPts val="200"/>
              </a:spcAft>
              <a:buNone/>
            </a:pPr>
            <a:r>
              <a:rPr lang="en-US" sz="1700" b="1" dirty="0">
                <a:solidFill>
                  <a:schemeClr val="tx1"/>
                </a:solidFill>
                <a:latin typeface="Times New Roman" pitchFamily="34" charset="0"/>
                <a:ea typeface="Times New Roman" pitchFamily="34" charset="-122"/>
                <a:cs typeface="Times New Roman" pitchFamily="34" charset="-120"/>
              </a:rPr>
              <a:t>Department of Information Technology</a:t>
            </a:r>
            <a:endParaRPr lang="en-US" sz="1700" dirty="0"/>
          </a:p>
        </p:txBody>
      </p:sp>
      <p:sp>
        <p:nvSpPr>
          <p:cNvPr id="10" name="Review status box"/>
          <p:cNvSpPr/>
          <p:nvPr/>
        </p:nvSpPr>
        <p:spPr>
          <a:xfrm>
            <a:off x="7589520" y="3794760"/>
            <a:ext cx="4160520" cy="2240280"/>
          </a:xfrm>
          <a:prstGeom prst="roundRect">
            <a:avLst>
              <a:gd name="adj" fmla="val 2449"/>
            </a:avLst>
          </a:prstGeom>
          <a:solidFill>
            <a:schemeClr val="bg2"/>
          </a:solidFill>
          <a:ln w="12700">
            <a:solidFill>
              <a:srgbClr val="9DB7D9"/>
            </a:solidFill>
            <a:prstDash val="solid"/>
          </a:ln>
        </p:spPr>
      </p:sp>
      <p:sp>
        <p:nvSpPr>
          <p:cNvPr id="11" name="Text 8"/>
          <p:cNvSpPr txBox="1"/>
          <p:nvPr/>
        </p:nvSpPr>
        <p:spPr>
          <a:xfrm>
            <a:off x="7818120" y="3931920"/>
            <a:ext cx="3749040" cy="365760"/>
          </a:xfrm>
          <a:prstGeom prst="rect">
            <a:avLst/>
          </a:prstGeom>
          <a:noFill/>
          <a:ln/>
        </p:spPr>
        <p:txBody>
          <a:bodyPr wrap="square" lIns="0" tIns="0" rIns="0" bIns="0" rtlCol="0" anchor="ctr"/>
          <a:lstStyle/>
          <a:p>
            <a:pPr indent="0" marL="0">
              <a:buNone/>
            </a:pPr>
            <a:r>
              <a:rPr lang="en-US" sz="1500" b="1" dirty="0">
                <a:solidFill>
                  <a:schemeClr val="tx2"/>
                </a:solidFill>
              </a:rPr>
              <a:t>Since the first review</a:t>
            </a:r>
            <a:endParaRPr lang="en-US" sz="1500" dirty="0"/>
          </a:p>
        </p:txBody>
      </p:sp>
      <p:sp>
        <p:nvSpPr>
          <p:cNvPr id="12" name="Text 9"/>
          <p:cNvSpPr txBox="1"/>
          <p:nvPr/>
        </p:nvSpPr>
        <p:spPr>
          <a:xfrm>
            <a:off x="7818120" y="4343400"/>
            <a:ext cx="3794760" cy="1554480"/>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chemeClr val="tx1"/>
                </a:solidFill>
              </a:rPr>
              <a:t>ML model trained and evaluated</a:t>
            </a:r>
            <a:endParaRPr lang="en-US" sz="1350" dirty="0"/>
          </a:p>
          <a:p>
            <a:pPr marL="342900" indent="-342900">
              <a:spcAft>
                <a:spcPts val="500"/>
              </a:spcAft>
              <a:buSzPct val="100000"/>
              <a:buChar char="•"/>
            </a:pPr>
            <a:r>
              <a:rPr lang="en-US" sz="1350" dirty="0">
                <a:solidFill>
                  <a:schemeClr val="tx1"/>
                </a:solidFill>
              </a:rPr>
              <a:t>Backend, database and dashboard built</a:t>
            </a:r>
            <a:endParaRPr lang="en-US" sz="1350" dirty="0"/>
          </a:p>
          <a:p>
            <a:pPr marL="342900" indent="-342900">
              <a:spcAft>
                <a:spcPts val="500"/>
              </a:spcAft>
              <a:buSzPct val="100000"/>
              <a:buChar char="•"/>
            </a:pPr>
            <a:r>
              <a:rPr lang="en-US" sz="1350" dirty="0">
                <a:solidFill>
                  <a:schemeClr val="tx1"/>
                </a:solidFill>
              </a:rPr>
              <a:t>WhatsApp, website and email connected</a:t>
            </a:r>
            <a:endParaRPr lang="en-US" sz="1350" dirty="0"/>
          </a:p>
          <a:p>
            <a:pPr marL="342900" indent="-342900">
              <a:spcAft>
                <a:spcPts val="500"/>
              </a:spcAft>
              <a:buSzPct val="100000"/>
              <a:buChar char="•"/>
            </a:pPr>
            <a:r>
              <a:rPr lang="en-US" sz="1350" dirty="0">
                <a:solidFill>
                  <a:schemeClr val="tx1"/>
                </a:solidFill>
              </a:rPr>
              <a:t>Tested end to end with live messages</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685800"/>
          </a:xfrm>
          <a:prstGeom prst="rect">
            <a:avLst/>
          </a:prstGeom>
          <a:noFill/>
          <a:ln/>
        </p:spPr>
        <p:txBody>
          <a:bodyPr wrap="square" lIns="0" tIns="0" rIns="0" bIns="0" rtlCol="0" anchor="ctr"/>
          <a:lstStyle/>
          <a:p>
            <a:pPr algn="ctr" indent="0" marL="0">
              <a:buNone/>
            </a:pPr>
            <a:r>
              <a:rPr lang="en-US" sz="3200" b="1" dirty="0">
                <a:solidFill>
                  <a:srgbClr val="222B38"/>
                </a:solidFill>
                <a:latin typeface="Times New Roman" pitchFamily="34" charset="0"/>
                <a:ea typeface="Times New Roman" pitchFamily="34" charset="-122"/>
                <a:cs typeface="Times New Roman" pitchFamily="34" charset="-120"/>
              </a:rPr>
              <a:t>PROJECT OVERVIEW</a:t>
            </a:r>
            <a:endParaRPr lang="en-US" sz="3200" dirty="0"/>
          </a:p>
        </p:txBody>
      </p:sp>
      <p:sp>
        <p:nvSpPr>
          <p:cNvPr id="3" name="Summary box"/>
          <p:cNvSpPr/>
          <p:nvPr/>
        </p:nvSpPr>
        <p:spPr>
          <a:xfrm>
            <a:off x="457200" y="1188720"/>
            <a:ext cx="11274552" cy="960120"/>
          </a:xfrm>
          <a:prstGeom prst="roundRect">
            <a:avLst>
              <a:gd name="adj" fmla="val 5714"/>
            </a:avLst>
          </a:prstGeom>
          <a:solidFill>
            <a:schemeClr val="bg2"/>
          </a:solidFill>
          <a:ln w="12700">
            <a:solidFill>
              <a:srgbClr val="9DB7D9"/>
            </a:solidFill>
            <a:prstDash val="solid"/>
          </a:ln>
        </p:spPr>
      </p:sp>
      <p:sp>
        <p:nvSpPr>
          <p:cNvPr id="4" name="Text 2"/>
          <p:cNvSpPr txBox="1"/>
          <p:nvPr/>
        </p:nvSpPr>
        <p:spPr>
          <a:xfrm>
            <a:off x="685800" y="1261872"/>
            <a:ext cx="10835640" cy="822960"/>
          </a:xfrm>
          <a:prstGeom prst="rect">
            <a:avLst/>
          </a:prstGeom>
          <a:noFill/>
          <a:ln/>
        </p:spPr>
        <p:txBody>
          <a:bodyPr wrap="square" lIns="0" tIns="0" rIns="0" bIns="0" rtlCol="0" anchor="ctr"/>
          <a:lstStyle/>
          <a:p>
            <a:pPr indent="0" marL="0">
              <a:lnSpc>
                <a:spcPct val="105000"/>
              </a:lnSpc>
              <a:buNone/>
            </a:pPr>
            <a:r>
              <a:rPr lang="en-US" sz="1400" b="1" dirty="0">
                <a:solidFill>
                  <a:schemeClr val="tx2"/>
                </a:solidFill>
              </a:rPr>
              <a:t>What the system does: </a:t>
            </a:r>
            <a:pPr indent="0" marL="0">
              <a:lnSpc>
                <a:spcPct val="105000"/>
              </a:lnSpc>
              <a:buNone/>
            </a:pPr>
            <a:r>
              <a:rPr lang="en-US" sz="1400" dirty="0">
                <a:solidFill>
                  <a:schemeClr val="tx1"/>
                </a:solidFill>
              </a:rPr>
              <a:t>customer enquiries from WhatsApp, the business website and email become leads automatically. Each lead gets a chance of buying from a trained ML model, adjusted by what the customer wrote, a HIGH / MEDIUM / LOW priority with the reason, an automatic answer to price and product questions, and a follow-up draft the salesperson edits and sends.</a:t>
            </a:r>
            <a:endParaRPr lang="en-US" sz="1400" dirty="0"/>
          </a:p>
        </p:txBody>
      </p:sp>
      <p:sp>
        <p:nvSpPr>
          <p:cNvPr id="5" name="Leads from every channel"/>
          <p:cNvSpPr/>
          <p:nvPr/>
        </p:nvSpPr>
        <p:spPr>
          <a:xfrm>
            <a:off x="457200" y="2423160"/>
            <a:ext cx="3630168" cy="1600200"/>
          </a:xfrm>
          <a:prstGeom prst="roundRect">
            <a:avLst>
              <a:gd name="adj" fmla="val 3429"/>
            </a:avLst>
          </a:prstGeom>
          <a:solidFill>
            <a:schemeClr val="bg2"/>
          </a:solidFill>
          <a:ln w="12700">
            <a:solidFill>
              <a:srgbClr val="9DB7D9"/>
            </a:solidFill>
            <a:prstDash val="solid"/>
          </a:ln>
        </p:spPr>
      </p:sp>
      <p:sp>
        <p:nvSpPr>
          <p:cNvPr id="6" name="Icon circle"/>
          <p:cNvSpPr/>
          <p:nvPr/>
        </p:nvSpPr>
        <p:spPr>
          <a:xfrm>
            <a:off x="658368" y="2651760"/>
            <a:ext cx="566928" cy="566928"/>
          </a:xfrm>
          <a:prstGeom prst="ellipse">
            <a:avLst/>
          </a:prstGeom>
          <a:solidFill>
            <a:schemeClr val="accent1"/>
          </a:solidFill>
          <a:ln w="12700">
            <a:solidFill>
              <a:schemeClr val="accent1"/>
            </a:solidFill>
            <a:prstDash val="solid"/>
          </a:ln>
        </p:spPr>
      </p:sp>
      <p:pic>
        <p:nvPicPr>
          <p:cNvPr id="7" name="Image 0" descr="Plug icon">    </p:cNvPr>
          <p:cNvPicPr>
            <a:picLocks noChangeAspect="1"/>
          </p:cNvPicPr>
          <p:nvPr/>
        </p:nvPicPr>
        <p:blipFill>
          <a:blip r:embed="rId1"/>
          <a:stretch>
            <a:fillRect/>
          </a:stretch>
        </p:blipFill>
        <p:spPr>
          <a:xfrm>
            <a:off x="800100" y="2793492"/>
            <a:ext cx="283464" cy="283464"/>
          </a:xfrm>
          <a:prstGeom prst="rect">
            <a:avLst/>
          </a:prstGeom>
        </p:spPr>
      </p:pic>
      <p:sp>
        <p:nvSpPr>
          <p:cNvPr id="8" name="Text 5"/>
          <p:cNvSpPr txBox="1"/>
          <p:nvPr/>
        </p:nvSpPr>
        <p:spPr>
          <a:xfrm>
            <a:off x="1371600" y="2624328"/>
            <a:ext cx="2560320" cy="603504"/>
          </a:xfrm>
          <a:prstGeom prst="rect">
            <a:avLst/>
          </a:prstGeom>
          <a:noFill/>
          <a:ln/>
        </p:spPr>
        <p:txBody>
          <a:bodyPr wrap="square" lIns="0" tIns="0" rIns="0" bIns="0" rtlCol="0" anchor="ctr"/>
          <a:lstStyle/>
          <a:p>
            <a:pPr indent="0" marL="0">
              <a:buNone/>
            </a:pPr>
            <a:r>
              <a:rPr lang="en-US" sz="1500" b="1" dirty="0">
                <a:solidFill>
                  <a:schemeClr val="accent1"/>
                </a:solidFill>
              </a:rPr>
              <a:t>Leads from every channel</a:t>
            </a:r>
            <a:endParaRPr lang="en-US" sz="1500" dirty="0"/>
          </a:p>
        </p:txBody>
      </p:sp>
      <p:sp>
        <p:nvSpPr>
          <p:cNvPr id="9" name="Text 6"/>
          <p:cNvSpPr txBox="1"/>
          <p:nvPr/>
        </p:nvSpPr>
        <p:spPr>
          <a:xfrm>
            <a:off x="658368" y="3291840"/>
            <a:ext cx="3246120" cy="640080"/>
          </a:xfrm>
          <a:prstGeom prst="rect">
            <a:avLst/>
          </a:prstGeom>
          <a:noFill/>
          <a:ln/>
        </p:spPr>
        <p:txBody>
          <a:bodyPr wrap="square" lIns="0" tIns="0" rIns="0" bIns="0" rtlCol="0" anchor="t"/>
          <a:lstStyle/>
          <a:p>
            <a:pPr indent="0" marL="0">
              <a:buNone/>
            </a:pPr>
            <a:r>
              <a:rPr lang="en-US" sz="1250" dirty="0">
                <a:solidFill>
                  <a:schemeClr val="tx1"/>
                </a:solidFill>
              </a:rPr>
              <a:t>WhatsApp (Twilio), website enquiry form, email webhook and manual entry</a:t>
            </a:r>
            <a:endParaRPr lang="en-US" sz="1250" dirty="0"/>
          </a:p>
        </p:txBody>
      </p:sp>
      <p:sp>
        <p:nvSpPr>
          <p:cNvPr id="10" name="ML lead scoring"/>
          <p:cNvSpPr/>
          <p:nvPr/>
        </p:nvSpPr>
        <p:spPr>
          <a:xfrm>
            <a:off x="4279392" y="2423160"/>
            <a:ext cx="3630168" cy="1600200"/>
          </a:xfrm>
          <a:prstGeom prst="roundRect">
            <a:avLst>
              <a:gd name="adj" fmla="val 3429"/>
            </a:avLst>
          </a:prstGeom>
          <a:solidFill>
            <a:schemeClr val="accent5"/>
          </a:solidFill>
          <a:ln w="12700">
            <a:solidFill>
              <a:srgbClr val="9CCBAE"/>
            </a:solidFill>
            <a:prstDash val="solid"/>
          </a:ln>
        </p:spPr>
      </p:sp>
      <p:sp>
        <p:nvSpPr>
          <p:cNvPr id="11" name="Icon circle"/>
          <p:cNvSpPr/>
          <p:nvPr/>
        </p:nvSpPr>
        <p:spPr>
          <a:xfrm>
            <a:off x="4480560" y="2651760"/>
            <a:ext cx="566928" cy="566928"/>
          </a:xfrm>
          <a:prstGeom prst="ellipse">
            <a:avLst/>
          </a:prstGeom>
          <a:solidFill>
            <a:schemeClr val="accent2"/>
          </a:solidFill>
          <a:ln w="12700">
            <a:solidFill>
              <a:schemeClr val="accent2"/>
            </a:solidFill>
            <a:prstDash val="solid"/>
          </a:ln>
        </p:spPr>
      </p:sp>
      <p:pic>
        <p:nvPicPr>
          <p:cNvPr id="12" name="Image 1" descr="Brain icon">    </p:cNvPr>
          <p:cNvPicPr>
            <a:picLocks noChangeAspect="1"/>
          </p:cNvPicPr>
          <p:nvPr/>
        </p:nvPicPr>
        <p:blipFill>
          <a:blip r:embed="rId2"/>
          <a:stretch>
            <a:fillRect/>
          </a:stretch>
        </p:blipFill>
        <p:spPr>
          <a:xfrm>
            <a:off x="4622292" y="2793492"/>
            <a:ext cx="283464" cy="283464"/>
          </a:xfrm>
          <a:prstGeom prst="rect">
            <a:avLst/>
          </a:prstGeom>
        </p:spPr>
      </p:pic>
      <p:sp>
        <p:nvSpPr>
          <p:cNvPr id="13" name="Text 9"/>
          <p:cNvSpPr txBox="1"/>
          <p:nvPr/>
        </p:nvSpPr>
        <p:spPr>
          <a:xfrm>
            <a:off x="5193792" y="2624328"/>
            <a:ext cx="2560320" cy="603504"/>
          </a:xfrm>
          <a:prstGeom prst="rect">
            <a:avLst/>
          </a:prstGeom>
          <a:noFill/>
          <a:ln/>
        </p:spPr>
        <p:txBody>
          <a:bodyPr wrap="square" lIns="0" tIns="0" rIns="0" bIns="0" rtlCol="0" anchor="ctr"/>
          <a:lstStyle/>
          <a:p>
            <a:pPr indent="0" marL="0">
              <a:buNone/>
            </a:pPr>
            <a:r>
              <a:rPr lang="en-US" sz="1500" b="1" dirty="0">
                <a:solidFill>
                  <a:schemeClr val="accent2"/>
                </a:solidFill>
              </a:rPr>
              <a:t>ML lead scoring</a:t>
            </a:r>
            <a:endParaRPr lang="en-US" sz="1500" dirty="0"/>
          </a:p>
        </p:txBody>
      </p:sp>
      <p:sp>
        <p:nvSpPr>
          <p:cNvPr id="14" name="Text 10"/>
          <p:cNvSpPr txBox="1"/>
          <p:nvPr/>
        </p:nvSpPr>
        <p:spPr>
          <a:xfrm>
            <a:off x="4480560" y="3291840"/>
            <a:ext cx="3246120" cy="640080"/>
          </a:xfrm>
          <a:prstGeom prst="rect">
            <a:avLst/>
          </a:prstGeom>
          <a:noFill/>
          <a:ln/>
        </p:spPr>
        <p:txBody>
          <a:bodyPr wrap="square" lIns="0" tIns="0" rIns="0" bIns="0" rtlCol="0" anchor="t"/>
          <a:lstStyle/>
          <a:p>
            <a:pPr indent="0" marL="0">
              <a:buNone/>
            </a:pPr>
            <a:r>
              <a:rPr lang="en-US" sz="1250" dirty="0">
                <a:solidFill>
                  <a:schemeClr val="tx1"/>
                </a:solidFill>
              </a:rPr>
              <a:t>Calibrated gradient boosting on 9,240 real leads: 81.5% accuracy, 83.7% recall</a:t>
            </a:r>
            <a:endParaRPr lang="en-US" sz="1250" dirty="0"/>
          </a:p>
        </p:txBody>
      </p:sp>
      <p:sp>
        <p:nvSpPr>
          <p:cNvPr id="15" name="Reads the message"/>
          <p:cNvSpPr/>
          <p:nvPr/>
        </p:nvSpPr>
        <p:spPr>
          <a:xfrm>
            <a:off x="8101584" y="2423160"/>
            <a:ext cx="3630168" cy="1600200"/>
          </a:xfrm>
          <a:prstGeom prst="roundRect">
            <a:avLst>
              <a:gd name="adj" fmla="val 3429"/>
            </a:avLst>
          </a:prstGeom>
          <a:solidFill>
            <a:schemeClr val="accent6"/>
          </a:solidFill>
          <a:ln w="12700">
            <a:solidFill>
              <a:srgbClr val="EBB98F"/>
            </a:solidFill>
            <a:prstDash val="solid"/>
          </a:ln>
        </p:spPr>
      </p:sp>
      <p:sp>
        <p:nvSpPr>
          <p:cNvPr id="16" name="Icon circle"/>
          <p:cNvSpPr/>
          <p:nvPr/>
        </p:nvSpPr>
        <p:spPr>
          <a:xfrm>
            <a:off x="8302752" y="2651760"/>
            <a:ext cx="566928" cy="566928"/>
          </a:xfrm>
          <a:prstGeom prst="ellipse">
            <a:avLst/>
          </a:prstGeom>
          <a:solidFill>
            <a:schemeClr val="accent3"/>
          </a:solidFill>
          <a:ln w="12700">
            <a:solidFill>
              <a:schemeClr val="accent3"/>
            </a:solidFill>
            <a:prstDash val="solid"/>
          </a:ln>
        </p:spPr>
      </p:sp>
      <p:pic>
        <p:nvPicPr>
          <p:cNvPr id="17" name="Image 2" descr="Comments icon">    </p:cNvPr>
          <p:cNvPicPr>
            <a:picLocks noChangeAspect="1"/>
          </p:cNvPicPr>
          <p:nvPr/>
        </p:nvPicPr>
        <p:blipFill>
          <a:blip r:embed="rId3"/>
          <a:stretch>
            <a:fillRect/>
          </a:stretch>
        </p:blipFill>
        <p:spPr>
          <a:xfrm>
            <a:off x="8444484" y="2793492"/>
            <a:ext cx="283464" cy="283464"/>
          </a:xfrm>
          <a:prstGeom prst="rect">
            <a:avLst/>
          </a:prstGeom>
        </p:spPr>
      </p:pic>
      <p:sp>
        <p:nvSpPr>
          <p:cNvPr id="18" name="Text 13"/>
          <p:cNvSpPr txBox="1"/>
          <p:nvPr/>
        </p:nvSpPr>
        <p:spPr>
          <a:xfrm>
            <a:off x="9015984" y="2624328"/>
            <a:ext cx="2560320" cy="603504"/>
          </a:xfrm>
          <a:prstGeom prst="rect">
            <a:avLst/>
          </a:prstGeom>
          <a:noFill/>
          <a:ln/>
        </p:spPr>
        <p:txBody>
          <a:bodyPr wrap="square" lIns="0" tIns="0" rIns="0" bIns="0" rtlCol="0" anchor="ctr"/>
          <a:lstStyle/>
          <a:p>
            <a:pPr indent="0" marL="0">
              <a:buNone/>
            </a:pPr>
            <a:r>
              <a:rPr lang="en-US" sz="1500" b="1" dirty="0">
                <a:solidFill>
                  <a:schemeClr val="accent3"/>
                </a:solidFill>
              </a:rPr>
              <a:t>Reads the message</a:t>
            </a:r>
            <a:endParaRPr lang="en-US" sz="1500" dirty="0"/>
          </a:p>
        </p:txBody>
      </p:sp>
      <p:sp>
        <p:nvSpPr>
          <p:cNvPr id="19" name="Text 14"/>
          <p:cNvSpPr txBox="1"/>
          <p:nvPr/>
        </p:nvSpPr>
        <p:spPr>
          <a:xfrm>
            <a:off x="8302752" y="3291840"/>
            <a:ext cx="3246120" cy="640080"/>
          </a:xfrm>
          <a:prstGeom prst="rect">
            <a:avLst/>
          </a:prstGeom>
          <a:noFill/>
          <a:ln/>
        </p:spPr>
        <p:txBody>
          <a:bodyPr wrap="square" lIns="0" tIns="0" rIns="0" bIns="0" rtlCol="0" anchor="t"/>
          <a:lstStyle/>
          <a:p>
            <a:pPr indent="0" marL="0">
              <a:buNone/>
            </a:pPr>
            <a:r>
              <a:rPr lang="en-US" sz="1250" dirty="0">
                <a:solidFill>
                  <a:schemeClr val="tx1"/>
                </a:solidFill>
              </a:rPr>
              <a:t>Buying signals change the chance: price, "book this week", only "Hi", not interested</a:t>
            </a:r>
            <a:endParaRPr lang="en-US" sz="1250" dirty="0"/>
          </a:p>
        </p:txBody>
      </p:sp>
      <p:sp>
        <p:nvSpPr>
          <p:cNvPr id="20" name="WhatsApp assistant"/>
          <p:cNvSpPr/>
          <p:nvPr/>
        </p:nvSpPr>
        <p:spPr>
          <a:xfrm>
            <a:off x="457200" y="4206240"/>
            <a:ext cx="3630168" cy="1600200"/>
          </a:xfrm>
          <a:prstGeom prst="roundRect">
            <a:avLst>
              <a:gd name="adj" fmla="val 3429"/>
            </a:avLst>
          </a:prstGeom>
          <a:solidFill>
            <a:schemeClr val="accent5"/>
          </a:solidFill>
          <a:ln w="12700">
            <a:solidFill>
              <a:srgbClr val="9CCBAE"/>
            </a:solidFill>
            <a:prstDash val="solid"/>
          </a:ln>
        </p:spPr>
      </p:sp>
      <p:sp>
        <p:nvSpPr>
          <p:cNvPr id="21" name="Icon circle"/>
          <p:cNvSpPr/>
          <p:nvPr/>
        </p:nvSpPr>
        <p:spPr>
          <a:xfrm>
            <a:off x="658368" y="4434840"/>
            <a:ext cx="566928" cy="566928"/>
          </a:xfrm>
          <a:prstGeom prst="ellipse">
            <a:avLst/>
          </a:prstGeom>
          <a:solidFill>
            <a:schemeClr val="accent2"/>
          </a:solidFill>
          <a:ln w="12700">
            <a:solidFill>
              <a:schemeClr val="accent2"/>
            </a:solidFill>
            <a:prstDash val="solid"/>
          </a:ln>
        </p:spPr>
      </p:sp>
      <p:pic>
        <p:nvPicPr>
          <p:cNvPr id="22" name="Image 3" descr="Whatsapp icon">    </p:cNvPr>
          <p:cNvPicPr>
            <a:picLocks noChangeAspect="1"/>
          </p:cNvPicPr>
          <p:nvPr/>
        </p:nvPicPr>
        <p:blipFill>
          <a:blip r:embed="rId4"/>
          <a:stretch>
            <a:fillRect/>
          </a:stretch>
        </p:blipFill>
        <p:spPr>
          <a:xfrm>
            <a:off x="800100" y="4576572"/>
            <a:ext cx="283464" cy="283464"/>
          </a:xfrm>
          <a:prstGeom prst="rect">
            <a:avLst/>
          </a:prstGeom>
        </p:spPr>
      </p:pic>
      <p:sp>
        <p:nvSpPr>
          <p:cNvPr id="23" name="Text 17"/>
          <p:cNvSpPr txBox="1"/>
          <p:nvPr/>
        </p:nvSpPr>
        <p:spPr>
          <a:xfrm>
            <a:off x="1371600" y="4407408"/>
            <a:ext cx="2560320" cy="603504"/>
          </a:xfrm>
          <a:prstGeom prst="rect">
            <a:avLst/>
          </a:prstGeom>
          <a:noFill/>
          <a:ln/>
        </p:spPr>
        <p:txBody>
          <a:bodyPr wrap="square" lIns="0" tIns="0" rIns="0" bIns="0" rtlCol="0" anchor="ctr"/>
          <a:lstStyle/>
          <a:p>
            <a:pPr indent="0" marL="0">
              <a:buNone/>
            </a:pPr>
            <a:r>
              <a:rPr lang="en-US" sz="1500" b="1" dirty="0">
                <a:solidFill>
                  <a:schemeClr val="accent2"/>
                </a:solidFill>
              </a:rPr>
              <a:t>WhatsApp assistant</a:t>
            </a:r>
            <a:endParaRPr lang="en-US" sz="1500" dirty="0"/>
          </a:p>
        </p:txBody>
      </p:sp>
      <p:sp>
        <p:nvSpPr>
          <p:cNvPr id="24" name="Text 18"/>
          <p:cNvSpPr txBox="1"/>
          <p:nvPr/>
        </p:nvSpPr>
        <p:spPr>
          <a:xfrm>
            <a:off x="658368" y="5074920"/>
            <a:ext cx="3246120" cy="640080"/>
          </a:xfrm>
          <a:prstGeom prst="rect">
            <a:avLst/>
          </a:prstGeom>
          <a:noFill/>
          <a:ln/>
        </p:spPr>
        <p:txBody>
          <a:bodyPr wrap="square" lIns="0" tIns="0" rIns="0" bIns="0" rtlCol="0" anchor="t"/>
          <a:lstStyle/>
          <a:p>
            <a:pPr indent="0" marL="0">
              <a:buNone/>
            </a:pPr>
            <a:r>
              <a:rPr lang="en-US" sz="1250" dirty="0">
                <a:solidFill>
                  <a:schemeClr val="tx1"/>
                </a:solidFill>
              </a:rPr>
              <a:t>Collects name, occupation, product; answers price, specs, availability, delivery</a:t>
            </a:r>
            <a:endParaRPr lang="en-US" sz="1250" dirty="0"/>
          </a:p>
        </p:txBody>
      </p:sp>
      <p:sp>
        <p:nvSpPr>
          <p:cNvPr id="25" name="Business setup &amp; dashboard"/>
          <p:cNvSpPr/>
          <p:nvPr/>
        </p:nvSpPr>
        <p:spPr>
          <a:xfrm>
            <a:off x="4279392" y="4206240"/>
            <a:ext cx="3630168" cy="1600200"/>
          </a:xfrm>
          <a:prstGeom prst="roundRect">
            <a:avLst>
              <a:gd name="adj" fmla="val 3429"/>
            </a:avLst>
          </a:prstGeom>
          <a:solidFill>
            <a:schemeClr val="bg2"/>
          </a:solidFill>
          <a:ln w="12700">
            <a:solidFill>
              <a:srgbClr val="9DB7D9"/>
            </a:solidFill>
            <a:prstDash val="solid"/>
          </a:ln>
        </p:spPr>
      </p:sp>
      <p:sp>
        <p:nvSpPr>
          <p:cNvPr id="26" name="Icon circle"/>
          <p:cNvSpPr/>
          <p:nvPr/>
        </p:nvSpPr>
        <p:spPr>
          <a:xfrm>
            <a:off x="4480560" y="4434840"/>
            <a:ext cx="566928" cy="566928"/>
          </a:xfrm>
          <a:prstGeom prst="ellipse">
            <a:avLst/>
          </a:prstGeom>
          <a:solidFill>
            <a:schemeClr val="accent1"/>
          </a:solidFill>
          <a:ln w="12700">
            <a:solidFill>
              <a:schemeClr val="accent1"/>
            </a:solidFill>
            <a:prstDash val="solid"/>
          </a:ln>
        </p:spPr>
      </p:sp>
      <p:pic>
        <p:nvPicPr>
          <p:cNvPr id="27" name="Image 4" descr="Store icon">    </p:cNvPr>
          <p:cNvPicPr>
            <a:picLocks noChangeAspect="1"/>
          </p:cNvPicPr>
          <p:nvPr/>
        </p:nvPicPr>
        <p:blipFill>
          <a:blip r:embed="rId5"/>
          <a:stretch>
            <a:fillRect/>
          </a:stretch>
        </p:blipFill>
        <p:spPr>
          <a:xfrm>
            <a:off x="4622292" y="4576572"/>
            <a:ext cx="283464" cy="283464"/>
          </a:xfrm>
          <a:prstGeom prst="rect">
            <a:avLst/>
          </a:prstGeom>
        </p:spPr>
      </p:pic>
      <p:sp>
        <p:nvSpPr>
          <p:cNvPr id="28" name="Text 21"/>
          <p:cNvSpPr txBox="1"/>
          <p:nvPr/>
        </p:nvSpPr>
        <p:spPr>
          <a:xfrm>
            <a:off x="5193792" y="4407408"/>
            <a:ext cx="2560320" cy="603504"/>
          </a:xfrm>
          <a:prstGeom prst="rect">
            <a:avLst/>
          </a:prstGeom>
          <a:noFill/>
          <a:ln/>
        </p:spPr>
        <p:txBody>
          <a:bodyPr wrap="square" lIns="0" tIns="0" rIns="0" bIns="0" rtlCol="0" anchor="ctr"/>
          <a:lstStyle/>
          <a:p>
            <a:pPr indent="0" marL="0">
              <a:buNone/>
            </a:pPr>
            <a:r>
              <a:rPr lang="en-US" sz="1500" b="1" dirty="0">
                <a:solidFill>
                  <a:schemeClr val="accent1"/>
                </a:solidFill>
              </a:rPr>
              <a:t>Business setup &amp; dashboard</a:t>
            </a:r>
            <a:endParaRPr lang="en-US" sz="1500" dirty="0"/>
          </a:p>
        </p:txBody>
      </p:sp>
      <p:sp>
        <p:nvSpPr>
          <p:cNvPr id="29" name="Text 22"/>
          <p:cNvSpPr txBox="1"/>
          <p:nvPr/>
        </p:nvSpPr>
        <p:spPr>
          <a:xfrm>
            <a:off x="4480560" y="5074920"/>
            <a:ext cx="3246120" cy="640080"/>
          </a:xfrm>
          <a:prstGeom prst="rect">
            <a:avLst/>
          </a:prstGeom>
          <a:noFill/>
          <a:ln/>
        </p:spPr>
        <p:txBody>
          <a:bodyPr wrap="square" lIns="0" tIns="0" rIns="0" bIns="0" rtlCol="0" anchor="t"/>
          <a:lstStyle/>
          <a:p>
            <a:pPr indent="0" marL="0">
              <a:buNone/>
            </a:pPr>
            <a:r>
              <a:rPr lang="en-US" sz="1250" dirty="0">
                <a:solidFill>
                  <a:schemeClr val="tx1"/>
                </a:solidFill>
              </a:rPr>
              <a:t>Owner adds products and policies; team sees leads, follow-ups and analytics</a:t>
            </a:r>
            <a:endParaRPr lang="en-US" sz="1250" dirty="0"/>
          </a:p>
        </p:txBody>
      </p:sp>
      <p:sp>
        <p:nvSpPr>
          <p:cNvPr id="30" name="Learns from results"/>
          <p:cNvSpPr/>
          <p:nvPr/>
        </p:nvSpPr>
        <p:spPr>
          <a:xfrm>
            <a:off x="8101584" y="4206240"/>
            <a:ext cx="3630168" cy="1600200"/>
          </a:xfrm>
          <a:prstGeom prst="roundRect">
            <a:avLst>
              <a:gd name="adj" fmla="val 3429"/>
            </a:avLst>
          </a:prstGeom>
          <a:solidFill>
            <a:schemeClr val="accent6"/>
          </a:solidFill>
          <a:ln w="12700">
            <a:solidFill>
              <a:srgbClr val="EBB98F"/>
            </a:solidFill>
            <a:prstDash val="solid"/>
          </a:ln>
        </p:spPr>
      </p:sp>
      <p:sp>
        <p:nvSpPr>
          <p:cNvPr id="31" name="Icon circle"/>
          <p:cNvSpPr/>
          <p:nvPr/>
        </p:nvSpPr>
        <p:spPr>
          <a:xfrm>
            <a:off x="8302752" y="4434840"/>
            <a:ext cx="566928" cy="566928"/>
          </a:xfrm>
          <a:prstGeom prst="ellipse">
            <a:avLst/>
          </a:prstGeom>
          <a:solidFill>
            <a:schemeClr val="accent3"/>
          </a:solidFill>
          <a:ln w="12700">
            <a:solidFill>
              <a:schemeClr val="accent3"/>
            </a:solidFill>
            <a:prstDash val="solid"/>
          </a:ln>
        </p:spPr>
      </p:sp>
      <p:pic>
        <p:nvPicPr>
          <p:cNvPr id="32" name="Image 5" descr="SyncAlt icon">    </p:cNvPr>
          <p:cNvPicPr>
            <a:picLocks noChangeAspect="1"/>
          </p:cNvPicPr>
          <p:nvPr/>
        </p:nvPicPr>
        <p:blipFill>
          <a:blip r:embed="rId6"/>
          <a:stretch>
            <a:fillRect/>
          </a:stretch>
        </p:blipFill>
        <p:spPr>
          <a:xfrm>
            <a:off x="8444484" y="4576572"/>
            <a:ext cx="283464" cy="283464"/>
          </a:xfrm>
          <a:prstGeom prst="rect">
            <a:avLst/>
          </a:prstGeom>
        </p:spPr>
      </p:pic>
      <p:sp>
        <p:nvSpPr>
          <p:cNvPr id="33" name="Text 25"/>
          <p:cNvSpPr txBox="1"/>
          <p:nvPr/>
        </p:nvSpPr>
        <p:spPr>
          <a:xfrm>
            <a:off x="9015984" y="4407408"/>
            <a:ext cx="2560320" cy="603504"/>
          </a:xfrm>
          <a:prstGeom prst="rect">
            <a:avLst/>
          </a:prstGeom>
          <a:noFill/>
          <a:ln/>
        </p:spPr>
        <p:txBody>
          <a:bodyPr wrap="square" lIns="0" tIns="0" rIns="0" bIns="0" rtlCol="0" anchor="ctr"/>
          <a:lstStyle/>
          <a:p>
            <a:pPr indent="0" marL="0">
              <a:buNone/>
            </a:pPr>
            <a:r>
              <a:rPr lang="en-US" sz="1500" b="1" dirty="0">
                <a:solidFill>
                  <a:schemeClr val="accent3"/>
                </a:solidFill>
              </a:rPr>
              <a:t>Learns from results</a:t>
            </a:r>
            <a:endParaRPr lang="en-US" sz="1500" dirty="0"/>
          </a:p>
        </p:txBody>
      </p:sp>
      <p:sp>
        <p:nvSpPr>
          <p:cNvPr id="34" name="Text 26"/>
          <p:cNvSpPr txBox="1"/>
          <p:nvPr/>
        </p:nvSpPr>
        <p:spPr>
          <a:xfrm>
            <a:off x="8302752" y="5074920"/>
            <a:ext cx="3246120" cy="640080"/>
          </a:xfrm>
          <a:prstGeom prst="rect">
            <a:avLst/>
          </a:prstGeom>
          <a:noFill/>
          <a:ln/>
        </p:spPr>
        <p:txBody>
          <a:bodyPr wrap="square" lIns="0" tIns="0" rIns="0" bIns="0" rtlCol="0" anchor="t"/>
          <a:lstStyle/>
          <a:p>
            <a:pPr indent="0" marL="0">
              <a:buNone/>
            </a:pPr>
            <a:r>
              <a:rPr lang="en-US" sz="1250" dirty="0">
                <a:solidFill>
                  <a:schemeClr val="tx1"/>
                </a:solidFill>
              </a:rPr>
              <a:t>Retrains by itself after every 10 Converted / Not Converted leads</a:t>
            </a:r>
            <a:endParaRPr lang="en-US" sz="1250" dirty="0"/>
          </a:p>
        </p:txBody>
      </p:sp>
      <p:sp>
        <p:nvSpPr>
          <p:cNvPr id="25" name="Slide Number Placeholder 0"/>
          <p:cNvSpPr>
            <a:spLocks noGrp="1"/>
          </p:cNvSpPr>
          <p:nvPr>
            <p:ph type="sldNum" sz="quarter" idx="4294967295"/>
          </p:nvPr>
        </p:nvSpPr>
        <p:spPr>
          <a:xfrm>
            <a:off x="1127455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F5A68"/>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685800"/>
          </a:xfrm>
          <a:prstGeom prst="rect">
            <a:avLst/>
          </a:prstGeom>
          <a:noFill/>
          <a:ln/>
        </p:spPr>
        <p:txBody>
          <a:bodyPr wrap="square" lIns="0" tIns="0" rIns="0" bIns="0" rtlCol="0" anchor="ctr"/>
          <a:lstStyle/>
          <a:p>
            <a:pPr algn="ctr" indent="0" marL="0">
              <a:buNone/>
            </a:pPr>
            <a:r>
              <a:rPr lang="en-US" sz="3200" b="1" dirty="0">
                <a:solidFill>
                  <a:srgbClr val="222B38"/>
                </a:solidFill>
                <a:latin typeface="Times New Roman" pitchFamily="34" charset="0"/>
                <a:ea typeface="Times New Roman" pitchFamily="34" charset="-122"/>
                <a:cs typeface="Times New Roman" pitchFamily="34" charset="-120"/>
              </a:rPr>
              <a:t>SYSTEM ARCHITECTURE</a:t>
            </a:r>
            <a:endParaRPr lang="en-US" sz="3200" dirty="0"/>
          </a:p>
        </p:txBody>
      </p:sp>
      <p:sp>
        <p:nvSpPr>
          <p:cNvPr id="3" name="Text 1"/>
          <p:cNvSpPr txBox="1"/>
          <p:nvPr/>
        </p:nvSpPr>
        <p:spPr>
          <a:xfrm>
            <a:off x="457200" y="1143000"/>
            <a:ext cx="2103120" cy="320040"/>
          </a:xfrm>
          <a:prstGeom prst="rect">
            <a:avLst/>
          </a:prstGeom>
          <a:noFill/>
          <a:ln/>
        </p:spPr>
        <p:txBody>
          <a:bodyPr wrap="square" lIns="0" tIns="0" rIns="0" bIns="0" rtlCol="0" anchor="ctr"/>
          <a:lstStyle/>
          <a:p>
            <a:pPr indent="0" marL="0">
              <a:buNone/>
            </a:pPr>
            <a:r>
              <a:rPr lang="en-US" sz="1400" b="1" dirty="0">
                <a:solidFill>
                  <a:schemeClr val="tx2"/>
                </a:solidFill>
              </a:rPr>
              <a:t>Lead sources</a:t>
            </a:r>
            <a:endParaRPr lang="en-US" sz="1400" dirty="0"/>
          </a:p>
        </p:txBody>
      </p:sp>
      <p:sp>
        <p:nvSpPr>
          <p:cNvPr id="4" name="WhatsApp"/>
          <p:cNvSpPr/>
          <p:nvPr/>
        </p:nvSpPr>
        <p:spPr>
          <a:xfrm>
            <a:off x="457200" y="1554480"/>
            <a:ext cx="2103120" cy="804672"/>
          </a:xfrm>
          <a:prstGeom prst="roundRect">
            <a:avLst>
              <a:gd name="adj" fmla="val 6818"/>
            </a:avLst>
          </a:prstGeom>
          <a:solidFill>
            <a:srgbClr val="FFFFFF"/>
          </a:solidFill>
          <a:ln w="12700">
            <a:solidFill>
              <a:srgbClr val="B7C2D0"/>
            </a:solidFill>
            <a:prstDash val="solid"/>
          </a:ln>
        </p:spPr>
      </p:sp>
      <p:sp>
        <p:nvSpPr>
          <p:cNvPr id="5" name="Icon circle"/>
          <p:cNvSpPr/>
          <p:nvPr/>
        </p:nvSpPr>
        <p:spPr>
          <a:xfrm>
            <a:off x="566928" y="1719072"/>
            <a:ext cx="475488" cy="475488"/>
          </a:xfrm>
          <a:prstGeom prst="ellipse">
            <a:avLst/>
          </a:prstGeom>
          <a:solidFill>
            <a:schemeClr val="accent2"/>
          </a:solidFill>
          <a:ln w="12700">
            <a:solidFill>
              <a:schemeClr val="accent2"/>
            </a:solidFill>
            <a:prstDash val="solid"/>
          </a:ln>
        </p:spPr>
      </p:sp>
      <p:pic>
        <p:nvPicPr>
          <p:cNvPr id="6" name="Image 0" descr="Whatsapp icon">    </p:cNvPr>
          <p:cNvPicPr>
            <a:picLocks noChangeAspect="1"/>
          </p:cNvPicPr>
          <p:nvPr/>
        </p:nvPicPr>
        <p:blipFill>
          <a:blip r:embed="rId1"/>
          <a:stretch>
            <a:fillRect/>
          </a:stretch>
        </p:blipFill>
        <p:spPr>
          <a:xfrm>
            <a:off x="685800" y="1837944"/>
            <a:ext cx="237744" cy="237744"/>
          </a:xfrm>
          <a:prstGeom prst="rect">
            <a:avLst/>
          </a:prstGeom>
        </p:spPr>
      </p:pic>
      <p:sp>
        <p:nvSpPr>
          <p:cNvPr id="7" name="Text 4"/>
          <p:cNvSpPr txBox="1"/>
          <p:nvPr/>
        </p:nvSpPr>
        <p:spPr>
          <a:xfrm>
            <a:off x="1143000" y="1645920"/>
            <a:ext cx="1371600" cy="621792"/>
          </a:xfrm>
          <a:prstGeom prst="rect">
            <a:avLst/>
          </a:prstGeom>
          <a:noFill/>
          <a:ln/>
        </p:spPr>
        <p:txBody>
          <a:bodyPr wrap="square" lIns="0" tIns="0" rIns="0" bIns="0" rtlCol="0" anchor="ctr"/>
          <a:lstStyle/>
          <a:p>
            <a:pPr indent="0" marL="0">
              <a:buNone/>
            </a:pPr>
            <a:r>
              <a:rPr lang="en-US" sz="1300" b="1" dirty="0">
                <a:solidFill>
                  <a:schemeClr val="tx1"/>
                </a:solidFill>
              </a:rPr>
              <a:t>WhatsApp</a:t>
            </a:r>
            <a:endParaRPr lang="en-US" sz="1400" dirty="0"/>
          </a:p>
          <a:p>
            <a:pPr indent="0" marL="0">
              <a:buNone/>
            </a:pPr>
            <a:r>
              <a:rPr lang="en-US" sz="1100" dirty="0">
                <a:solidFill>
                  <a:srgbClr val="4F5A68"/>
                </a:solidFill>
              </a:rPr>
              <a:t>via Twilio</a:t>
            </a:r>
            <a:endParaRPr lang="en-US" sz="1400" dirty="0"/>
          </a:p>
        </p:txBody>
      </p:sp>
      <p:sp>
        <p:nvSpPr>
          <p:cNvPr id="8" name="Arrow"/>
          <p:cNvSpPr/>
          <p:nvPr/>
        </p:nvSpPr>
        <p:spPr>
          <a:xfrm>
            <a:off x="2560320" y="1956816"/>
            <a:ext cx="502920" cy="0"/>
          </a:xfrm>
          <a:prstGeom prst="line">
            <a:avLst/>
          </a:prstGeom>
          <a:noFill/>
          <a:ln w="19050">
            <a:solidFill>
              <a:srgbClr val="5B6675"/>
            </a:solidFill>
            <a:prstDash val="solid"/>
            <a:tailEnd type="triangle"/>
          </a:ln>
        </p:spPr>
      </p:sp>
      <p:sp>
        <p:nvSpPr>
          <p:cNvPr id="9" name="Website form"/>
          <p:cNvSpPr/>
          <p:nvPr/>
        </p:nvSpPr>
        <p:spPr>
          <a:xfrm>
            <a:off x="457200" y="2578608"/>
            <a:ext cx="2103120" cy="804672"/>
          </a:xfrm>
          <a:prstGeom prst="roundRect">
            <a:avLst>
              <a:gd name="adj" fmla="val 6818"/>
            </a:avLst>
          </a:prstGeom>
          <a:solidFill>
            <a:srgbClr val="FFFFFF"/>
          </a:solidFill>
          <a:ln w="12700">
            <a:solidFill>
              <a:srgbClr val="B7C2D0"/>
            </a:solidFill>
            <a:prstDash val="solid"/>
          </a:ln>
        </p:spPr>
      </p:sp>
      <p:sp>
        <p:nvSpPr>
          <p:cNvPr id="10" name="Icon circle"/>
          <p:cNvSpPr/>
          <p:nvPr/>
        </p:nvSpPr>
        <p:spPr>
          <a:xfrm>
            <a:off x="566928" y="2743200"/>
            <a:ext cx="475488" cy="475488"/>
          </a:xfrm>
          <a:prstGeom prst="ellipse">
            <a:avLst/>
          </a:prstGeom>
          <a:solidFill>
            <a:schemeClr val="accent1"/>
          </a:solidFill>
          <a:ln w="12700">
            <a:solidFill>
              <a:schemeClr val="accent1"/>
            </a:solidFill>
            <a:prstDash val="solid"/>
          </a:ln>
        </p:spPr>
      </p:sp>
      <p:pic>
        <p:nvPicPr>
          <p:cNvPr id="11" name="Image 1" descr="Globe icon">    </p:cNvPr>
          <p:cNvPicPr>
            <a:picLocks noChangeAspect="1"/>
          </p:cNvPicPr>
          <p:nvPr/>
        </p:nvPicPr>
        <p:blipFill>
          <a:blip r:embed="rId2"/>
          <a:stretch>
            <a:fillRect/>
          </a:stretch>
        </p:blipFill>
        <p:spPr>
          <a:xfrm>
            <a:off x="685800" y="2862072"/>
            <a:ext cx="237744" cy="237744"/>
          </a:xfrm>
          <a:prstGeom prst="rect">
            <a:avLst/>
          </a:prstGeom>
        </p:spPr>
      </p:pic>
      <p:sp>
        <p:nvSpPr>
          <p:cNvPr id="12" name="Text 8"/>
          <p:cNvSpPr txBox="1"/>
          <p:nvPr/>
        </p:nvSpPr>
        <p:spPr>
          <a:xfrm>
            <a:off x="1143000" y="2670048"/>
            <a:ext cx="1371600" cy="621792"/>
          </a:xfrm>
          <a:prstGeom prst="rect">
            <a:avLst/>
          </a:prstGeom>
          <a:noFill/>
          <a:ln/>
        </p:spPr>
        <p:txBody>
          <a:bodyPr wrap="square" lIns="0" tIns="0" rIns="0" bIns="0" rtlCol="0" anchor="ctr"/>
          <a:lstStyle/>
          <a:p>
            <a:pPr indent="0" marL="0">
              <a:buNone/>
            </a:pPr>
            <a:r>
              <a:rPr lang="en-US" sz="1300" b="1" dirty="0">
                <a:solidFill>
                  <a:schemeClr val="tx1"/>
                </a:solidFill>
              </a:rPr>
              <a:t>Website form</a:t>
            </a:r>
            <a:endParaRPr lang="en-US" sz="1400" dirty="0"/>
          </a:p>
          <a:p>
            <a:pPr indent="0" marL="0">
              <a:buNone/>
            </a:pPr>
            <a:r>
              <a:rPr lang="en-US" sz="1100" dirty="0">
                <a:solidFill>
                  <a:srgbClr val="4F5A68"/>
                </a:solidFill>
              </a:rPr>
              <a:t>/enquiry</a:t>
            </a:r>
            <a:endParaRPr lang="en-US" sz="1400" dirty="0"/>
          </a:p>
        </p:txBody>
      </p:sp>
      <p:sp>
        <p:nvSpPr>
          <p:cNvPr id="13" name="Arrow"/>
          <p:cNvSpPr/>
          <p:nvPr/>
        </p:nvSpPr>
        <p:spPr>
          <a:xfrm>
            <a:off x="2560320" y="2980944"/>
            <a:ext cx="502920" cy="0"/>
          </a:xfrm>
          <a:prstGeom prst="line">
            <a:avLst/>
          </a:prstGeom>
          <a:noFill/>
          <a:ln w="19050">
            <a:solidFill>
              <a:srgbClr val="5B6675"/>
            </a:solidFill>
            <a:prstDash val="solid"/>
            <a:tailEnd type="triangle"/>
          </a:ln>
        </p:spPr>
      </p:sp>
      <p:sp>
        <p:nvSpPr>
          <p:cNvPr id="14" name="Email"/>
          <p:cNvSpPr/>
          <p:nvPr/>
        </p:nvSpPr>
        <p:spPr>
          <a:xfrm>
            <a:off x="457200" y="3602736"/>
            <a:ext cx="2103120" cy="804672"/>
          </a:xfrm>
          <a:prstGeom prst="roundRect">
            <a:avLst>
              <a:gd name="adj" fmla="val 6818"/>
            </a:avLst>
          </a:prstGeom>
          <a:solidFill>
            <a:srgbClr val="FFFFFF"/>
          </a:solidFill>
          <a:ln w="12700">
            <a:solidFill>
              <a:srgbClr val="B7C2D0"/>
            </a:solidFill>
            <a:prstDash val="solid"/>
          </a:ln>
        </p:spPr>
      </p:sp>
      <p:sp>
        <p:nvSpPr>
          <p:cNvPr id="15" name="Icon circle"/>
          <p:cNvSpPr/>
          <p:nvPr/>
        </p:nvSpPr>
        <p:spPr>
          <a:xfrm>
            <a:off x="566928" y="3767328"/>
            <a:ext cx="475488" cy="475488"/>
          </a:xfrm>
          <a:prstGeom prst="ellipse">
            <a:avLst/>
          </a:prstGeom>
          <a:solidFill>
            <a:schemeClr val="accent3"/>
          </a:solidFill>
          <a:ln w="12700">
            <a:solidFill>
              <a:schemeClr val="accent3"/>
            </a:solidFill>
            <a:prstDash val="solid"/>
          </a:ln>
        </p:spPr>
      </p:sp>
      <p:pic>
        <p:nvPicPr>
          <p:cNvPr id="16" name="Image 2" descr="Envelope icon">    </p:cNvPr>
          <p:cNvPicPr>
            <a:picLocks noChangeAspect="1"/>
          </p:cNvPicPr>
          <p:nvPr/>
        </p:nvPicPr>
        <p:blipFill>
          <a:blip r:embed="rId3"/>
          <a:stretch>
            <a:fillRect/>
          </a:stretch>
        </p:blipFill>
        <p:spPr>
          <a:xfrm>
            <a:off x="685800" y="3886200"/>
            <a:ext cx="237744" cy="237744"/>
          </a:xfrm>
          <a:prstGeom prst="rect">
            <a:avLst/>
          </a:prstGeom>
        </p:spPr>
      </p:pic>
      <p:sp>
        <p:nvSpPr>
          <p:cNvPr id="17" name="Text 12"/>
          <p:cNvSpPr txBox="1"/>
          <p:nvPr/>
        </p:nvSpPr>
        <p:spPr>
          <a:xfrm>
            <a:off x="1143000" y="3694176"/>
            <a:ext cx="1371600" cy="621792"/>
          </a:xfrm>
          <a:prstGeom prst="rect">
            <a:avLst/>
          </a:prstGeom>
          <a:noFill/>
          <a:ln/>
        </p:spPr>
        <p:txBody>
          <a:bodyPr wrap="square" lIns="0" tIns="0" rIns="0" bIns="0" rtlCol="0" anchor="ctr"/>
          <a:lstStyle/>
          <a:p>
            <a:pPr indent="0" marL="0">
              <a:buNone/>
            </a:pPr>
            <a:r>
              <a:rPr lang="en-US" sz="1300" b="1" dirty="0">
                <a:solidFill>
                  <a:schemeClr val="tx1"/>
                </a:solidFill>
              </a:rPr>
              <a:t>Email</a:t>
            </a:r>
            <a:endParaRPr lang="en-US" sz="1400" dirty="0"/>
          </a:p>
          <a:p>
            <a:pPr indent="0" marL="0">
              <a:buNone/>
            </a:pPr>
            <a:r>
              <a:rPr lang="en-US" sz="1100" dirty="0">
                <a:solidFill>
                  <a:srgbClr val="4F5A68"/>
                </a:solidFill>
              </a:rPr>
              <a:t>forwarding service</a:t>
            </a:r>
            <a:endParaRPr lang="en-US" sz="1400" dirty="0"/>
          </a:p>
        </p:txBody>
      </p:sp>
      <p:sp>
        <p:nvSpPr>
          <p:cNvPr id="18" name="Arrow"/>
          <p:cNvSpPr/>
          <p:nvPr/>
        </p:nvSpPr>
        <p:spPr>
          <a:xfrm>
            <a:off x="2560320" y="4005072"/>
            <a:ext cx="502920" cy="0"/>
          </a:xfrm>
          <a:prstGeom prst="line">
            <a:avLst/>
          </a:prstGeom>
          <a:noFill/>
          <a:ln w="19050">
            <a:solidFill>
              <a:srgbClr val="5B6675"/>
            </a:solidFill>
            <a:prstDash val="solid"/>
            <a:tailEnd type="triangle"/>
          </a:ln>
        </p:spPr>
      </p:sp>
      <p:sp>
        <p:nvSpPr>
          <p:cNvPr id="19" name="Add Lead"/>
          <p:cNvSpPr/>
          <p:nvPr/>
        </p:nvSpPr>
        <p:spPr>
          <a:xfrm>
            <a:off x="457200" y="4626864"/>
            <a:ext cx="2103120" cy="804672"/>
          </a:xfrm>
          <a:prstGeom prst="roundRect">
            <a:avLst>
              <a:gd name="adj" fmla="val 6818"/>
            </a:avLst>
          </a:prstGeom>
          <a:solidFill>
            <a:srgbClr val="FFFFFF"/>
          </a:solidFill>
          <a:ln w="12700">
            <a:solidFill>
              <a:srgbClr val="B7C2D0"/>
            </a:solidFill>
            <a:prstDash val="solid"/>
          </a:ln>
        </p:spPr>
      </p:sp>
      <p:sp>
        <p:nvSpPr>
          <p:cNvPr id="20" name="Icon circle"/>
          <p:cNvSpPr/>
          <p:nvPr/>
        </p:nvSpPr>
        <p:spPr>
          <a:xfrm>
            <a:off x="566928" y="4791456"/>
            <a:ext cx="475488" cy="475488"/>
          </a:xfrm>
          <a:prstGeom prst="ellipse">
            <a:avLst/>
          </a:prstGeom>
          <a:solidFill>
            <a:schemeClr val="tx2"/>
          </a:solidFill>
          <a:ln w="12700">
            <a:solidFill>
              <a:schemeClr val="tx2"/>
            </a:solidFill>
            <a:prstDash val="solid"/>
          </a:ln>
        </p:spPr>
      </p:sp>
      <p:pic>
        <p:nvPicPr>
          <p:cNvPr id="21" name="Image 3" descr="UserEdit icon">    </p:cNvPr>
          <p:cNvPicPr>
            <a:picLocks noChangeAspect="1"/>
          </p:cNvPicPr>
          <p:nvPr/>
        </p:nvPicPr>
        <p:blipFill>
          <a:blip r:embed="rId4"/>
          <a:stretch>
            <a:fillRect/>
          </a:stretch>
        </p:blipFill>
        <p:spPr>
          <a:xfrm>
            <a:off x="685800" y="4910328"/>
            <a:ext cx="237744" cy="237744"/>
          </a:xfrm>
          <a:prstGeom prst="rect">
            <a:avLst/>
          </a:prstGeom>
        </p:spPr>
      </p:pic>
      <p:sp>
        <p:nvSpPr>
          <p:cNvPr id="22" name="Text 16"/>
          <p:cNvSpPr txBox="1"/>
          <p:nvPr/>
        </p:nvSpPr>
        <p:spPr>
          <a:xfrm>
            <a:off x="1143000" y="4718304"/>
            <a:ext cx="1371600" cy="621792"/>
          </a:xfrm>
          <a:prstGeom prst="rect">
            <a:avLst/>
          </a:prstGeom>
          <a:noFill/>
          <a:ln/>
        </p:spPr>
        <p:txBody>
          <a:bodyPr wrap="square" lIns="0" tIns="0" rIns="0" bIns="0" rtlCol="0" anchor="ctr"/>
          <a:lstStyle/>
          <a:p>
            <a:pPr indent="0" marL="0">
              <a:buNone/>
            </a:pPr>
            <a:r>
              <a:rPr lang="en-US" sz="1300" b="1" dirty="0">
                <a:solidFill>
                  <a:schemeClr val="tx1"/>
                </a:solidFill>
              </a:rPr>
              <a:t>Add Lead</a:t>
            </a:r>
            <a:endParaRPr lang="en-US" sz="1400" dirty="0"/>
          </a:p>
          <a:p>
            <a:pPr indent="0" marL="0">
              <a:buNone/>
            </a:pPr>
            <a:r>
              <a:rPr lang="en-US" sz="1100" dirty="0">
                <a:solidFill>
                  <a:srgbClr val="4F5A68"/>
                </a:solidFill>
              </a:rPr>
              <a:t>salesperson</a:t>
            </a:r>
            <a:endParaRPr lang="en-US" sz="1400" dirty="0"/>
          </a:p>
        </p:txBody>
      </p:sp>
      <p:sp>
        <p:nvSpPr>
          <p:cNvPr id="23" name="Arrow"/>
          <p:cNvSpPr/>
          <p:nvPr/>
        </p:nvSpPr>
        <p:spPr>
          <a:xfrm>
            <a:off x="2560320" y="5029200"/>
            <a:ext cx="502920" cy="0"/>
          </a:xfrm>
          <a:prstGeom prst="line">
            <a:avLst/>
          </a:prstGeom>
          <a:noFill/>
          <a:ln w="19050">
            <a:solidFill>
              <a:srgbClr val="5B6675"/>
            </a:solidFill>
            <a:prstDash val="solid"/>
            <a:tailEnd type="triangle"/>
          </a:ln>
        </p:spPr>
      </p:sp>
      <p:sp>
        <p:nvSpPr>
          <p:cNvPr id="24" name="API layer"/>
          <p:cNvSpPr/>
          <p:nvPr/>
        </p:nvSpPr>
        <p:spPr>
          <a:xfrm>
            <a:off x="3063240" y="1554480"/>
            <a:ext cx="1097280" cy="3877056"/>
          </a:xfrm>
          <a:prstGeom prst="roundRect">
            <a:avLst>
              <a:gd name="adj" fmla="val 5000"/>
            </a:avLst>
          </a:prstGeom>
          <a:solidFill>
            <a:srgbClr val="F3F5F8"/>
          </a:solidFill>
          <a:ln w="12700">
            <a:solidFill>
              <a:srgbClr val="B7C2D0"/>
            </a:solidFill>
            <a:prstDash val="solid"/>
          </a:ln>
        </p:spPr>
      </p:sp>
      <p:sp>
        <p:nvSpPr>
          <p:cNvPr id="25" name="Text 19"/>
          <p:cNvSpPr txBox="1"/>
          <p:nvPr/>
        </p:nvSpPr>
        <p:spPr>
          <a:xfrm>
            <a:off x="3127248" y="1645920"/>
            <a:ext cx="969264" cy="3694176"/>
          </a:xfrm>
          <a:prstGeom prst="rect">
            <a:avLst/>
          </a:prstGeom>
          <a:noFill/>
          <a:ln/>
        </p:spPr>
        <p:txBody>
          <a:bodyPr wrap="square" lIns="0" tIns="0" rIns="0" bIns="0" rtlCol="0" anchor="ctr"/>
          <a:lstStyle/>
          <a:p>
            <a:pPr algn="ctr" indent="0" marL="0">
              <a:buNone/>
            </a:pPr>
            <a:r>
              <a:rPr lang="en-US" sz="1250" b="1" dirty="0">
                <a:solidFill>
                  <a:schemeClr val="tx2"/>
                </a:solidFill>
              </a:rPr>
              <a:t>REST API &amp; webhooks</a:t>
            </a:r>
            <a:endParaRPr lang="en-US" sz="1400" dirty="0"/>
          </a:p>
          <a:p>
            <a:pPr algn="ctr" indent="0" marL="0">
              <a:buNone/>
            </a:pPr>
            <a:r>
              <a:rPr lang="en-US" sz="1050" dirty="0">
                <a:solidFill>
                  <a:srgbClr val="4F5A68"/>
                </a:solidFill>
              </a:rPr>
              <a:t>signature check · validation</a:t>
            </a:r>
            <a:endParaRPr lang="en-US" sz="1400" dirty="0"/>
          </a:p>
        </p:txBody>
      </p:sp>
      <p:sp>
        <p:nvSpPr>
          <p:cNvPr id="26" name="Arrow"/>
          <p:cNvSpPr/>
          <p:nvPr/>
        </p:nvSpPr>
        <p:spPr>
          <a:xfrm>
            <a:off x="4160520" y="3493008"/>
            <a:ext cx="365760" cy="0"/>
          </a:xfrm>
          <a:prstGeom prst="line">
            <a:avLst/>
          </a:prstGeom>
          <a:noFill/>
          <a:ln w="19050">
            <a:solidFill>
              <a:srgbClr val="5B6675"/>
            </a:solidFill>
            <a:prstDash val="solid"/>
            <a:tailEnd type="triangle"/>
          </a:ln>
        </p:spPr>
      </p:sp>
      <p:sp>
        <p:nvSpPr>
          <p:cNvPr id="27" name="Orchestrator"/>
          <p:cNvSpPr/>
          <p:nvPr/>
        </p:nvSpPr>
        <p:spPr>
          <a:xfrm>
            <a:off x="4526280" y="1188720"/>
            <a:ext cx="4709160" cy="4983480"/>
          </a:xfrm>
          <a:prstGeom prst="roundRect">
            <a:avLst>
              <a:gd name="adj" fmla="val 1165"/>
            </a:avLst>
          </a:prstGeom>
          <a:solidFill>
            <a:srgbClr val="FFFFFF"/>
          </a:solidFill>
          <a:ln w="12700">
            <a:solidFill>
              <a:schemeClr val="tx2"/>
            </a:solidFill>
            <a:prstDash val="solid"/>
          </a:ln>
        </p:spPr>
      </p:sp>
      <p:sp>
        <p:nvSpPr>
          <p:cNvPr id="28" name="Text 22"/>
          <p:cNvSpPr txBox="1"/>
          <p:nvPr/>
        </p:nvSpPr>
        <p:spPr>
          <a:xfrm>
            <a:off x="4617720" y="1261872"/>
            <a:ext cx="4526280" cy="365760"/>
          </a:xfrm>
          <a:prstGeom prst="rect">
            <a:avLst/>
          </a:prstGeom>
          <a:noFill/>
          <a:ln/>
        </p:spPr>
        <p:txBody>
          <a:bodyPr wrap="square" lIns="0" tIns="0" rIns="0" bIns="0" rtlCol="0" anchor="ctr"/>
          <a:lstStyle/>
          <a:p>
            <a:pPr algn="ctr" indent="0" marL="0">
              <a:buNone/>
            </a:pPr>
            <a:r>
              <a:rPr lang="en-US" sz="1400" b="1" dirty="0">
                <a:solidFill>
                  <a:schemeClr val="tx2"/>
                </a:solidFill>
              </a:rPr>
              <a:t>FastAPI backend · Orchestrator</a:t>
            </a:r>
            <a:endParaRPr lang="en-US" sz="1400" dirty="0"/>
          </a:p>
        </p:txBody>
      </p:sp>
      <p:sp>
        <p:nvSpPr>
          <p:cNvPr id="29" name="1. Lead Analysis"/>
          <p:cNvSpPr/>
          <p:nvPr/>
        </p:nvSpPr>
        <p:spPr>
          <a:xfrm>
            <a:off x="4709160" y="1737360"/>
            <a:ext cx="2103120" cy="658368"/>
          </a:xfrm>
          <a:prstGeom prst="roundRect">
            <a:avLst>
              <a:gd name="adj" fmla="val 8333"/>
            </a:avLst>
          </a:prstGeom>
          <a:solidFill>
            <a:schemeClr val="bg2"/>
          </a:solidFill>
          <a:ln w="12700">
            <a:solidFill>
              <a:srgbClr val="9DB7D9"/>
            </a:solidFill>
            <a:prstDash val="solid"/>
          </a:ln>
        </p:spPr>
      </p:sp>
      <p:sp>
        <p:nvSpPr>
          <p:cNvPr id="30" name="Text 24"/>
          <p:cNvSpPr txBox="1"/>
          <p:nvPr/>
        </p:nvSpPr>
        <p:spPr>
          <a:xfrm>
            <a:off x="4800600" y="1737360"/>
            <a:ext cx="1920240" cy="658368"/>
          </a:xfrm>
          <a:prstGeom prst="rect">
            <a:avLst/>
          </a:prstGeom>
          <a:noFill/>
          <a:ln/>
        </p:spPr>
        <p:txBody>
          <a:bodyPr wrap="square" lIns="0" tIns="0" rIns="0" bIns="0" rtlCol="0" anchor="ctr"/>
          <a:lstStyle/>
          <a:p>
            <a:pPr algn="ctr" indent="0" marL="0">
              <a:buNone/>
            </a:pPr>
            <a:r>
              <a:rPr lang="en-US" sz="1200" b="1" dirty="0">
                <a:solidFill>
                  <a:schemeClr val="tx1"/>
                </a:solidFill>
              </a:rPr>
              <a:t>1. Lead Analysis</a:t>
            </a:r>
            <a:endParaRPr lang="en-US" sz="1400" dirty="0"/>
          </a:p>
          <a:p>
            <a:pPr algn="ctr" indent="0" marL="0">
              <a:buNone/>
            </a:pPr>
            <a:r>
              <a:rPr lang="en-US" sz="1050" dirty="0">
                <a:solidFill>
                  <a:srgbClr val="4F5A68"/>
                </a:solidFill>
              </a:rPr>
              <a:t>cleans the data</a:t>
            </a:r>
            <a:endParaRPr lang="en-US" sz="1400" dirty="0"/>
          </a:p>
        </p:txBody>
      </p:sp>
      <p:sp>
        <p:nvSpPr>
          <p:cNvPr id="31" name="2. Lead Scoring (ML)"/>
          <p:cNvSpPr/>
          <p:nvPr/>
        </p:nvSpPr>
        <p:spPr>
          <a:xfrm>
            <a:off x="6949440" y="1737360"/>
            <a:ext cx="2103120" cy="658368"/>
          </a:xfrm>
          <a:prstGeom prst="roundRect">
            <a:avLst>
              <a:gd name="adj" fmla="val 8333"/>
            </a:avLst>
          </a:prstGeom>
          <a:solidFill>
            <a:schemeClr val="bg2"/>
          </a:solidFill>
          <a:ln w="12700">
            <a:solidFill>
              <a:srgbClr val="9DB7D9"/>
            </a:solidFill>
            <a:prstDash val="solid"/>
          </a:ln>
        </p:spPr>
      </p:sp>
      <p:sp>
        <p:nvSpPr>
          <p:cNvPr id="32" name="Text 26"/>
          <p:cNvSpPr txBox="1"/>
          <p:nvPr/>
        </p:nvSpPr>
        <p:spPr>
          <a:xfrm>
            <a:off x="7040880" y="1737360"/>
            <a:ext cx="1920240" cy="658368"/>
          </a:xfrm>
          <a:prstGeom prst="rect">
            <a:avLst/>
          </a:prstGeom>
          <a:noFill/>
          <a:ln/>
        </p:spPr>
        <p:txBody>
          <a:bodyPr wrap="square" lIns="0" tIns="0" rIns="0" bIns="0" rtlCol="0" anchor="ctr"/>
          <a:lstStyle/>
          <a:p>
            <a:pPr algn="ctr" indent="0" marL="0">
              <a:buNone/>
            </a:pPr>
            <a:r>
              <a:rPr lang="en-US" sz="1200" b="1" dirty="0">
                <a:solidFill>
                  <a:schemeClr val="tx1"/>
                </a:solidFill>
              </a:rPr>
              <a:t>2. Lead Scoring (ML)</a:t>
            </a:r>
            <a:endParaRPr lang="en-US" sz="1400" dirty="0"/>
          </a:p>
          <a:p>
            <a:pPr algn="ctr" indent="0" marL="0">
              <a:buNone/>
            </a:pPr>
            <a:r>
              <a:rPr lang="en-US" sz="1050" dirty="0">
                <a:solidFill>
                  <a:srgbClr val="4F5A68"/>
                </a:solidFill>
              </a:rPr>
              <a:t>profile chance</a:t>
            </a:r>
            <a:endParaRPr lang="en-US" sz="1400" dirty="0"/>
          </a:p>
        </p:txBody>
      </p:sp>
      <p:sp>
        <p:nvSpPr>
          <p:cNvPr id="33" name="3. Conversation"/>
          <p:cNvSpPr/>
          <p:nvPr/>
        </p:nvSpPr>
        <p:spPr>
          <a:xfrm>
            <a:off x="4709160" y="2523744"/>
            <a:ext cx="2103120" cy="658368"/>
          </a:xfrm>
          <a:prstGeom prst="roundRect">
            <a:avLst>
              <a:gd name="adj" fmla="val 8333"/>
            </a:avLst>
          </a:prstGeom>
          <a:solidFill>
            <a:schemeClr val="bg2"/>
          </a:solidFill>
          <a:ln w="12700">
            <a:solidFill>
              <a:srgbClr val="9DB7D9"/>
            </a:solidFill>
            <a:prstDash val="solid"/>
          </a:ln>
        </p:spPr>
      </p:sp>
      <p:sp>
        <p:nvSpPr>
          <p:cNvPr id="34" name="Text 28"/>
          <p:cNvSpPr txBox="1"/>
          <p:nvPr/>
        </p:nvSpPr>
        <p:spPr>
          <a:xfrm>
            <a:off x="4800600" y="2523744"/>
            <a:ext cx="1920240" cy="658368"/>
          </a:xfrm>
          <a:prstGeom prst="rect">
            <a:avLst/>
          </a:prstGeom>
          <a:noFill/>
          <a:ln/>
        </p:spPr>
        <p:txBody>
          <a:bodyPr wrap="square" lIns="0" tIns="0" rIns="0" bIns="0" rtlCol="0" anchor="ctr"/>
          <a:lstStyle/>
          <a:p>
            <a:pPr algn="ctr" indent="0" marL="0">
              <a:buNone/>
            </a:pPr>
            <a:r>
              <a:rPr lang="en-US" sz="1200" b="1" dirty="0">
                <a:solidFill>
                  <a:schemeClr val="tx1"/>
                </a:solidFill>
              </a:rPr>
              <a:t>3. Conversation</a:t>
            </a:r>
            <a:endParaRPr lang="en-US" sz="1400" dirty="0"/>
          </a:p>
          <a:p>
            <a:pPr algn="ctr" indent="0" marL="0">
              <a:buNone/>
            </a:pPr>
            <a:r>
              <a:rPr lang="en-US" sz="1050" dirty="0">
                <a:solidFill>
                  <a:srgbClr val="4F5A68"/>
                </a:solidFill>
              </a:rPr>
              <a:t>buying signals</a:t>
            </a:r>
            <a:endParaRPr lang="en-US" sz="1400" dirty="0"/>
          </a:p>
        </p:txBody>
      </p:sp>
      <p:sp>
        <p:nvSpPr>
          <p:cNvPr id="35" name="4. Conversion Prediction"/>
          <p:cNvSpPr/>
          <p:nvPr/>
        </p:nvSpPr>
        <p:spPr>
          <a:xfrm>
            <a:off x="6949440" y="2523744"/>
            <a:ext cx="2103120" cy="658368"/>
          </a:xfrm>
          <a:prstGeom prst="roundRect">
            <a:avLst>
              <a:gd name="adj" fmla="val 8333"/>
            </a:avLst>
          </a:prstGeom>
          <a:solidFill>
            <a:schemeClr val="bg2"/>
          </a:solidFill>
          <a:ln w="12700">
            <a:solidFill>
              <a:srgbClr val="9DB7D9"/>
            </a:solidFill>
            <a:prstDash val="solid"/>
          </a:ln>
        </p:spPr>
      </p:sp>
      <p:sp>
        <p:nvSpPr>
          <p:cNvPr id="36" name="Text 30"/>
          <p:cNvSpPr txBox="1"/>
          <p:nvPr/>
        </p:nvSpPr>
        <p:spPr>
          <a:xfrm>
            <a:off x="7040880" y="2523744"/>
            <a:ext cx="1920240" cy="658368"/>
          </a:xfrm>
          <a:prstGeom prst="rect">
            <a:avLst/>
          </a:prstGeom>
          <a:noFill/>
          <a:ln/>
        </p:spPr>
        <p:txBody>
          <a:bodyPr wrap="square" lIns="0" tIns="0" rIns="0" bIns="0" rtlCol="0" anchor="ctr"/>
          <a:lstStyle/>
          <a:p>
            <a:pPr algn="ctr" indent="0" marL="0">
              <a:buNone/>
            </a:pPr>
            <a:r>
              <a:rPr lang="en-US" sz="1200" b="1" dirty="0">
                <a:solidFill>
                  <a:schemeClr val="tx1"/>
                </a:solidFill>
              </a:rPr>
              <a:t>4. Conversion Prediction</a:t>
            </a:r>
            <a:endParaRPr lang="en-US" sz="1400" dirty="0"/>
          </a:p>
          <a:p>
            <a:pPr algn="ctr" indent="0" marL="0">
              <a:buNone/>
            </a:pPr>
            <a:r>
              <a:rPr lang="en-US" sz="1050" dirty="0">
                <a:solidFill>
                  <a:srgbClr val="4F5A68"/>
                </a:solidFill>
              </a:rPr>
              <a:t>final chance + priority</a:t>
            </a:r>
            <a:endParaRPr lang="en-US" sz="1400" dirty="0"/>
          </a:p>
        </p:txBody>
      </p:sp>
      <p:sp>
        <p:nvSpPr>
          <p:cNvPr id="37" name="5. Follow-up"/>
          <p:cNvSpPr/>
          <p:nvPr/>
        </p:nvSpPr>
        <p:spPr>
          <a:xfrm>
            <a:off x="4709160" y="3310128"/>
            <a:ext cx="2103120" cy="658368"/>
          </a:xfrm>
          <a:prstGeom prst="roundRect">
            <a:avLst>
              <a:gd name="adj" fmla="val 8333"/>
            </a:avLst>
          </a:prstGeom>
          <a:solidFill>
            <a:schemeClr val="bg2"/>
          </a:solidFill>
          <a:ln w="12700">
            <a:solidFill>
              <a:srgbClr val="9DB7D9"/>
            </a:solidFill>
            <a:prstDash val="solid"/>
          </a:ln>
        </p:spPr>
      </p:sp>
      <p:sp>
        <p:nvSpPr>
          <p:cNvPr id="38" name="Text 32"/>
          <p:cNvSpPr txBox="1"/>
          <p:nvPr/>
        </p:nvSpPr>
        <p:spPr>
          <a:xfrm>
            <a:off x="4800600" y="3310128"/>
            <a:ext cx="1920240" cy="658368"/>
          </a:xfrm>
          <a:prstGeom prst="rect">
            <a:avLst/>
          </a:prstGeom>
          <a:noFill/>
          <a:ln/>
        </p:spPr>
        <p:txBody>
          <a:bodyPr wrap="square" lIns="0" tIns="0" rIns="0" bIns="0" rtlCol="0" anchor="ctr"/>
          <a:lstStyle/>
          <a:p>
            <a:pPr algn="ctr" indent="0" marL="0">
              <a:buNone/>
            </a:pPr>
            <a:r>
              <a:rPr lang="en-US" sz="1200" b="1" dirty="0">
                <a:solidFill>
                  <a:schemeClr val="tx1"/>
                </a:solidFill>
              </a:rPr>
              <a:t>5. Follow-up</a:t>
            </a:r>
            <a:endParaRPr lang="en-US" sz="1400" dirty="0"/>
          </a:p>
          <a:p>
            <a:pPr algn="ctr" indent="0" marL="0">
              <a:buNone/>
            </a:pPr>
            <a:r>
              <a:rPr lang="en-US" sz="1050" dirty="0">
                <a:solidFill>
                  <a:srgbClr val="4F5A68"/>
                </a:solidFill>
              </a:rPr>
              <a:t>who is due today</a:t>
            </a:r>
            <a:endParaRPr lang="en-US" sz="1400" dirty="0"/>
          </a:p>
        </p:txBody>
      </p:sp>
      <p:sp>
        <p:nvSpPr>
          <p:cNvPr id="39" name="6. Message"/>
          <p:cNvSpPr/>
          <p:nvPr/>
        </p:nvSpPr>
        <p:spPr>
          <a:xfrm>
            <a:off x="6949440" y="3310128"/>
            <a:ext cx="2103120" cy="658368"/>
          </a:xfrm>
          <a:prstGeom prst="roundRect">
            <a:avLst>
              <a:gd name="adj" fmla="val 8333"/>
            </a:avLst>
          </a:prstGeom>
          <a:solidFill>
            <a:schemeClr val="bg2"/>
          </a:solidFill>
          <a:ln w="12700">
            <a:solidFill>
              <a:srgbClr val="9DB7D9"/>
            </a:solidFill>
            <a:prstDash val="solid"/>
          </a:ln>
        </p:spPr>
      </p:sp>
      <p:sp>
        <p:nvSpPr>
          <p:cNvPr id="40" name="Text 34"/>
          <p:cNvSpPr txBox="1"/>
          <p:nvPr/>
        </p:nvSpPr>
        <p:spPr>
          <a:xfrm>
            <a:off x="7040880" y="3310128"/>
            <a:ext cx="1920240" cy="658368"/>
          </a:xfrm>
          <a:prstGeom prst="rect">
            <a:avLst/>
          </a:prstGeom>
          <a:noFill/>
          <a:ln/>
        </p:spPr>
        <p:txBody>
          <a:bodyPr wrap="square" lIns="0" tIns="0" rIns="0" bIns="0" rtlCol="0" anchor="ctr"/>
          <a:lstStyle/>
          <a:p>
            <a:pPr algn="ctr" indent="0" marL="0">
              <a:buNone/>
            </a:pPr>
            <a:r>
              <a:rPr lang="en-US" sz="1200" b="1" dirty="0">
                <a:solidFill>
                  <a:schemeClr val="tx1"/>
                </a:solidFill>
              </a:rPr>
              <a:t>6. Message</a:t>
            </a:r>
            <a:endParaRPr lang="en-US" sz="1400" dirty="0"/>
          </a:p>
          <a:p>
            <a:pPr algn="ctr" indent="0" marL="0">
              <a:buNone/>
            </a:pPr>
            <a:r>
              <a:rPr lang="en-US" sz="1050" dirty="0">
                <a:solidFill>
                  <a:srgbClr val="4F5A68"/>
                </a:solidFill>
              </a:rPr>
              <a:t>editable draft</a:t>
            </a:r>
            <a:endParaRPr lang="en-US" sz="1400" dirty="0"/>
          </a:p>
        </p:txBody>
      </p:sp>
      <p:sp>
        <p:nvSpPr>
          <p:cNvPr id="41" name="7. Analytics"/>
          <p:cNvSpPr/>
          <p:nvPr/>
        </p:nvSpPr>
        <p:spPr>
          <a:xfrm>
            <a:off x="4709160" y="4096512"/>
            <a:ext cx="2103120" cy="658368"/>
          </a:xfrm>
          <a:prstGeom prst="roundRect">
            <a:avLst>
              <a:gd name="adj" fmla="val 8333"/>
            </a:avLst>
          </a:prstGeom>
          <a:solidFill>
            <a:schemeClr val="bg2"/>
          </a:solidFill>
          <a:ln w="12700">
            <a:solidFill>
              <a:srgbClr val="9DB7D9"/>
            </a:solidFill>
            <a:prstDash val="solid"/>
          </a:ln>
        </p:spPr>
      </p:sp>
      <p:sp>
        <p:nvSpPr>
          <p:cNvPr id="42" name="Text 36"/>
          <p:cNvSpPr txBox="1"/>
          <p:nvPr/>
        </p:nvSpPr>
        <p:spPr>
          <a:xfrm>
            <a:off x="4800600" y="4096512"/>
            <a:ext cx="1920240" cy="658368"/>
          </a:xfrm>
          <a:prstGeom prst="rect">
            <a:avLst/>
          </a:prstGeom>
          <a:noFill/>
          <a:ln/>
        </p:spPr>
        <p:txBody>
          <a:bodyPr wrap="square" lIns="0" tIns="0" rIns="0" bIns="0" rtlCol="0" anchor="ctr"/>
          <a:lstStyle/>
          <a:p>
            <a:pPr algn="ctr" indent="0" marL="0">
              <a:buNone/>
            </a:pPr>
            <a:r>
              <a:rPr lang="en-US" sz="1200" b="1" dirty="0">
                <a:solidFill>
                  <a:schemeClr val="tx1"/>
                </a:solidFill>
              </a:rPr>
              <a:t>7. Analytics</a:t>
            </a:r>
            <a:endParaRPr lang="en-US" sz="1400" dirty="0"/>
          </a:p>
          <a:p>
            <a:pPr algn="ctr" indent="0" marL="0">
              <a:buNone/>
            </a:pPr>
            <a:r>
              <a:rPr lang="en-US" sz="1050" dirty="0">
                <a:solidFill>
                  <a:srgbClr val="4F5A68"/>
                </a:solidFill>
              </a:rPr>
              <a:t>numbers &amp; charts</a:t>
            </a:r>
            <a:endParaRPr lang="en-US" sz="1400" dirty="0"/>
          </a:p>
        </p:txBody>
      </p:sp>
      <p:sp>
        <p:nvSpPr>
          <p:cNvPr id="43" name="WhatsApp assistant"/>
          <p:cNvSpPr/>
          <p:nvPr/>
        </p:nvSpPr>
        <p:spPr>
          <a:xfrm>
            <a:off x="6949440" y="4096512"/>
            <a:ext cx="2103120" cy="658368"/>
          </a:xfrm>
          <a:prstGeom prst="roundRect">
            <a:avLst>
              <a:gd name="adj" fmla="val 8333"/>
            </a:avLst>
          </a:prstGeom>
          <a:solidFill>
            <a:schemeClr val="accent5"/>
          </a:solidFill>
          <a:ln w="12700">
            <a:solidFill>
              <a:srgbClr val="9CCBAE"/>
            </a:solidFill>
            <a:prstDash val="solid"/>
          </a:ln>
        </p:spPr>
      </p:sp>
      <p:sp>
        <p:nvSpPr>
          <p:cNvPr id="44" name="Text 38"/>
          <p:cNvSpPr txBox="1"/>
          <p:nvPr/>
        </p:nvSpPr>
        <p:spPr>
          <a:xfrm>
            <a:off x="7040880" y="4096512"/>
            <a:ext cx="1920240" cy="658368"/>
          </a:xfrm>
          <a:prstGeom prst="rect">
            <a:avLst/>
          </a:prstGeom>
          <a:noFill/>
          <a:ln/>
        </p:spPr>
        <p:txBody>
          <a:bodyPr wrap="square" lIns="0" tIns="0" rIns="0" bIns="0" rtlCol="0" anchor="ctr"/>
          <a:lstStyle/>
          <a:p>
            <a:pPr algn="ctr" indent="0" marL="0">
              <a:buNone/>
            </a:pPr>
            <a:r>
              <a:rPr lang="en-US" sz="1200" b="1" dirty="0">
                <a:solidFill>
                  <a:schemeClr val="tx1"/>
                </a:solidFill>
              </a:rPr>
              <a:t>WhatsApp assistant</a:t>
            </a:r>
            <a:endParaRPr lang="en-US" sz="1400" dirty="0"/>
          </a:p>
          <a:p>
            <a:pPr algn="ctr" indent="0" marL="0">
              <a:buNone/>
            </a:pPr>
            <a:r>
              <a:rPr lang="en-US" sz="1050" dirty="0">
                <a:solidFill>
                  <a:srgbClr val="4F5A68"/>
                </a:solidFill>
              </a:rPr>
              <a:t>answers from catalogue</a:t>
            </a:r>
            <a:endParaRPr lang="en-US" sz="1400" dirty="0"/>
          </a:p>
        </p:txBody>
      </p:sp>
      <p:sp>
        <p:nvSpPr>
          <p:cNvPr id="45" name="Learning loop"/>
          <p:cNvSpPr/>
          <p:nvPr/>
        </p:nvSpPr>
        <p:spPr>
          <a:xfrm>
            <a:off x="4709160" y="4937760"/>
            <a:ext cx="4343400" cy="502920"/>
          </a:xfrm>
          <a:prstGeom prst="roundRect">
            <a:avLst>
              <a:gd name="adj" fmla="val 10909"/>
            </a:avLst>
          </a:prstGeom>
          <a:solidFill>
            <a:schemeClr val="accent6"/>
          </a:solidFill>
          <a:ln w="12700">
            <a:solidFill>
              <a:srgbClr val="EBB98F"/>
            </a:solidFill>
            <a:prstDash val="solid"/>
          </a:ln>
        </p:spPr>
      </p:sp>
      <p:sp>
        <p:nvSpPr>
          <p:cNvPr id="46" name="Text 40"/>
          <p:cNvSpPr txBox="1"/>
          <p:nvPr/>
        </p:nvSpPr>
        <p:spPr>
          <a:xfrm>
            <a:off x="4800600" y="4937760"/>
            <a:ext cx="4160520" cy="502920"/>
          </a:xfrm>
          <a:prstGeom prst="rect">
            <a:avLst/>
          </a:prstGeom>
          <a:noFill/>
          <a:ln/>
        </p:spPr>
        <p:txBody>
          <a:bodyPr wrap="square" lIns="0" tIns="0" rIns="0" bIns="0" rtlCol="0" anchor="ctr"/>
          <a:lstStyle/>
          <a:p>
            <a:pPr algn="ctr" indent="0" marL="0">
              <a:buNone/>
            </a:pPr>
            <a:r>
              <a:rPr lang="en-US" sz="1200" b="1" dirty="0">
                <a:solidFill>
                  <a:schemeClr val="accent3"/>
                </a:solidFill>
              </a:rPr>
              <a:t>Learning loop: </a:t>
            </a:r>
            <a:pPr algn="ctr" indent="0" marL="0">
              <a:buNone/>
            </a:pPr>
            <a:r>
              <a:rPr lang="en-US" sz="1200" dirty="0">
                <a:solidFill>
                  <a:schemeClr val="tx1"/>
                </a:solidFill>
              </a:rPr>
              <a:t>retrain after every 10 outcomes</a:t>
            </a:r>
            <a:endParaRPr lang="en-US" sz="1200" dirty="0"/>
          </a:p>
        </p:txBody>
      </p:sp>
      <p:sp>
        <p:nvSpPr>
          <p:cNvPr id="47" name="SQLite"/>
          <p:cNvSpPr/>
          <p:nvPr/>
        </p:nvSpPr>
        <p:spPr>
          <a:xfrm>
            <a:off x="4709160" y="5550408"/>
            <a:ext cx="2103120" cy="502920"/>
          </a:xfrm>
          <a:prstGeom prst="roundRect">
            <a:avLst>
              <a:gd name="adj" fmla="val 10909"/>
            </a:avLst>
          </a:prstGeom>
          <a:solidFill>
            <a:srgbClr val="F3F5F8"/>
          </a:solidFill>
          <a:ln w="12700">
            <a:solidFill>
              <a:srgbClr val="B7C2D0"/>
            </a:solidFill>
            <a:prstDash val="solid"/>
          </a:ln>
        </p:spPr>
      </p:sp>
      <p:sp>
        <p:nvSpPr>
          <p:cNvPr id="48" name="Text 42"/>
          <p:cNvSpPr txBox="1"/>
          <p:nvPr/>
        </p:nvSpPr>
        <p:spPr>
          <a:xfrm>
            <a:off x="4754880" y="5550408"/>
            <a:ext cx="2011680" cy="502920"/>
          </a:xfrm>
          <a:prstGeom prst="rect">
            <a:avLst/>
          </a:prstGeom>
          <a:noFill/>
          <a:ln/>
        </p:spPr>
        <p:txBody>
          <a:bodyPr wrap="square" lIns="0" tIns="0" rIns="0" bIns="0" rtlCol="0" anchor="ctr"/>
          <a:lstStyle/>
          <a:p>
            <a:pPr algn="ctr" indent="0" marL="0">
              <a:buNone/>
            </a:pPr>
            <a:r>
              <a:rPr lang="en-US" sz="1200" b="1" dirty="0">
                <a:solidFill>
                  <a:schemeClr val="tx1"/>
                </a:solidFill>
              </a:rPr>
              <a:t>SQLite </a:t>
            </a:r>
            <a:pPr algn="ctr" indent="0" marL="0">
              <a:buNone/>
            </a:pPr>
            <a:r>
              <a:rPr lang="en-US" sz="1000" dirty="0">
                <a:solidFill>
                  <a:srgbClr val="4F5A68"/>
                </a:solidFill>
              </a:rPr>
              <a:t>leads · business · products</a:t>
            </a:r>
            <a:endParaRPr lang="en-US" sz="1200" dirty="0"/>
          </a:p>
        </p:txBody>
      </p:sp>
      <p:sp>
        <p:nvSpPr>
          <p:cNvPr id="49" name="Model files"/>
          <p:cNvSpPr/>
          <p:nvPr/>
        </p:nvSpPr>
        <p:spPr>
          <a:xfrm>
            <a:off x="6949440" y="5550408"/>
            <a:ext cx="2103120" cy="502920"/>
          </a:xfrm>
          <a:prstGeom prst="roundRect">
            <a:avLst>
              <a:gd name="adj" fmla="val 10909"/>
            </a:avLst>
          </a:prstGeom>
          <a:solidFill>
            <a:srgbClr val="F3F5F8"/>
          </a:solidFill>
          <a:ln w="12700">
            <a:solidFill>
              <a:srgbClr val="B7C2D0"/>
            </a:solidFill>
            <a:prstDash val="solid"/>
          </a:ln>
        </p:spPr>
      </p:sp>
      <p:sp>
        <p:nvSpPr>
          <p:cNvPr id="50" name="Text 44"/>
          <p:cNvSpPr txBox="1"/>
          <p:nvPr/>
        </p:nvSpPr>
        <p:spPr>
          <a:xfrm>
            <a:off x="6995160" y="5550408"/>
            <a:ext cx="2011680" cy="502920"/>
          </a:xfrm>
          <a:prstGeom prst="rect">
            <a:avLst/>
          </a:prstGeom>
          <a:noFill/>
          <a:ln/>
        </p:spPr>
        <p:txBody>
          <a:bodyPr wrap="square" lIns="0" tIns="0" rIns="0" bIns="0" rtlCol="0" anchor="ctr"/>
          <a:lstStyle/>
          <a:p>
            <a:pPr algn="ctr" indent="0" marL="0">
              <a:buNone/>
            </a:pPr>
            <a:r>
              <a:rPr lang="en-US" sz="1200" b="1" dirty="0">
                <a:solidFill>
                  <a:schemeClr val="tx1"/>
                </a:solidFill>
              </a:rPr>
              <a:t>Models </a:t>
            </a:r>
            <a:pPr algn="ctr" indent="0" marL="0">
              <a:buNone/>
            </a:pPr>
            <a:r>
              <a:rPr lang="en-US" sz="1000" dirty="0">
                <a:solidFill>
                  <a:srgbClr val="4F5A68"/>
                </a:solidFill>
              </a:rPr>
              <a:t>lead_model.pkl · message_model.pkl</a:t>
            </a:r>
            <a:endParaRPr lang="en-US" sz="1200" dirty="0"/>
          </a:p>
        </p:txBody>
      </p:sp>
      <p:sp>
        <p:nvSpPr>
          <p:cNvPr id="51" name="Arrow"/>
          <p:cNvSpPr/>
          <p:nvPr/>
        </p:nvSpPr>
        <p:spPr>
          <a:xfrm>
            <a:off x="9235440" y="3108960"/>
            <a:ext cx="457200" cy="0"/>
          </a:xfrm>
          <a:prstGeom prst="line">
            <a:avLst/>
          </a:prstGeom>
          <a:noFill/>
          <a:ln w="19050">
            <a:solidFill>
              <a:srgbClr val="5B6675"/>
            </a:solidFill>
            <a:prstDash val="solid"/>
            <a:tailEnd type="triangle"/>
          </a:ln>
        </p:spPr>
      </p:sp>
      <p:sp>
        <p:nvSpPr>
          <p:cNvPr id="52" name="Arrow"/>
          <p:cNvSpPr/>
          <p:nvPr/>
        </p:nvSpPr>
        <p:spPr>
          <a:xfrm flipH="1">
            <a:off x="9235440" y="3840480"/>
            <a:ext cx="457200" cy="0"/>
          </a:xfrm>
          <a:prstGeom prst="line">
            <a:avLst/>
          </a:prstGeom>
          <a:noFill/>
          <a:ln w="19050">
            <a:solidFill>
              <a:srgbClr val="5B6675"/>
            </a:solidFill>
            <a:prstDash val="solid"/>
            <a:tailEnd type="triangle"/>
          </a:ln>
        </p:spPr>
      </p:sp>
      <p:sp>
        <p:nvSpPr>
          <p:cNvPr id="53" name="Text 47"/>
          <p:cNvSpPr txBox="1"/>
          <p:nvPr/>
        </p:nvSpPr>
        <p:spPr>
          <a:xfrm>
            <a:off x="9253728" y="3200400"/>
            <a:ext cx="420624" cy="274320"/>
          </a:xfrm>
          <a:prstGeom prst="rect">
            <a:avLst/>
          </a:prstGeom>
          <a:noFill/>
          <a:ln/>
        </p:spPr>
        <p:txBody>
          <a:bodyPr wrap="square" lIns="0" tIns="0" rIns="0" bIns="0" rtlCol="0" anchor="t"/>
          <a:lstStyle/>
          <a:p>
            <a:pPr algn="ctr" indent="0" marL="0">
              <a:buNone/>
            </a:pPr>
            <a:r>
              <a:rPr lang="en-US" sz="1000" dirty="0">
                <a:solidFill>
                  <a:srgbClr val="4F5A68"/>
                </a:solidFill>
              </a:rPr>
              <a:t>JSON</a:t>
            </a:r>
            <a:endParaRPr lang="en-US" sz="1000" dirty="0"/>
          </a:p>
        </p:txBody>
      </p:sp>
      <p:sp>
        <p:nvSpPr>
          <p:cNvPr id="54" name="Dashboard"/>
          <p:cNvSpPr/>
          <p:nvPr/>
        </p:nvSpPr>
        <p:spPr>
          <a:xfrm>
            <a:off x="9692640" y="1554480"/>
            <a:ext cx="2039112" cy="3877056"/>
          </a:xfrm>
          <a:prstGeom prst="roundRect">
            <a:avLst>
              <a:gd name="adj" fmla="val 3587"/>
            </a:avLst>
          </a:prstGeom>
          <a:solidFill>
            <a:schemeClr val="tx2"/>
          </a:solidFill>
          <a:ln w="12700">
            <a:solidFill>
              <a:schemeClr val="tx2"/>
            </a:solidFill>
            <a:prstDash val="solid"/>
          </a:ln>
        </p:spPr>
      </p:sp>
      <p:sp>
        <p:nvSpPr>
          <p:cNvPr id="55" name="Icon circle"/>
          <p:cNvSpPr/>
          <p:nvPr/>
        </p:nvSpPr>
        <p:spPr>
          <a:xfrm>
            <a:off x="10424160" y="1737360"/>
            <a:ext cx="566928" cy="566928"/>
          </a:xfrm>
          <a:prstGeom prst="ellipse">
            <a:avLst/>
          </a:prstGeom>
          <a:solidFill>
            <a:schemeClr val="accent1"/>
          </a:solidFill>
          <a:ln w="12700">
            <a:solidFill>
              <a:schemeClr val="accent1"/>
            </a:solidFill>
            <a:prstDash val="solid"/>
          </a:ln>
        </p:spPr>
      </p:sp>
      <p:pic>
        <p:nvPicPr>
          <p:cNvPr id="56" name="Image 4" descr="Desktop icon">    </p:cNvPr>
          <p:cNvPicPr>
            <a:picLocks noChangeAspect="1"/>
          </p:cNvPicPr>
          <p:nvPr/>
        </p:nvPicPr>
        <p:blipFill>
          <a:blip r:embed="rId5"/>
          <a:stretch>
            <a:fillRect/>
          </a:stretch>
        </p:blipFill>
        <p:spPr>
          <a:xfrm>
            <a:off x="10565892" y="1879092"/>
            <a:ext cx="283464" cy="283464"/>
          </a:xfrm>
          <a:prstGeom prst="rect">
            <a:avLst/>
          </a:prstGeom>
        </p:spPr>
      </p:pic>
      <p:sp>
        <p:nvSpPr>
          <p:cNvPr id="57" name="Text 50"/>
          <p:cNvSpPr txBox="1"/>
          <p:nvPr/>
        </p:nvSpPr>
        <p:spPr>
          <a:xfrm>
            <a:off x="9829800" y="2423160"/>
            <a:ext cx="1764792" cy="1920240"/>
          </a:xfrm>
          <a:prstGeom prst="rect">
            <a:avLst/>
          </a:prstGeom>
          <a:noFill/>
          <a:ln/>
        </p:spPr>
        <p:txBody>
          <a:bodyPr wrap="square" lIns="0" tIns="0" rIns="0" bIns="0" rtlCol="0" anchor="t"/>
          <a:lstStyle/>
          <a:p>
            <a:pPr algn="ctr" indent="0" marL="0">
              <a:spcAft>
                <a:spcPts val="600"/>
              </a:spcAft>
              <a:buNone/>
            </a:pPr>
            <a:r>
              <a:rPr lang="en-US" sz="1400" b="1" dirty="0">
                <a:solidFill>
                  <a:schemeClr val="bg1"/>
                </a:solidFill>
              </a:rPr>
              <a:t>React Dashboard</a:t>
            </a:r>
            <a:endParaRPr lang="en-US" sz="1400" dirty="0"/>
          </a:p>
          <a:p>
            <a:pPr algn="ctr" indent="0" marL="0">
              <a:spcAft>
                <a:spcPts val="600"/>
              </a:spcAft>
              <a:buNone/>
            </a:pPr>
            <a:r>
              <a:rPr lang="en-US" sz="1150" dirty="0">
                <a:solidFill>
                  <a:srgbClr val="DBE6F3"/>
                </a:solidFill>
              </a:rPr>
              <a:t>My Business · Leads · Add Lead · Follow-ups · Analytics · Connect</a:t>
            </a:r>
            <a:endParaRPr lang="en-US" sz="1400" dirty="0"/>
          </a:p>
        </p:txBody>
      </p:sp>
      <p:sp>
        <p:nvSpPr>
          <p:cNvPr id="58" name="Text 51"/>
          <p:cNvSpPr txBox="1"/>
          <p:nvPr/>
        </p:nvSpPr>
        <p:spPr>
          <a:xfrm>
            <a:off x="9829800" y="4617720"/>
            <a:ext cx="1764792" cy="640080"/>
          </a:xfrm>
          <a:prstGeom prst="rect">
            <a:avLst/>
          </a:prstGeom>
          <a:noFill/>
          <a:ln/>
        </p:spPr>
        <p:txBody>
          <a:bodyPr wrap="square" lIns="0" tIns="0" rIns="0" bIns="0" rtlCol="0" anchor="ctr"/>
          <a:lstStyle/>
          <a:p>
            <a:pPr algn="ctr" indent="0" marL="0">
              <a:buNone/>
            </a:pPr>
            <a:r>
              <a:rPr lang="en-US" sz="1100" i="1" dirty="0">
                <a:solidFill>
                  <a:schemeClr val="accent4"/>
                </a:solidFill>
              </a:rPr>
              <a:t>salesperson reviews and sends</a:t>
            </a:r>
            <a:endParaRPr lang="en-US" sz="1100" dirty="0"/>
          </a:p>
        </p:txBody>
      </p:sp>
      <p:sp>
        <p:nvSpPr>
          <p:cNvPr id="25" name="Slide Number Placeholder 0"/>
          <p:cNvSpPr>
            <a:spLocks noGrp="1"/>
          </p:cNvSpPr>
          <p:nvPr>
            <p:ph type="sldNum" sz="quarter" idx="4294967295"/>
          </p:nvPr>
        </p:nvSpPr>
        <p:spPr>
          <a:xfrm>
            <a:off x="1127455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F5A68"/>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685800"/>
          </a:xfrm>
          <a:prstGeom prst="rect">
            <a:avLst/>
          </a:prstGeom>
          <a:noFill/>
          <a:ln/>
        </p:spPr>
        <p:txBody>
          <a:bodyPr wrap="square" lIns="0" tIns="0" rIns="0" bIns="0" rtlCol="0" anchor="ctr"/>
          <a:lstStyle/>
          <a:p>
            <a:pPr algn="ctr" indent="0" marL="0">
              <a:buNone/>
            </a:pPr>
            <a:r>
              <a:rPr lang="en-US" sz="3200" b="1" dirty="0">
                <a:solidFill>
                  <a:srgbClr val="222B38"/>
                </a:solidFill>
                <a:latin typeface="Times New Roman" pitchFamily="34" charset="0"/>
                <a:ea typeface="Times New Roman" pitchFamily="34" charset="-122"/>
                <a:cs typeface="Times New Roman" pitchFamily="34" charset="-120"/>
              </a:rPr>
              <a:t>FLOW CHART</a:t>
            </a:r>
            <a:endParaRPr lang="en-US" sz="3200" dirty="0"/>
          </a:p>
        </p:txBody>
      </p:sp>
      <p:sp>
        <p:nvSpPr>
          <p:cNvPr id="3" name="Customer sends a message"/>
          <p:cNvSpPr/>
          <p:nvPr/>
        </p:nvSpPr>
        <p:spPr>
          <a:xfrm>
            <a:off x="548640" y="1188720"/>
            <a:ext cx="2331720" cy="548640"/>
          </a:xfrm>
          <a:prstGeom prst="flowChartTerminator">
            <a:avLst/>
          </a:prstGeom>
          <a:solidFill>
            <a:schemeClr val="tx2"/>
          </a:solidFill>
          <a:ln w="12700">
            <a:solidFill>
              <a:schemeClr val="tx2"/>
            </a:solidFill>
            <a:prstDash val="solid"/>
          </a:ln>
        </p:spPr>
      </p:sp>
      <p:sp>
        <p:nvSpPr>
          <p:cNvPr id="4" name="Text 2"/>
          <p:cNvSpPr txBox="1"/>
          <p:nvPr/>
        </p:nvSpPr>
        <p:spPr>
          <a:xfrm>
            <a:off x="548640" y="1188720"/>
            <a:ext cx="2331720" cy="548640"/>
          </a:xfrm>
          <a:prstGeom prst="rect">
            <a:avLst/>
          </a:prstGeom>
          <a:noFill/>
          <a:ln/>
        </p:spPr>
        <p:txBody>
          <a:bodyPr wrap="square" lIns="0" tIns="0" rIns="0" bIns="0" rtlCol="0" anchor="ctr"/>
          <a:lstStyle/>
          <a:p>
            <a:pPr algn="ctr" indent="0" marL="0">
              <a:buNone/>
            </a:pPr>
            <a:r>
              <a:rPr lang="en-US" sz="1250" b="1" dirty="0">
                <a:solidFill>
                  <a:schemeClr val="bg1"/>
                </a:solidFill>
              </a:rPr>
              <a:t>Customer sends a message</a:t>
            </a:r>
            <a:endParaRPr lang="en-US" sz="1250" dirty="0"/>
          </a:p>
        </p:txBody>
      </p:sp>
      <p:sp>
        <p:nvSpPr>
          <p:cNvPr id="5" name="Arrow"/>
          <p:cNvSpPr/>
          <p:nvPr/>
        </p:nvSpPr>
        <p:spPr>
          <a:xfrm>
            <a:off x="1714500" y="1737360"/>
            <a:ext cx="0" cy="274320"/>
          </a:xfrm>
          <a:prstGeom prst="line">
            <a:avLst/>
          </a:prstGeom>
          <a:noFill/>
          <a:ln w="19050">
            <a:solidFill>
              <a:srgbClr val="5B6675"/>
            </a:solidFill>
            <a:prstDash val="solid"/>
            <a:tailEnd type="triangle"/>
          </a:ln>
        </p:spPr>
      </p:sp>
      <p:sp>
        <p:nvSpPr>
          <p:cNvPr id="6" name="New phone number?"/>
          <p:cNvSpPr/>
          <p:nvPr/>
        </p:nvSpPr>
        <p:spPr>
          <a:xfrm>
            <a:off x="548640" y="2011680"/>
            <a:ext cx="2331720" cy="868680"/>
          </a:xfrm>
          <a:prstGeom prst="flowChartDecision">
            <a:avLst/>
          </a:prstGeom>
          <a:solidFill>
            <a:schemeClr val="accent6"/>
          </a:solidFill>
          <a:ln w="12700">
            <a:solidFill>
              <a:srgbClr val="EBB98F"/>
            </a:solidFill>
            <a:prstDash val="solid"/>
          </a:ln>
        </p:spPr>
      </p:sp>
      <p:sp>
        <p:nvSpPr>
          <p:cNvPr id="7" name="Text 5"/>
          <p:cNvSpPr txBox="1"/>
          <p:nvPr/>
        </p:nvSpPr>
        <p:spPr>
          <a:xfrm>
            <a:off x="822960" y="2011680"/>
            <a:ext cx="1783080" cy="868680"/>
          </a:xfrm>
          <a:prstGeom prst="rect">
            <a:avLst/>
          </a:prstGeom>
          <a:noFill/>
          <a:ln/>
        </p:spPr>
        <p:txBody>
          <a:bodyPr wrap="square" lIns="0" tIns="0" rIns="0" bIns="0" rtlCol="0" anchor="ctr"/>
          <a:lstStyle/>
          <a:p>
            <a:pPr algn="ctr" indent="0" marL="0">
              <a:buNone/>
            </a:pPr>
            <a:r>
              <a:rPr lang="en-US" sz="1200" b="1" dirty="0">
                <a:solidFill>
                  <a:schemeClr val="tx1"/>
                </a:solidFill>
              </a:rPr>
              <a:t>New phone number?</a:t>
            </a:r>
            <a:endParaRPr lang="en-US" sz="1200" dirty="0"/>
          </a:p>
        </p:txBody>
      </p:sp>
      <p:sp>
        <p:nvSpPr>
          <p:cNvPr id="8" name="Arrow"/>
          <p:cNvSpPr/>
          <p:nvPr/>
        </p:nvSpPr>
        <p:spPr>
          <a:xfrm>
            <a:off x="1714500" y="2880360"/>
            <a:ext cx="0" cy="274320"/>
          </a:xfrm>
          <a:prstGeom prst="line">
            <a:avLst/>
          </a:prstGeom>
          <a:noFill/>
          <a:ln w="19050">
            <a:solidFill>
              <a:srgbClr val="5B6675"/>
            </a:solidFill>
            <a:prstDash val="solid"/>
            <a:tailEnd type="triangle"/>
          </a:ln>
        </p:spPr>
      </p:sp>
      <p:sp>
        <p:nvSpPr>
          <p:cNvPr id="9" name="Text 7"/>
          <p:cNvSpPr txBox="1"/>
          <p:nvPr/>
        </p:nvSpPr>
        <p:spPr>
          <a:xfrm>
            <a:off x="1783080" y="2852928"/>
            <a:ext cx="457200" cy="274320"/>
          </a:xfrm>
          <a:prstGeom prst="rect">
            <a:avLst/>
          </a:prstGeom>
          <a:noFill/>
          <a:ln/>
        </p:spPr>
        <p:txBody>
          <a:bodyPr wrap="square" lIns="0" tIns="0" rIns="0" bIns="0" rtlCol="0" anchor="t"/>
          <a:lstStyle/>
          <a:p>
            <a:pPr indent="0" marL="0">
              <a:buNone/>
            </a:pPr>
            <a:r>
              <a:rPr lang="en-US" sz="1100" dirty="0">
                <a:solidFill>
                  <a:srgbClr val="4F5A68"/>
                </a:solidFill>
              </a:rPr>
              <a:t>Yes</a:t>
            </a:r>
            <a:endParaRPr lang="en-US" sz="1100" dirty="0"/>
          </a:p>
        </p:txBody>
      </p:sp>
      <p:sp>
        <p:nvSpPr>
          <p:cNvPr id="10" name="Create lead, welcome, ask name"/>
          <p:cNvSpPr/>
          <p:nvPr/>
        </p:nvSpPr>
        <p:spPr>
          <a:xfrm>
            <a:off x="548640" y="3154680"/>
            <a:ext cx="2331720" cy="621792"/>
          </a:xfrm>
          <a:prstGeom prst="roundRect">
            <a:avLst>
              <a:gd name="adj" fmla="val 8824"/>
            </a:avLst>
          </a:prstGeom>
          <a:solidFill>
            <a:schemeClr val="bg2"/>
          </a:solidFill>
          <a:ln w="12700">
            <a:solidFill>
              <a:srgbClr val="9DB7D9"/>
            </a:solidFill>
            <a:prstDash val="solid"/>
          </a:ln>
        </p:spPr>
      </p:sp>
      <p:sp>
        <p:nvSpPr>
          <p:cNvPr id="11" name="Text 9"/>
          <p:cNvSpPr txBox="1"/>
          <p:nvPr/>
        </p:nvSpPr>
        <p:spPr>
          <a:xfrm>
            <a:off x="621792" y="3154680"/>
            <a:ext cx="2185416" cy="621792"/>
          </a:xfrm>
          <a:prstGeom prst="rect">
            <a:avLst/>
          </a:prstGeom>
          <a:noFill/>
          <a:ln/>
        </p:spPr>
        <p:txBody>
          <a:bodyPr wrap="square" lIns="0" tIns="0" rIns="0" bIns="0" rtlCol="0" anchor="ctr"/>
          <a:lstStyle/>
          <a:p>
            <a:pPr algn="ctr" indent="0" marL="0">
              <a:buNone/>
            </a:pPr>
            <a:r>
              <a:rPr lang="en-US" sz="1250" dirty="0">
                <a:solidFill>
                  <a:schemeClr val="tx1"/>
                </a:solidFill>
              </a:rPr>
              <a:t>Create lead, welcome, ask name</a:t>
            </a:r>
            <a:endParaRPr lang="en-US" sz="1250" dirty="0"/>
          </a:p>
        </p:txBody>
      </p:sp>
      <p:sp>
        <p:nvSpPr>
          <p:cNvPr id="12" name="Arrow"/>
          <p:cNvSpPr/>
          <p:nvPr/>
        </p:nvSpPr>
        <p:spPr>
          <a:xfrm>
            <a:off x="1714500" y="3776472"/>
            <a:ext cx="0" cy="274320"/>
          </a:xfrm>
          <a:prstGeom prst="line">
            <a:avLst/>
          </a:prstGeom>
          <a:noFill/>
          <a:ln w="19050">
            <a:solidFill>
              <a:srgbClr val="5B6675"/>
            </a:solidFill>
            <a:prstDash val="solid"/>
            <a:tailEnd type="triangle"/>
          </a:ln>
        </p:spPr>
      </p:sp>
      <p:sp>
        <p:nvSpPr>
          <p:cNvPr id="13" name="Ask email → occupation → product (from owner's list)"/>
          <p:cNvSpPr/>
          <p:nvPr/>
        </p:nvSpPr>
        <p:spPr>
          <a:xfrm>
            <a:off x="548640" y="4050792"/>
            <a:ext cx="2331720" cy="777240"/>
          </a:xfrm>
          <a:prstGeom prst="roundRect">
            <a:avLst>
              <a:gd name="adj" fmla="val 7059"/>
            </a:avLst>
          </a:prstGeom>
          <a:solidFill>
            <a:schemeClr val="bg2"/>
          </a:solidFill>
          <a:ln w="12700">
            <a:solidFill>
              <a:srgbClr val="9DB7D9"/>
            </a:solidFill>
            <a:prstDash val="solid"/>
          </a:ln>
        </p:spPr>
      </p:sp>
      <p:sp>
        <p:nvSpPr>
          <p:cNvPr id="14" name="Text 12"/>
          <p:cNvSpPr txBox="1"/>
          <p:nvPr/>
        </p:nvSpPr>
        <p:spPr>
          <a:xfrm>
            <a:off x="621792" y="4050792"/>
            <a:ext cx="2185416" cy="777240"/>
          </a:xfrm>
          <a:prstGeom prst="rect">
            <a:avLst/>
          </a:prstGeom>
          <a:noFill/>
          <a:ln/>
        </p:spPr>
        <p:txBody>
          <a:bodyPr wrap="square" lIns="0" tIns="0" rIns="0" bIns="0" rtlCol="0" anchor="ctr"/>
          <a:lstStyle/>
          <a:p>
            <a:pPr algn="ctr" indent="0" marL="0">
              <a:buNone/>
            </a:pPr>
            <a:r>
              <a:rPr lang="en-US" sz="1250" dirty="0">
                <a:solidFill>
                  <a:schemeClr val="tx1"/>
                </a:solidFill>
              </a:rPr>
              <a:t>Ask email → occupation → product (from owner's list)</a:t>
            </a:r>
            <a:endParaRPr lang="en-US" sz="1250" dirty="0"/>
          </a:p>
        </p:txBody>
      </p:sp>
      <p:sp>
        <p:nvSpPr>
          <p:cNvPr id="15" name="Arrow"/>
          <p:cNvSpPr/>
          <p:nvPr/>
        </p:nvSpPr>
        <p:spPr>
          <a:xfrm>
            <a:off x="1714500" y="4828032"/>
            <a:ext cx="0" cy="274320"/>
          </a:xfrm>
          <a:prstGeom prst="line">
            <a:avLst/>
          </a:prstGeom>
          <a:noFill/>
          <a:ln w="19050">
            <a:solidFill>
              <a:srgbClr val="5B6675"/>
            </a:solidFill>
            <a:prstDash val="solid"/>
            <a:tailEnd type="triangle"/>
          </a:ln>
        </p:spPr>
      </p:sp>
      <p:sp>
        <p:nvSpPr>
          <p:cNvPr id="16" name="Ask: &quot;May I know your concern?&quot;"/>
          <p:cNvSpPr/>
          <p:nvPr/>
        </p:nvSpPr>
        <p:spPr>
          <a:xfrm>
            <a:off x="548640" y="5102352"/>
            <a:ext cx="2331720" cy="621792"/>
          </a:xfrm>
          <a:prstGeom prst="roundRect">
            <a:avLst>
              <a:gd name="adj" fmla="val 8824"/>
            </a:avLst>
          </a:prstGeom>
          <a:solidFill>
            <a:schemeClr val="bg2"/>
          </a:solidFill>
          <a:ln w="12700">
            <a:solidFill>
              <a:srgbClr val="9DB7D9"/>
            </a:solidFill>
            <a:prstDash val="solid"/>
          </a:ln>
        </p:spPr>
      </p:sp>
      <p:sp>
        <p:nvSpPr>
          <p:cNvPr id="17" name="Text 15"/>
          <p:cNvSpPr txBox="1"/>
          <p:nvPr/>
        </p:nvSpPr>
        <p:spPr>
          <a:xfrm>
            <a:off x="621792" y="5102352"/>
            <a:ext cx="2185416" cy="621792"/>
          </a:xfrm>
          <a:prstGeom prst="rect">
            <a:avLst/>
          </a:prstGeom>
          <a:noFill/>
          <a:ln/>
        </p:spPr>
        <p:txBody>
          <a:bodyPr wrap="square" lIns="0" tIns="0" rIns="0" bIns="0" rtlCol="0" anchor="ctr"/>
          <a:lstStyle/>
          <a:p>
            <a:pPr algn="ctr" indent="0" marL="0">
              <a:buNone/>
            </a:pPr>
            <a:r>
              <a:rPr lang="en-US" sz="1250" dirty="0">
                <a:solidFill>
                  <a:schemeClr val="tx1"/>
                </a:solidFill>
              </a:rPr>
              <a:t>Ask: "May I know your concern?"</a:t>
            </a:r>
            <a:endParaRPr lang="en-US" sz="1250" dirty="0"/>
          </a:p>
        </p:txBody>
      </p:sp>
      <p:sp>
        <p:nvSpPr>
          <p:cNvPr id="18" name="Arrow"/>
          <p:cNvSpPr/>
          <p:nvPr/>
        </p:nvSpPr>
        <p:spPr>
          <a:xfrm>
            <a:off x="2880360" y="2446020"/>
            <a:ext cx="685800" cy="0"/>
          </a:xfrm>
          <a:prstGeom prst="line">
            <a:avLst/>
          </a:prstGeom>
          <a:noFill/>
          <a:ln w="19050">
            <a:solidFill>
              <a:srgbClr val="5B6675"/>
            </a:solidFill>
            <a:prstDash val="solid"/>
            <a:tailEnd type="triangle"/>
          </a:ln>
        </p:spPr>
      </p:sp>
      <p:sp>
        <p:nvSpPr>
          <p:cNvPr id="19" name="Text 17"/>
          <p:cNvSpPr txBox="1"/>
          <p:nvPr/>
        </p:nvSpPr>
        <p:spPr>
          <a:xfrm>
            <a:off x="2971800" y="2148840"/>
            <a:ext cx="457200" cy="274320"/>
          </a:xfrm>
          <a:prstGeom prst="rect">
            <a:avLst/>
          </a:prstGeom>
          <a:noFill/>
          <a:ln/>
        </p:spPr>
        <p:txBody>
          <a:bodyPr wrap="square" lIns="0" tIns="0" rIns="0" bIns="0" rtlCol="0" anchor="t"/>
          <a:lstStyle/>
          <a:p>
            <a:pPr indent="0" marL="0">
              <a:buNone/>
            </a:pPr>
            <a:r>
              <a:rPr lang="en-US" sz="1100" dirty="0">
                <a:solidFill>
                  <a:srgbClr val="4F5A68"/>
                </a:solidFill>
              </a:rPr>
              <a:t>No</a:t>
            </a:r>
            <a:endParaRPr lang="en-US" sz="1100" dirty="0"/>
          </a:p>
        </p:txBody>
      </p:sp>
      <p:sp>
        <p:nvSpPr>
          <p:cNvPr id="20" name="Add message to the existing lead"/>
          <p:cNvSpPr/>
          <p:nvPr/>
        </p:nvSpPr>
        <p:spPr>
          <a:xfrm>
            <a:off x="3566160" y="2139696"/>
            <a:ext cx="2331720" cy="621792"/>
          </a:xfrm>
          <a:prstGeom prst="roundRect">
            <a:avLst>
              <a:gd name="adj" fmla="val 8824"/>
            </a:avLst>
          </a:prstGeom>
          <a:solidFill>
            <a:schemeClr val="accent5"/>
          </a:solidFill>
          <a:ln w="12700">
            <a:solidFill>
              <a:srgbClr val="9CCBAE"/>
            </a:solidFill>
            <a:prstDash val="solid"/>
          </a:ln>
        </p:spPr>
      </p:sp>
      <p:sp>
        <p:nvSpPr>
          <p:cNvPr id="21" name="Text 19"/>
          <p:cNvSpPr txBox="1"/>
          <p:nvPr/>
        </p:nvSpPr>
        <p:spPr>
          <a:xfrm>
            <a:off x="3639312" y="2139696"/>
            <a:ext cx="2185416" cy="621792"/>
          </a:xfrm>
          <a:prstGeom prst="rect">
            <a:avLst/>
          </a:prstGeom>
          <a:noFill/>
          <a:ln/>
        </p:spPr>
        <p:txBody>
          <a:bodyPr wrap="square" lIns="0" tIns="0" rIns="0" bIns="0" rtlCol="0" anchor="ctr"/>
          <a:lstStyle/>
          <a:p>
            <a:pPr algn="ctr" indent="0" marL="0">
              <a:buNone/>
            </a:pPr>
            <a:r>
              <a:rPr lang="en-US" sz="1250" dirty="0">
                <a:solidFill>
                  <a:schemeClr val="tx1"/>
                </a:solidFill>
              </a:rPr>
              <a:t>Add message to the existing lead</a:t>
            </a:r>
            <a:endParaRPr lang="en-US" sz="1250" dirty="0"/>
          </a:p>
        </p:txBody>
      </p:sp>
      <p:sp>
        <p:nvSpPr>
          <p:cNvPr id="22" name="Arrow"/>
          <p:cNvSpPr/>
          <p:nvPr/>
        </p:nvSpPr>
        <p:spPr>
          <a:xfrm flipV="1">
            <a:off x="2880360" y="4617720"/>
            <a:ext cx="685800" cy="795528"/>
          </a:xfrm>
          <a:prstGeom prst="line">
            <a:avLst/>
          </a:prstGeom>
          <a:noFill/>
          <a:ln w="19050">
            <a:solidFill>
              <a:srgbClr val="5B6675"/>
            </a:solidFill>
            <a:prstDash val="solid"/>
            <a:tailEnd type="triangle"/>
          </a:ln>
        </p:spPr>
      </p:sp>
      <p:sp>
        <p:nvSpPr>
          <p:cNvPr id="23" name="Asked price, specs, stock, delivery?"/>
          <p:cNvSpPr/>
          <p:nvPr/>
        </p:nvSpPr>
        <p:spPr>
          <a:xfrm>
            <a:off x="3566160" y="4114800"/>
            <a:ext cx="2331720" cy="1005840"/>
          </a:xfrm>
          <a:prstGeom prst="flowChartDecision">
            <a:avLst/>
          </a:prstGeom>
          <a:solidFill>
            <a:schemeClr val="accent6"/>
          </a:solidFill>
          <a:ln w="12700">
            <a:solidFill>
              <a:srgbClr val="EBB98F"/>
            </a:solidFill>
            <a:prstDash val="solid"/>
          </a:ln>
        </p:spPr>
      </p:sp>
      <p:sp>
        <p:nvSpPr>
          <p:cNvPr id="24" name="Text 22"/>
          <p:cNvSpPr txBox="1"/>
          <p:nvPr/>
        </p:nvSpPr>
        <p:spPr>
          <a:xfrm>
            <a:off x="3840480" y="4114800"/>
            <a:ext cx="1783080" cy="1005840"/>
          </a:xfrm>
          <a:prstGeom prst="rect">
            <a:avLst/>
          </a:prstGeom>
          <a:noFill/>
          <a:ln/>
        </p:spPr>
        <p:txBody>
          <a:bodyPr wrap="square" lIns="0" tIns="0" rIns="0" bIns="0" rtlCol="0" anchor="ctr"/>
          <a:lstStyle/>
          <a:p>
            <a:pPr algn="ctr" indent="0" marL="0">
              <a:buNone/>
            </a:pPr>
            <a:r>
              <a:rPr lang="en-US" sz="1200" b="1" dirty="0">
                <a:solidFill>
                  <a:schemeClr val="tx1"/>
                </a:solidFill>
              </a:rPr>
              <a:t>Asked price, specs, stock, delivery?</a:t>
            </a:r>
            <a:endParaRPr lang="en-US" sz="1200" dirty="0"/>
          </a:p>
        </p:txBody>
      </p:sp>
      <p:sp>
        <p:nvSpPr>
          <p:cNvPr id="25" name="Arrow"/>
          <p:cNvSpPr/>
          <p:nvPr/>
        </p:nvSpPr>
        <p:spPr>
          <a:xfrm>
            <a:off x="4732020" y="2761488"/>
            <a:ext cx="0" cy="1353312"/>
          </a:xfrm>
          <a:prstGeom prst="line">
            <a:avLst/>
          </a:prstGeom>
          <a:noFill/>
          <a:ln w="19050">
            <a:solidFill>
              <a:srgbClr val="5B6675"/>
            </a:solidFill>
            <a:prstDash val="solid"/>
            <a:tailEnd type="triangle"/>
          </a:ln>
        </p:spPr>
      </p:sp>
      <p:sp>
        <p:nvSpPr>
          <p:cNvPr id="26" name="Bot answers from the product list"/>
          <p:cNvSpPr/>
          <p:nvPr/>
        </p:nvSpPr>
        <p:spPr>
          <a:xfrm>
            <a:off x="3566160" y="5532120"/>
            <a:ext cx="2331720" cy="621792"/>
          </a:xfrm>
          <a:prstGeom prst="roundRect">
            <a:avLst>
              <a:gd name="adj" fmla="val 8824"/>
            </a:avLst>
          </a:prstGeom>
          <a:solidFill>
            <a:schemeClr val="accent5"/>
          </a:solidFill>
          <a:ln w="12700">
            <a:solidFill>
              <a:srgbClr val="9CCBAE"/>
            </a:solidFill>
            <a:prstDash val="solid"/>
          </a:ln>
        </p:spPr>
      </p:sp>
      <p:sp>
        <p:nvSpPr>
          <p:cNvPr id="27" name="Text 25"/>
          <p:cNvSpPr txBox="1"/>
          <p:nvPr/>
        </p:nvSpPr>
        <p:spPr>
          <a:xfrm>
            <a:off x="3639312" y="5532120"/>
            <a:ext cx="2185416" cy="621792"/>
          </a:xfrm>
          <a:prstGeom prst="rect">
            <a:avLst/>
          </a:prstGeom>
          <a:noFill/>
          <a:ln/>
        </p:spPr>
        <p:txBody>
          <a:bodyPr wrap="square" lIns="0" tIns="0" rIns="0" bIns="0" rtlCol="0" anchor="ctr"/>
          <a:lstStyle/>
          <a:p>
            <a:pPr algn="ctr" indent="0" marL="0">
              <a:buNone/>
            </a:pPr>
            <a:r>
              <a:rPr lang="en-US" sz="1250" dirty="0">
                <a:solidFill>
                  <a:schemeClr val="tx1"/>
                </a:solidFill>
              </a:rPr>
              <a:t>Bot answers from the product list</a:t>
            </a:r>
            <a:endParaRPr lang="en-US" sz="1250" dirty="0"/>
          </a:p>
        </p:txBody>
      </p:sp>
      <p:sp>
        <p:nvSpPr>
          <p:cNvPr id="28" name="Arrow"/>
          <p:cNvSpPr/>
          <p:nvPr/>
        </p:nvSpPr>
        <p:spPr>
          <a:xfrm>
            <a:off x="4732020" y="5120640"/>
            <a:ext cx="0" cy="411480"/>
          </a:xfrm>
          <a:prstGeom prst="line">
            <a:avLst/>
          </a:prstGeom>
          <a:noFill/>
          <a:ln w="19050">
            <a:solidFill>
              <a:srgbClr val="5B6675"/>
            </a:solidFill>
            <a:prstDash val="solid"/>
            <a:tailEnd type="triangle"/>
          </a:ln>
        </p:spPr>
      </p:sp>
      <p:sp>
        <p:nvSpPr>
          <p:cNvPr id="29" name="Text 27"/>
          <p:cNvSpPr txBox="1"/>
          <p:nvPr/>
        </p:nvSpPr>
        <p:spPr>
          <a:xfrm>
            <a:off x="4800600" y="5166360"/>
            <a:ext cx="457200" cy="274320"/>
          </a:xfrm>
          <a:prstGeom prst="rect">
            <a:avLst/>
          </a:prstGeom>
          <a:noFill/>
          <a:ln/>
        </p:spPr>
        <p:txBody>
          <a:bodyPr wrap="square" lIns="0" tIns="0" rIns="0" bIns="0" rtlCol="0" anchor="t"/>
          <a:lstStyle/>
          <a:p>
            <a:pPr indent="0" marL="0">
              <a:buNone/>
            </a:pPr>
            <a:r>
              <a:rPr lang="en-US" sz="1100" dirty="0">
                <a:solidFill>
                  <a:srgbClr val="4F5A68"/>
                </a:solidFill>
              </a:rPr>
              <a:t>Yes</a:t>
            </a:r>
            <a:endParaRPr lang="en-US" sz="1100" dirty="0"/>
          </a:p>
        </p:txBody>
      </p:sp>
      <p:sp>
        <p:nvSpPr>
          <p:cNvPr id="30" name="Arrow"/>
          <p:cNvSpPr/>
          <p:nvPr/>
        </p:nvSpPr>
        <p:spPr>
          <a:xfrm>
            <a:off x="5897880" y="4617720"/>
            <a:ext cx="548640" cy="0"/>
          </a:xfrm>
          <a:prstGeom prst="line">
            <a:avLst/>
          </a:prstGeom>
          <a:noFill/>
          <a:ln w="19050">
            <a:solidFill>
              <a:srgbClr val="5B6675"/>
            </a:solidFill>
            <a:prstDash val="solid"/>
            <a:tailEnd type="triangle"/>
          </a:ln>
        </p:spPr>
      </p:sp>
      <p:sp>
        <p:nvSpPr>
          <p:cNvPr id="31" name="Text 29"/>
          <p:cNvSpPr txBox="1"/>
          <p:nvPr/>
        </p:nvSpPr>
        <p:spPr>
          <a:xfrm>
            <a:off x="5943600" y="4315968"/>
            <a:ext cx="457200" cy="274320"/>
          </a:xfrm>
          <a:prstGeom prst="rect">
            <a:avLst/>
          </a:prstGeom>
          <a:noFill/>
          <a:ln/>
        </p:spPr>
        <p:txBody>
          <a:bodyPr wrap="square" lIns="0" tIns="0" rIns="0" bIns="0" rtlCol="0" anchor="t"/>
          <a:lstStyle/>
          <a:p>
            <a:pPr indent="0" marL="0">
              <a:buNone/>
            </a:pPr>
            <a:r>
              <a:rPr lang="en-US" sz="1100" dirty="0">
                <a:solidFill>
                  <a:srgbClr val="4F5A68"/>
                </a:solidFill>
              </a:rPr>
              <a:t>No</a:t>
            </a:r>
            <a:endParaRPr lang="en-US" sz="1100" dirty="0"/>
          </a:p>
        </p:txBody>
      </p:sp>
      <p:sp>
        <p:nvSpPr>
          <p:cNvPr id="32" name="Arrow"/>
          <p:cNvSpPr/>
          <p:nvPr/>
        </p:nvSpPr>
        <p:spPr>
          <a:xfrm flipV="1">
            <a:off x="5897880" y="5020056"/>
            <a:ext cx="548640" cy="822960"/>
          </a:xfrm>
          <a:prstGeom prst="line">
            <a:avLst/>
          </a:prstGeom>
          <a:noFill/>
          <a:ln w="19050">
            <a:solidFill>
              <a:srgbClr val="5B6675"/>
            </a:solidFill>
            <a:prstDash val="solid"/>
            <a:tailEnd type="triangle"/>
          </a:ln>
        </p:spPr>
      </p:sp>
      <p:sp>
        <p:nvSpPr>
          <p:cNvPr id="33" name="Scoring group"/>
          <p:cNvSpPr/>
          <p:nvPr/>
        </p:nvSpPr>
        <p:spPr>
          <a:xfrm>
            <a:off x="6446520" y="1188720"/>
            <a:ext cx="5285232" cy="4965192"/>
          </a:xfrm>
          <a:prstGeom prst="roundRect">
            <a:avLst>
              <a:gd name="adj" fmla="val 1105"/>
            </a:avLst>
          </a:prstGeom>
          <a:solidFill>
            <a:srgbClr val="F3F5F8"/>
          </a:solidFill>
          <a:ln w="12700">
            <a:solidFill>
              <a:srgbClr val="B7C2D0"/>
            </a:solidFill>
            <a:prstDash val="solid"/>
          </a:ln>
        </p:spPr>
      </p:sp>
      <p:sp>
        <p:nvSpPr>
          <p:cNvPr id="34" name="Text 32"/>
          <p:cNvSpPr txBox="1"/>
          <p:nvPr/>
        </p:nvSpPr>
        <p:spPr>
          <a:xfrm>
            <a:off x="6629400" y="1280160"/>
            <a:ext cx="4937760" cy="365760"/>
          </a:xfrm>
          <a:prstGeom prst="rect">
            <a:avLst/>
          </a:prstGeom>
          <a:noFill/>
          <a:ln/>
        </p:spPr>
        <p:txBody>
          <a:bodyPr wrap="square" lIns="0" tIns="0" rIns="0" bIns="0" rtlCol="0" anchor="ctr"/>
          <a:lstStyle/>
          <a:p>
            <a:pPr indent="0" marL="0">
              <a:buNone/>
            </a:pPr>
            <a:r>
              <a:rPr lang="en-US" sz="1400" b="1" dirty="0">
                <a:solidFill>
                  <a:schemeClr val="tx2"/>
                </a:solidFill>
              </a:rPr>
              <a:t>Scoring (every message)</a:t>
            </a:r>
            <a:endParaRPr lang="en-US" sz="1400" dirty="0"/>
          </a:p>
        </p:txBody>
      </p:sp>
      <p:sp>
        <p:nvSpPr>
          <p:cNvPr id="35" name="ML model → profile chance"/>
          <p:cNvSpPr/>
          <p:nvPr/>
        </p:nvSpPr>
        <p:spPr>
          <a:xfrm>
            <a:off x="6675120" y="1783080"/>
            <a:ext cx="2377440" cy="621792"/>
          </a:xfrm>
          <a:prstGeom prst="roundRect">
            <a:avLst>
              <a:gd name="adj" fmla="val 8824"/>
            </a:avLst>
          </a:prstGeom>
          <a:solidFill>
            <a:schemeClr val="bg2"/>
          </a:solidFill>
          <a:ln w="12700">
            <a:solidFill>
              <a:srgbClr val="9DB7D9"/>
            </a:solidFill>
            <a:prstDash val="solid"/>
          </a:ln>
        </p:spPr>
      </p:sp>
      <p:sp>
        <p:nvSpPr>
          <p:cNvPr id="36" name="Text 34"/>
          <p:cNvSpPr txBox="1"/>
          <p:nvPr/>
        </p:nvSpPr>
        <p:spPr>
          <a:xfrm>
            <a:off x="6748272" y="1783080"/>
            <a:ext cx="2231136" cy="621792"/>
          </a:xfrm>
          <a:prstGeom prst="rect">
            <a:avLst/>
          </a:prstGeom>
          <a:noFill/>
          <a:ln/>
        </p:spPr>
        <p:txBody>
          <a:bodyPr wrap="square" lIns="0" tIns="0" rIns="0" bIns="0" rtlCol="0" anchor="ctr"/>
          <a:lstStyle/>
          <a:p>
            <a:pPr algn="ctr" indent="0" marL="0">
              <a:buNone/>
            </a:pPr>
            <a:r>
              <a:rPr lang="en-US" sz="1250" dirty="0">
                <a:solidFill>
                  <a:schemeClr val="tx1"/>
                </a:solidFill>
              </a:rPr>
              <a:t>ML model → profile chance</a:t>
            </a:r>
            <a:endParaRPr lang="en-US" sz="1250" dirty="0"/>
          </a:p>
        </p:txBody>
      </p:sp>
      <p:sp>
        <p:nvSpPr>
          <p:cNvPr id="37" name="Arrow"/>
          <p:cNvSpPr/>
          <p:nvPr/>
        </p:nvSpPr>
        <p:spPr>
          <a:xfrm>
            <a:off x="9052560" y="2093976"/>
            <a:ext cx="320040" cy="0"/>
          </a:xfrm>
          <a:prstGeom prst="line">
            <a:avLst/>
          </a:prstGeom>
          <a:noFill/>
          <a:ln w="19050">
            <a:solidFill>
              <a:srgbClr val="5B6675"/>
            </a:solidFill>
            <a:prstDash val="solid"/>
            <a:tailEnd type="triangle"/>
          </a:ln>
        </p:spPr>
      </p:sp>
      <p:sp>
        <p:nvSpPr>
          <p:cNvPr id="38" name="Signals → final chance"/>
          <p:cNvSpPr/>
          <p:nvPr/>
        </p:nvSpPr>
        <p:spPr>
          <a:xfrm>
            <a:off x="9372600" y="1783080"/>
            <a:ext cx="2148840" cy="621792"/>
          </a:xfrm>
          <a:prstGeom prst="roundRect">
            <a:avLst>
              <a:gd name="adj" fmla="val 8824"/>
            </a:avLst>
          </a:prstGeom>
          <a:solidFill>
            <a:schemeClr val="bg2"/>
          </a:solidFill>
          <a:ln w="12700">
            <a:solidFill>
              <a:srgbClr val="9DB7D9"/>
            </a:solidFill>
            <a:prstDash val="solid"/>
          </a:ln>
        </p:spPr>
      </p:sp>
      <p:sp>
        <p:nvSpPr>
          <p:cNvPr id="39" name="Text 37"/>
          <p:cNvSpPr txBox="1"/>
          <p:nvPr/>
        </p:nvSpPr>
        <p:spPr>
          <a:xfrm>
            <a:off x="9445752" y="1783080"/>
            <a:ext cx="2002536" cy="621792"/>
          </a:xfrm>
          <a:prstGeom prst="rect">
            <a:avLst/>
          </a:prstGeom>
          <a:noFill/>
          <a:ln/>
        </p:spPr>
        <p:txBody>
          <a:bodyPr wrap="square" lIns="0" tIns="0" rIns="0" bIns="0" rtlCol="0" anchor="ctr"/>
          <a:lstStyle/>
          <a:p>
            <a:pPr algn="ctr" indent="0" marL="0">
              <a:buNone/>
            </a:pPr>
            <a:r>
              <a:rPr lang="en-US" sz="1250" dirty="0">
                <a:solidFill>
                  <a:schemeClr val="tx1"/>
                </a:solidFill>
              </a:rPr>
              <a:t>Signals → final chance</a:t>
            </a:r>
            <a:endParaRPr lang="en-US" sz="1250" dirty="0"/>
          </a:p>
        </p:txBody>
      </p:sp>
      <p:sp>
        <p:nvSpPr>
          <p:cNvPr id="40" name="Arrow"/>
          <p:cNvSpPr/>
          <p:nvPr/>
        </p:nvSpPr>
        <p:spPr>
          <a:xfrm>
            <a:off x="10447020" y="2404872"/>
            <a:ext cx="0" cy="274320"/>
          </a:xfrm>
          <a:prstGeom prst="line">
            <a:avLst/>
          </a:prstGeom>
          <a:noFill/>
          <a:ln w="19050">
            <a:solidFill>
              <a:srgbClr val="5B6675"/>
            </a:solidFill>
            <a:prstDash val="solid"/>
            <a:tailEnd type="triangle"/>
          </a:ln>
        </p:spPr>
      </p:sp>
      <p:sp>
        <p:nvSpPr>
          <p:cNvPr id="41" name="Priority HIGH / MEDIUM / LOW + reason"/>
          <p:cNvSpPr/>
          <p:nvPr/>
        </p:nvSpPr>
        <p:spPr>
          <a:xfrm>
            <a:off x="9372600" y="2679192"/>
            <a:ext cx="2148840" cy="731520"/>
          </a:xfrm>
          <a:prstGeom prst="roundRect">
            <a:avLst>
              <a:gd name="adj" fmla="val 7500"/>
            </a:avLst>
          </a:prstGeom>
          <a:solidFill>
            <a:schemeClr val="bg2"/>
          </a:solidFill>
          <a:ln w="12700">
            <a:solidFill>
              <a:srgbClr val="9DB7D9"/>
            </a:solidFill>
            <a:prstDash val="solid"/>
          </a:ln>
        </p:spPr>
      </p:sp>
      <p:sp>
        <p:nvSpPr>
          <p:cNvPr id="42" name="Text 40"/>
          <p:cNvSpPr txBox="1"/>
          <p:nvPr/>
        </p:nvSpPr>
        <p:spPr>
          <a:xfrm>
            <a:off x="9445752" y="2679192"/>
            <a:ext cx="2002536" cy="731520"/>
          </a:xfrm>
          <a:prstGeom prst="rect">
            <a:avLst/>
          </a:prstGeom>
          <a:noFill/>
          <a:ln/>
        </p:spPr>
        <p:txBody>
          <a:bodyPr wrap="square" lIns="0" tIns="0" rIns="0" bIns="0" rtlCol="0" anchor="ctr"/>
          <a:lstStyle/>
          <a:p>
            <a:pPr algn="ctr" indent="0" marL="0">
              <a:buNone/>
            </a:pPr>
            <a:r>
              <a:rPr lang="en-US" sz="1250" dirty="0">
                <a:solidFill>
                  <a:schemeClr val="tx1"/>
                </a:solidFill>
              </a:rPr>
              <a:t>Priority HIGH / MEDIUM / LOW + reason</a:t>
            </a:r>
            <a:endParaRPr lang="en-US" sz="1250" dirty="0"/>
          </a:p>
        </p:txBody>
      </p:sp>
      <p:sp>
        <p:nvSpPr>
          <p:cNvPr id="43" name="Arrow"/>
          <p:cNvSpPr/>
          <p:nvPr/>
        </p:nvSpPr>
        <p:spPr>
          <a:xfrm flipH="1">
            <a:off x="9052560" y="3044952"/>
            <a:ext cx="320040" cy="0"/>
          </a:xfrm>
          <a:prstGeom prst="line">
            <a:avLst/>
          </a:prstGeom>
          <a:noFill/>
          <a:ln w="19050">
            <a:solidFill>
              <a:srgbClr val="5B6675"/>
            </a:solidFill>
            <a:prstDash val="solid"/>
            <a:tailEnd type="triangle"/>
          </a:ln>
        </p:spPr>
      </p:sp>
      <p:sp>
        <p:nvSpPr>
          <p:cNvPr id="44" name="Saved in SQLite, shown on dashboard"/>
          <p:cNvSpPr/>
          <p:nvPr/>
        </p:nvSpPr>
        <p:spPr>
          <a:xfrm>
            <a:off x="6675120" y="2734056"/>
            <a:ext cx="2377440" cy="621792"/>
          </a:xfrm>
          <a:prstGeom prst="roundRect">
            <a:avLst>
              <a:gd name="adj" fmla="val 8824"/>
            </a:avLst>
          </a:prstGeom>
          <a:solidFill>
            <a:schemeClr val="bg2"/>
          </a:solidFill>
          <a:ln w="12700">
            <a:solidFill>
              <a:srgbClr val="9DB7D9"/>
            </a:solidFill>
            <a:prstDash val="solid"/>
          </a:ln>
        </p:spPr>
      </p:sp>
      <p:sp>
        <p:nvSpPr>
          <p:cNvPr id="45" name="Text 43"/>
          <p:cNvSpPr txBox="1"/>
          <p:nvPr/>
        </p:nvSpPr>
        <p:spPr>
          <a:xfrm>
            <a:off x="6748272" y="2734056"/>
            <a:ext cx="2231136" cy="621792"/>
          </a:xfrm>
          <a:prstGeom prst="rect">
            <a:avLst/>
          </a:prstGeom>
          <a:noFill/>
          <a:ln/>
        </p:spPr>
        <p:txBody>
          <a:bodyPr wrap="square" lIns="0" tIns="0" rIns="0" bIns="0" rtlCol="0" anchor="ctr"/>
          <a:lstStyle/>
          <a:p>
            <a:pPr algn="ctr" indent="0" marL="0">
              <a:buNone/>
            </a:pPr>
            <a:r>
              <a:rPr lang="en-US" sz="1250" dirty="0">
                <a:solidFill>
                  <a:schemeClr val="tx1"/>
                </a:solidFill>
              </a:rPr>
              <a:t>Saved in SQLite, shown on dashboard</a:t>
            </a:r>
            <a:endParaRPr lang="en-US" sz="1250" dirty="0"/>
          </a:p>
        </p:txBody>
      </p:sp>
      <p:sp>
        <p:nvSpPr>
          <p:cNvPr id="46" name="Arrow"/>
          <p:cNvSpPr/>
          <p:nvPr/>
        </p:nvSpPr>
        <p:spPr>
          <a:xfrm>
            <a:off x="7863840" y="3355848"/>
            <a:ext cx="0" cy="274320"/>
          </a:xfrm>
          <a:prstGeom prst="line">
            <a:avLst/>
          </a:prstGeom>
          <a:noFill/>
          <a:ln w="19050">
            <a:solidFill>
              <a:srgbClr val="5B6675"/>
            </a:solidFill>
            <a:prstDash val="solid"/>
            <a:tailEnd type="triangle"/>
          </a:ln>
        </p:spPr>
      </p:sp>
      <p:sp>
        <p:nvSpPr>
          <p:cNvPr id="47" name="Follow-up due? Draft message"/>
          <p:cNvSpPr/>
          <p:nvPr/>
        </p:nvSpPr>
        <p:spPr>
          <a:xfrm>
            <a:off x="6675120" y="3630168"/>
            <a:ext cx="2377440" cy="621792"/>
          </a:xfrm>
          <a:prstGeom prst="roundRect">
            <a:avLst>
              <a:gd name="adj" fmla="val 8824"/>
            </a:avLst>
          </a:prstGeom>
          <a:solidFill>
            <a:schemeClr val="bg2"/>
          </a:solidFill>
          <a:ln w="12700">
            <a:solidFill>
              <a:srgbClr val="9DB7D9"/>
            </a:solidFill>
            <a:prstDash val="solid"/>
          </a:ln>
        </p:spPr>
      </p:sp>
      <p:sp>
        <p:nvSpPr>
          <p:cNvPr id="48" name="Text 46"/>
          <p:cNvSpPr txBox="1"/>
          <p:nvPr/>
        </p:nvSpPr>
        <p:spPr>
          <a:xfrm>
            <a:off x="6748272" y="3630168"/>
            <a:ext cx="2231136" cy="621792"/>
          </a:xfrm>
          <a:prstGeom prst="rect">
            <a:avLst/>
          </a:prstGeom>
          <a:noFill/>
          <a:ln/>
        </p:spPr>
        <p:txBody>
          <a:bodyPr wrap="square" lIns="0" tIns="0" rIns="0" bIns="0" rtlCol="0" anchor="ctr"/>
          <a:lstStyle/>
          <a:p>
            <a:pPr algn="ctr" indent="0" marL="0">
              <a:buNone/>
            </a:pPr>
            <a:r>
              <a:rPr lang="en-US" sz="1250" dirty="0">
                <a:solidFill>
                  <a:schemeClr val="tx1"/>
                </a:solidFill>
              </a:rPr>
              <a:t>Follow-up due? Draft message</a:t>
            </a:r>
            <a:endParaRPr lang="en-US" sz="1250" dirty="0"/>
          </a:p>
        </p:txBody>
      </p:sp>
      <p:sp>
        <p:nvSpPr>
          <p:cNvPr id="49" name="Arrow"/>
          <p:cNvSpPr/>
          <p:nvPr/>
        </p:nvSpPr>
        <p:spPr>
          <a:xfrm>
            <a:off x="7863840" y="4251960"/>
            <a:ext cx="0" cy="274320"/>
          </a:xfrm>
          <a:prstGeom prst="line">
            <a:avLst/>
          </a:prstGeom>
          <a:noFill/>
          <a:ln w="19050">
            <a:solidFill>
              <a:srgbClr val="5B6675"/>
            </a:solidFill>
            <a:prstDash val="solid"/>
            <a:tailEnd type="triangle"/>
          </a:ln>
        </p:spPr>
      </p:sp>
      <p:sp>
        <p:nvSpPr>
          <p:cNvPr id="50" name="Salesperson edits → Send on WhatsApp"/>
          <p:cNvSpPr/>
          <p:nvPr/>
        </p:nvSpPr>
        <p:spPr>
          <a:xfrm>
            <a:off x="6675120" y="4526280"/>
            <a:ext cx="2377440" cy="685800"/>
          </a:xfrm>
          <a:prstGeom prst="roundRect">
            <a:avLst>
              <a:gd name="adj" fmla="val 8000"/>
            </a:avLst>
          </a:prstGeom>
          <a:solidFill>
            <a:schemeClr val="accent5"/>
          </a:solidFill>
          <a:ln w="12700">
            <a:solidFill>
              <a:srgbClr val="9CCBAE"/>
            </a:solidFill>
            <a:prstDash val="solid"/>
          </a:ln>
        </p:spPr>
      </p:sp>
      <p:sp>
        <p:nvSpPr>
          <p:cNvPr id="51" name="Text 49"/>
          <p:cNvSpPr txBox="1"/>
          <p:nvPr/>
        </p:nvSpPr>
        <p:spPr>
          <a:xfrm>
            <a:off x="6748272" y="4526280"/>
            <a:ext cx="2231136" cy="685800"/>
          </a:xfrm>
          <a:prstGeom prst="rect">
            <a:avLst/>
          </a:prstGeom>
          <a:noFill/>
          <a:ln/>
        </p:spPr>
        <p:txBody>
          <a:bodyPr wrap="square" lIns="0" tIns="0" rIns="0" bIns="0" rtlCol="0" anchor="ctr"/>
          <a:lstStyle/>
          <a:p>
            <a:pPr algn="ctr" indent="0" marL="0">
              <a:buNone/>
            </a:pPr>
            <a:r>
              <a:rPr lang="en-US" sz="1250" dirty="0">
                <a:solidFill>
                  <a:schemeClr val="tx1"/>
                </a:solidFill>
              </a:rPr>
              <a:t>Salesperson edits → Send on WhatsApp</a:t>
            </a:r>
            <a:endParaRPr lang="en-US" sz="1250" dirty="0"/>
          </a:p>
        </p:txBody>
      </p:sp>
      <p:sp>
        <p:nvSpPr>
          <p:cNvPr id="52" name="Arrow"/>
          <p:cNvSpPr/>
          <p:nvPr/>
        </p:nvSpPr>
        <p:spPr>
          <a:xfrm>
            <a:off x="9052560" y="4864608"/>
            <a:ext cx="320040" cy="0"/>
          </a:xfrm>
          <a:prstGeom prst="line">
            <a:avLst/>
          </a:prstGeom>
          <a:noFill/>
          <a:ln w="19050">
            <a:solidFill>
              <a:srgbClr val="5B6675"/>
            </a:solidFill>
            <a:prstDash val="solid"/>
            <a:tailEnd type="triangle"/>
          </a:ln>
        </p:spPr>
      </p:sp>
      <p:sp>
        <p:nvSpPr>
          <p:cNvPr id="53" name="Converted?"/>
          <p:cNvSpPr/>
          <p:nvPr/>
        </p:nvSpPr>
        <p:spPr>
          <a:xfrm>
            <a:off x="9372600" y="4434840"/>
            <a:ext cx="2148840" cy="868680"/>
          </a:xfrm>
          <a:prstGeom prst="flowChartDecision">
            <a:avLst/>
          </a:prstGeom>
          <a:solidFill>
            <a:schemeClr val="accent6"/>
          </a:solidFill>
          <a:ln w="12700">
            <a:solidFill>
              <a:srgbClr val="EBB98F"/>
            </a:solidFill>
            <a:prstDash val="solid"/>
          </a:ln>
        </p:spPr>
      </p:sp>
      <p:sp>
        <p:nvSpPr>
          <p:cNvPr id="54" name="Text 52"/>
          <p:cNvSpPr txBox="1"/>
          <p:nvPr/>
        </p:nvSpPr>
        <p:spPr>
          <a:xfrm>
            <a:off x="9646920" y="4434840"/>
            <a:ext cx="1600200" cy="868680"/>
          </a:xfrm>
          <a:prstGeom prst="rect">
            <a:avLst/>
          </a:prstGeom>
          <a:noFill/>
          <a:ln/>
        </p:spPr>
        <p:txBody>
          <a:bodyPr wrap="square" lIns="0" tIns="0" rIns="0" bIns="0" rtlCol="0" anchor="ctr"/>
          <a:lstStyle/>
          <a:p>
            <a:pPr algn="ctr" indent="0" marL="0">
              <a:buNone/>
            </a:pPr>
            <a:r>
              <a:rPr lang="en-US" sz="1200" b="1" dirty="0">
                <a:solidFill>
                  <a:schemeClr val="tx1"/>
                </a:solidFill>
              </a:rPr>
              <a:t>Converted?</a:t>
            </a:r>
            <a:endParaRPr lang="en-US" sz="1200" dirty="0"/>
          </a:p>
        </p:txBody>
      </p:sp>
      <p:sp>
        <p:nvSpPr>
          <p:cNvPr id="55" name="Arrow"/>
          <p:cNvSpPr/>
          <p:nvPr/>
        </p:nvSpPr>
        <p:spPr>
          <a:xfrm>
            <a:off x="10447020" y="5303520"/>
            <a:ext cx="0" cy="274320"/>
          </a:xfrm>
          <a:prstGeom prst="line">
            <a:avLst/>
          </a:prstGeom>
          <a:noFill/>
          <a:ln w="19050">
            <a:solidFill>
              <a:srgbClr val="5B6675"/>
            </a:solidFill>
            <a:prstDash val="solid"/>
            <a:tailEnd type="triangle"/>
          </a:ln>
        </p:spPr>
      </p:sp>
      <p:sp>
        <p:nvSpPr>
          <p:cNvPr id="56" name="Outcome saved → retrain after 10"/>
          <p:cNvSpPr/>
          <p:nvPr/>
        </p:nvSpPr>
        <p:spPr>
          <a:xfrm>
            <a:off x="9372600" y="5577840"/>
            <a:ext cx="2148840" cy="502920"/>
          </a:xfrm>
          <a:prstGeom prst="roundRect">
            <a:avLst>
              <a:gd name="adj" fmla="val 10909"/>
            </a:avLst>
          </a:prstGeom>
          <a:solidFill>
            <a:schemeClr val="accent6"/>
          </a:solidFill>
          <a:ln w="12700">
            <a:solidFill>
              <a:srgbClr val="EBB98F"/>
            </a:solidFill>
            <a:prstDash val="solid"/>
          </a:ln>
        </p:spPr>
      </p:sp>
      <p:sp>
        <p:nvSpPr>
          <p:cNvPr id="57" name="Text 55"/>
          <p:cNvSpPr txBox="1"/>
          <p:nvPr/>
        </p:nvSpPr>
        <p:spPr>
          <a:xfrm>
            <a:off x="9445752" y="5577840"/>
            <a:ext cx="2002536" cy="502920"/>
          </a:xfrm>
          <a:prstGeom prst="rect">
            <a:avLst/>
          </a:prstGeom>
          <a:noFill/>
          <a:ln/>
        </p:spPr>
        <p:txBody>
          <a:bodyPr wrap="square" lIns="0" tIns="0" rIns="0" bIns="0" rtlCol="0" anchor="ctr"/>
          <a:lstStyle/>
          <a:p>
            <a:pPr algn="ctr" indent="0" marL="0">
              <a:buNone/>
            </a:pPr>
            <a:r>
              <a:rPr lang="en-US" sz="1250" dirty="0">
                <a:solidFill>
                  <a:schemeClr val="tx1"/>
                </a:solidFill>
              </a:rPr>
              <a:t>Outcome saved → retrain after 10</a:t>
            </a:r>
            <a:endParaRPr lang="en-US" sz="1250" dirty="0"/>
          </a:p>
        </p:txBody>
      </p:sp>
      <p:sp>
        <p:nvSpPr>
          <p:cNvPr id="25" name="Slide Number Placeholder 0"/>
          <p:cNvSpPr>
            <a:spLocks noGrp="1"/>
          </p:cNvSpPr>
          <p:nvPr>
            <p:ph type="sldNum" sz="quarter" idx="4294967295"/>
          </p:nvPr>
        </p:nvSpPr>
        <p:spPr>
          <a:xfrm>
            <a:off x="1127455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F5A68"/>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685800"/>
          </a:xfrm>
          <a:prstGeom prst="rect">
            <a:avLst/>
          </a:prstGeom>
          <a:noFill/>
          <a:ln/>
        </p:spPr>
        <p:txBody>
          <a:bodyPr wrap="square" lIns="0" tIns="0" rIns="0" bIns="0" rtlCol="0" anchor="ctr"/>
          <a:lstStyle/>
          <a:p>
            <a:pPr algn="ctr" indent="0" marL="0">
              <a:buNone/>
            </a:pPr>
            <a:r>
              <a:rPr lang="en-US" sz="3200" b="1" dirty="0">
                <a:solidFill>
                  <a:srgbClr val="222B38"/>
                </a:solidFill>
                <a:latin typeface="Times New Roman" pitchFamily="34" charset="0"/>
                <a:ea typeface="Times New Roman" pitchFamily="34" charset="-122"/>
                <a:cs typeface="Times New Roman" pitchFamily="34" charset="-120"/>
              </a:rPr>
              <a:t>MODULE DESIGN</a:t>
            </a:r>
            <a:endParaRPr lang="en-US" sz="3200" dirty="0"/>
          </a:p>
        </p:txBody>
      </p:sp>
      <p:sp>
        <p:nvSpPr>
          <p:cNvPr id="3" name="Lead Analysis Agent"/>
          <p:cNvSpPr/>
          <p:nvPr/>
        </p:nvSpPr>
        <p:spPr>
          <a:xfrm>
            <a:off x="457200" y="1188720"/>
            <a:ext cx="3630168" cy="1572768"/>
          </a:xfrm>
          <a:prstGeom prst="roundRect">
            <a:avLst>
              <a:gd name="adj" fmla="val 3488"/>
            </a:avLst>
          </a:prstGeom>
          <a:solidFill>
            <a:srgbClr val="FFFFFF"/>
          </a:solidFill>
          <a:ln w="12700">
            <a:solidFill>
              <a:srgbClr val="B7C2D0"/>
            </a:solidFill>
            <a:prstDash val="solid"/>
          </a:ln>
        </p:spPr>
      </p:sp>
      <p:sp>
        <p:nvSpPr>
          <p:cNvPr id="4" name="Icon circle"/>
          <p:cNvSpPr/>
          <p:nvPr/>
        </p:nvSpPr>
        <p:spPr>
          <a:xfrm>
            <a:off x="640080" y="1371600"/>
            <a:ext cx="502920" cy="502920"/>
          </a:xfrm>
          <a:prstGeom prst="ellipse">
            <a:avLst/>
          </a:prstGeom>
          <a:solidFill>
            <a:schemeClr val="accent1"/>
          </a:solidFill>
          <a:ln w="12700">
            <a:solidFill>
              <a:schemeClr val="accent1"/>
            </a:solidFill>
            <a:prstDash val="solid"/>
          </a:ln>
        </p:spPr>
      </p:sp>
      <p:pic>
        <p:nvPicPr>
          <p:cNvPr id="5" name="Image 0" descr="Filter icon">    </p:cNvPr>
          <p:cNvPicPr>
            <a:picLocks noChangeAspect="1"/>
          </p:cNvPicPr>
          <p:nvPr/>
        </p:nvPicPr>
        <p:blipFill>
          <a:blip r:embed="rId1"/>
          <a:stretch>
            <a:fillRect/>
          </a:stretch>
        </p:blipFill>
        <p:spPr>
          <a:xfrm>
            <a:off x="765810" y="1497330"/>
            <a:ext cx="251460" cy="251460"/>
          </a:xfrm>
          <a:prstGeom prst="rect">
            <a:avLst/>
          </a:prstGeom>
        </p:spPr>
      </p:pic>
      <p:sp>
        <p:nvSpPr>
          <p:cNvPr id="6" name="Text 3"/>
          <p:cNvSpPr txBox="1"/>
          <p:nvPr/>
        </p:nvSpPr>
        <p:spPr>
          <a:xfrm>
            <a:off x="1280160" y="1371600"/>
            <a:ext cx="2697480" cy="502920"/>
          </a:xfrm>
          <a:prstGeom prst="rect">
            <a:avLst/>
          </a:prstGeom>
          <a:noFill/>
          <a:ln/>
        </p:spPr>
        <p:txBody>
          <a:bodyPr wrap="square" lIns="0" tIns="0" rIns="0" bIns="0" rtlCol="0" anchor="ctr"/>
          <a:lstStyle/>
          <a:p>
            <a:pPr indent="0" marL="0">
              <a:buNone/>
            </a:pPr>
            <a:r>
              <a:rPr lang="en-US" sz="1450" b="1" dirty="0">
                <a:solidFill>
                  <a:schemeClr val="accent1"/>
                </a:solidFill>
              </a:rPr>
              <a:t>Lead Analysis Agent</a:t>
            </a:r>
            <a:endParaRPr lang="en-US" sz="1450" dirty="0"/>
          </a:p>
        </p:txBody>
      </p:sp>
      <p:sp>
        <p:nvSpPr>
          <p:cNvPr id="7" name="Text 4"/>
          <p:cNvSpPr txBox="1"/>
          <p:nvPr/>
        </p:nvSpPr>
        <p:spPr>
          <a:xfrm>
            <a:off x="640080" y="1965960"/>
            <a:ext cx="3291840" cy="502920"/>
          </a:xfrm>
          <a:prstGeom prst="rect">
            <a:avLst/>
          </a:prstGeom>
          <a:noFill/>
          <a:ln/>
        </p:spPr>
        <p:txBody>
          <a:bodyPr wrap="square" lIns="0" tIns="0" rIns="0" bIns="0" rtlCol="0" anchor="t"/>
          <a:lstStyle/>
          <a:p>
            <a:pPr indent="0" marL="0">
              <a:buNone/>
            </a:pPr>
            <a:r>
              <a:rPr lang="en-US" sz="1200" dirty="0">
                <a:solidFill>
                  <a:schemeClr val="tx1"/>
                </a:solidFill>
              </a:rPr>
              <a:t>Cleans form / message data: trims text, Title Case names, lower-case email</a:t>
            </a:r>
            <a:endParaRPr lang="en-US" sz="1200" dirty="0"/>
          </a:p>
        </p:txBody>
      </p:sp>
      <p:sp>
        <p:nvSpPr>
          <p:cNvPr id="8" name="Text 5"/>
          <p:cNvSpPr txBox="1"/>
          <p:nvPr/>
        </p:nvSpPr>
        <p:spPr>
          <a:xfrm>
            <a:off x="640080" y="2450592"/>
            <a:ext cx="3291840" cy="237744"/>
          </a:xfrm>
          <a:prstGeom prst="rect">
            <a:avLst/>
          </a:prstGeom>
          <a:noFill/>
          <a:ln/>
        </p:spPr>
        <p:txBody>
          <a:bodyPr wrap="square" lIns="0" tIns="0" rIns="0" bIns="0" rtlCol="0" anchor="ctr"/>
          <a:lstStyle/>
          <a:p>
            <a:pPr indent="0" marL="0">
              <a:buNone/>
            </a:pPr>
            <a:r>
              <a:rPr lang="en-US" sz="1050" dirty="0">
                <a:solidFill>
                  <a:srgbClr val="4F5A68"/>
                </a:solidFill>
                <a:latin typeface="Courier New" pitchFamily="34" charset="0"/>
                <a:ea typeface="Courier New" pitchFamily="34" charset="-122"/>
                <a:cs typeface="Courier New" pitchFamily="34" charset="-120"/>
              </a:rPr>
              <a:t>agents.analyse_lead</a:t>
            </a:r>
            <a:endParaRPr lang="en-US" sz="1050" dirty="0"/>
          </a:p>
        </p:txBody>
      </p:sp>
      <p:sp>
        <p:nvSpPr>
          <p:cNvPr id="9" name="Lead Scoring Agent"/>
          <p:cNvSpPr/>
          <p:nvPr/>
        </p:nvSpPr>
        <p:spPr>
          <a:xfrm>
            <a:off x="4279392" y="1188720"/>
            <a:ext cx="3630168" cy="1572768"/>
          </a:xfrm>
          <a:prstGeom prst="roundRect">
            <a:avLst>
              <a:gd name="adj" fmla="val 3488"/>
            </a:avLst>
          </a:prstGeom>
          <a:solidFill>
            <a:srgbClr val="FFFFFF"/>
          </a:solidFill>
          <a:ln w="12700">
            <a:solidFill>
              <a:srgbClr val="B7C2D0"/>
            </a:solidFill>
            <a:prstDash val="solid"/>
          </a:ln>
        </p:spPr>
      </p:sp>
      <p:sp>
        <p:nvSpPr>
          <p:cNvPr id="10" name="Icon circle"/>
          <p:cNvSpPr/>
          <p:nvPr/>
        </p:nvSpPr>
        <p:spPr>
          <a:xfrm>
            <a:off x="4462272" y="1371600"/>
            <a:ext cx="502920" cy="502920"/>
          </a:xfrm>
          <a:prstGeom prst="ellipse">
            <a:avLst/>
          </a:prstGeom>
          <a:solidFill>
            <a:schemeClr val="accent2"/>
          </a:solidFill>
          <a:ln w="12700">
            <a:solidFill>
              <a:schemeClr val="accent2"/>
            </a:solidFill>
            <a:prstDash val="solid"/>
          </a:ln>
        </p:spPr>
      </p:sp>
      <p:pic>
        <p:nvPicPr>
          <p:cNvPr id="11" name="Image 1" descr="Brain icon">    </p:cNvPr>
          <p:cNvPicPr>
            <a:picLocks noChangeAspect="1"/>
          </p:cNvPicPr>
          <p:nvPr/>
        </p:nvPicPr>
        <p:blipFill>
          <a:blip r:embed="rId2"/>
          <a:stretch>
            <a:fillRect/>
          </a:stretch>
        </p:blipFill>
        <p:spPr>
          <a:xfrm>
            <a:off x="4588002" y="1497330"/>
            <a:ext cx="251460" cy="251460"/>
          </a:xfrm>
          <a:prstGeom prst="rect">
            <a:avLst/>
          </a:prstGeom>
        </p:spPr>
      </p:pic>
      <p:sp>
        <p:nvSpPr>
          <p:cNvPr id="12" name="Text 8"/>
          <p:cNvSpPr txBox="1"/>
          <p:nvPr/>
        </p:nvSpPr>
        <p:spPr>
          <a:xfrm>
            <a:off x="5102352" y="1371600"/>
            <a:ext cx="2697480" cy="502920"/>
          </a:xfrm>
          <a:prstGeom prst="rect">
            <a:avLst/>
          </a:prstGeom>
          <a:noFill/>
          <a:ln/>
        </p:spPr>
        <p:txBody>
          <a:bodyPr wrap="square" lIns="0" tIns="0" rIns="0" bIns="0" rtlCol="0" anchor="ctr"/>
          <a:lstStyle/>
          <a:p>
            <a:pPr indent="0" marL="0">
              <a:buNone/>
            </a:pPr>
            <a:r>
              <a:rPr lang="en-US" sz="1450" b="1" dirty="0">
                <a:solidFill>
                  <a:schemeClr val="accent2"/>
                </a:solidFill>
              </a:rPr>
              <a:t>Lead Scoring Agent</a:t>
            </a:r>
            <a:endParaRPr lang="en-US" sz="1450" dirty="0"/>
          </a:p>
        </p:txBody>
      </p:sp>
      <p:sp>
        <p:nvSpPr>
          <p:cNvPr id="13" name="Text 9"/>
          <p:cNvSpPr txBox="1"/>
          <p:nvPr/>
        </p:nvSpPr>
        <p:spPr>
          <a:xfrm>
            <a:off x="4462272" y="1965960"/>
            <a:ext cx="3291840" cy="502920"/>
          </a:xfrm>
          <a:prstGeom prst="rect">
            <a:avLst/>
          </a:prstGeom>
          <a:noFill/>
          <a:ln/>
        </p:spPr>
        <p:txBody>
          <a:bodyPr wrap="square" lIns="0" tIns="0" rIns="0" bIns="0" rtlCol="0" anchor="t"/>
          <a:lstStyle/>
          <a:p>
            <a:pPr indent="0" marL="0">
              <a:buNone/>
            </a:pPr>
            <a:r>
              <a:rPr lang="en-US" sz="1200" dirty="0">
                <a:solidFill>
                  <a:schemeClr val="tx1"/>
                </a:solidFill>
              </a:rPr>
              <a:t>Trained ML model gives the profile chance and the top 3 reasons</a:t>
            </a:r>
            <a:endParaRPr lang="en-US" sz="1200" dirty="0"/>
          </a:p>
        </p:txBody>
      </p:sp>
      <p:sp>
        <p:nvSpPr>
          <p:cNvPr id="14" name="Text 10"/>
          <p:cNvSpPr txBox="1"/>
          <p:nvPr/>
        </p:nvSpPr>
        <p:spPr>
          <a:xfrm>
            <a:off x="4462272" y="2450592"/>
            <a:ext cx="3291840" cy="237744"/>
          </a:xfrm>
          <a:prstGeom prst="rect">
            <a:avLst/>
          </a:prstGeom>
          <a:noFill/>
          <a:ln/>
        </p:spPr>
        <p:txBody>
          <a:bodyPr wrap="square" lIns="0" tIns="0" rIns="0" bIns="0" rtlCol="0" anchor="ctr"/>
          <a:lstStyle/>
          <a:p>
            <a:pPr indent="0" marL="0">
              <a:buNone/>
            </a:pPr>
            <a:r>
              <a:rPr lang="en-US" sz="1050" dirty="0">
                <a:solidFill>
                  <a:srgbClr val="4F5A68"/>
                </a:solidFill>
                <a:latin typeface="Courier New" pitchFamily="34" charset="0"/>
                <a:ea typeface="Courier New" pitchFamily="34" charset="-122"/>
                <a:cs typeface="Courier New" pitchFamily="34" charset="-120"/>
              </a:rPr>
              <a:t>LeadScoringAgent</a:t>
            </a:r>
            <a:endParaRPr lang="en-US" sz="1050" dirty="0"/>
          </a:p>
        </p:txBody>
      </p:sp>
      <p:sp>
        <p:nvSpPr>
          <p:cNvPr id="15" name="Conversion Prediction"/>
          <p:cNvSpPr/>
          <p:nvPr/>
        </p:nvSpPr>
        <p:spPr>
          <a:xfrm>
            <a:off x="8101584" y="1188720"/>
            <a:ext cx="3630168" cy="1572768"/>
          </a:xfrm>
          <a:prstGeom prst="roundRect">
            <a:avLst>
              <a:gd name="adj" fmla="val 3488"/>
            </a:avLst>
          </a:prstGeom>
          <a:solidFill>
            <a:srgbClr val="FFFFFF"/>
          </a:solidFill>
          <a:ln w="12700">
            <a:solidFill>
              <a:srgbClr val="B7C2D0"/>
            </a:solidFill>
            <a:prstDash val="solid"/>
          </a:ln>
        </p:spPr>
      </p:sp>
      <p:sp>
        <p:nvSpPr>
          <p:cNvPr id="16" name="Icon circle"/>
          <p:cNvSpPr/>
          <p:nvPr/>
        </p:nvSpPr>
        <p:spPr>
          <a:xfrm>
            <a:off x="8284464" y="1371600"/>
            <a:ext cx="502920" cy="502920"/>
          </a:xfrm>
          <a:prstGeom prst="ellipse">
            <a:avLst/>
          </a:prstGeom>
          <a:solidFill>
            <a:schemeClr val="accent3"/>
          </a:solidFill>
          <a:ln w="12700">
            <a:solidFill>
              <a:schemeClr val="accent3"/>
            </a:solidFill>
            <a:prstDash val="solid"/>
          </a:ln>
        </p:spPr>
      </p:sp>
      <p:pic>
        <p:nvPicPr>
          <p:cNvPr id="17" name="Image 2" descr="ChartBar icon">    </p:cNvPr>
          <p:cNvPicPr>
            <a:picLocks noChangeAspect="1"/>
          </p:cNvPicPr>
          <p:nvPr/>
        </p:nvPicPr>
        <p:blipFill>
          <a:blip r:embed="rId3"/>
          <a:stretch>
            <a:fillRect/>
          </a:stretch>
        </p:blipFill>
        <p:spPr>
          <a:xfrm>
            <a:off x="8410194" y="1497330"/>
            <a:ext cx="251460" cy="251460"/>
          </a:xfrm>
          <a:prstGeom prst="rect">
            <a:avLst/>
          </a:prstGeom>
        </p:spPr>
      </p:pic>
      <p:sp>
        <p:nvSpPr>
          <p:cNvPr id="18" name="Text 13"/>
          <p:cNvSpPr txBox="1"/>
          <p:nvPr/>
        </p:nvSpPr>
        <p:spPr>
          <a:xfrm>
            <a:off x="8924544" y="1371600"/>
            <a:ext cx="2697480" cy="502920"/>
          </a:xfrm>
          <a:prstGeom prst="rect">
            <a:avLst/>
          </a:prstGeom>
          <a:noFill/>
          <a:ln/>
        </p:spPr>
        <p:txBody>
          <a:bodyPr wrap="square" lIns="0" tIns="0" rIns="0" bIns="0" rtlCol="0" anchor="ctr"/>
          <a:lstStyle/>
          <a:p>
            <a:pPr indent="0" marL="0">
              <a:buNone/>
            </a:pPr>
            <a:r>
              <a:rPr lang="en-US" sz="1450" b="1" dirty="0">
                <a:solidFill>
                  <a:schemeClr val="accent3"/>
                </a:solidFill>
              </a:rPr>
              <a:t>Conversion Prediction</a:t>
            </a:r>
            <a:endParaRPr lang="en-US" sz="1450" dirty="0"/>
          </a:p>
        </p:txBody>
      </p:sp>
      <p:sp>
        <p:nvSpPr>
          <p:cNvPr id="19" name="Text 14"/>
          <p:cNvSpPr txBox="1"/>
          <p:nvPr/>
        </p:nvSpPr>
        <p:spPr>
          <a:xfrm>
            <a:off x="8284464" y="1965960"/>
            <a:ext cx="3291840" cy="502920"/>
          </a:xfrm>
          <a:prstGeom prst="rect">
            <a:avLst/>
          </a:prstGeom>
          <a:noFill/>
          <a:ln/>
        </p:spPr>
        <p:txBody>
          <a:bodyPr wrap="square" lIns="0" tIns="0" rIns="0" bIns="0" rtlCol="0" anchor="t"/>
          <a:lstStyle/>
          <a:p>
            <a:pPr indent="0" marL="0">
              <a:buNone/>
            </a:pPr>
            <a:r>
              <a:rPr lang="en-US" sz="1200" dirty="0">
                <a:solidFill>
                  <a:schemeClr val="tx1"/>
                </a:solidFill>
              </a:rPr>
              <a:t>Combines profile chance with signals into the final chance and priority</a:t>
            </a:r>
            <a:endParaRPr lang="en-US" sz="1200" dirty="0"/>
          </a:p>
        </p:txBody>
      </p:sp>
      <p:sp>
        <p:nvSpPr>
          <p:cNvPr id="20" name="Text 15"/>
          <p:cNvSpPr txBox="1"/>
          <p:nvPr/>
        </p:nvSpPr>
        <p:spPr>
          <a:xfrm>
            <a:off x="8284464" y="2450592"/>
            <a:ext cx="3291840" cy="237744"/>
          </a:xfrm>
          <a:prstGeom prst="rect">
            <a:avLst/>
          </a:prstGeom>
          <a:noFill/>
          <a:ln/>
        </p:spPr>
        <p:txBody>
          <a:bodyPr wrap="square" lIns="0" tIns="0" rIns="0" bIns="0" rtlCol="0" anchor="ctr"/>
          <a:lstStyle/>
          <a:p>
            <a:pPr indent="0" marL="0">
              <a:buNone/>
            </a:pPr>
            <a:r>
              <a:rPr lang="en-US" sz="1050" dirty="0">
                <a:solidFill>
                  <a:srgbClr val="4F5A68"/>
                </a:solidFill>
                <a:latin typeface="Courier New" pitchFamily="34" charset="0"/>
                <a:ea typeface="Courier New" pitchFamily="34" charset="-122"/>
                <a:cs typeface="Courier New" pitchFamily="34" charset="-120"/>
              </a:rPr>
              <a:t>apply_signals</a:t>
            </a:r>
            <a:endParaRPr lang="en-US" sz="1050" dirty="0"/>
          </a:p>
        </p:txBody>
      </p:sp>
      <p:sp>
        <p:nvSpPr>
          <p:cNvPr id="21" name="Conversation Agent"/>
          <p:cNvSpPr/>
          <p:nvPr/>
        </p:nvSpPr>
        <p:spPr>
          <a:xfrm>
            <a:off x="457200" y="2926080"/>
            <a:ext cx="3630168" cy="1572768"/>
          </a:xfrm>
          <a:prstGeom prst="roundRect">
            <a:avLst>
              <a:gd name="adj" fmla="val 3488"/>
            </a:avLst>
          </a:prstGeom>
          <a:solidFill>
            <a:srgbClr val="FFFFFF"/>
          </a:solidFill>
          <a:ln w="12700">
            <a:solidFill>
              <a:srgbClr val="B7C2D0"/>
            </a:solidFill>
            <a:prstDash val="solid"/>
          </a:ln>
        </p:spPr>
      </p:sp>
      <p:sp>
        <p:nvSpPr>
          <p:cNvPr id="22" name="Icon circle"/>
          <p:cNvSpPr/>
          <p:nvPr/>
        </p:nvSpPr>
        <p:spPr>
          <a:xfrm>
            <a:off x="640080" y="3108960"/>
            <a:ext cx="502920" cy="502920"/>
          </a:xfrm>
          <a:prstGeom prst="ellipse">
            <a:avLst/>
          </a:prstGeom>
          <a:solidFill>
            <a:schemeClr val="accent1"/>
          </a:solidFill>
          <a:ln w="12700">
            <a:solidFill>
              <a:schemeClr val="accent1"/>
            </a:solidFill>
            <a:prstDash val="solid"/>
          </a:ln>
        </p:spPr>
      </p:sp>
      <p:pic>
        <p:nvPicPr>
          <p:cNvPr id="23" name="Image 3" descr="Comments icon">    </p:cNvPr>
          <p:cNvPicPr>
            <a:picLocks noChangeAspect="1"/>
          </p:cNvPicPr>
          <p:nvPr/>
        </p:nvPicPr>
        <p:blipFill>
          <a:blip r:embed="rId4"/>
          <a:stretch>
            <a:fillRect/>
          </a:stretch>
        </p:blipFill>
        <p:spPr>
          <a:xfrm>
            <a:off x="765810" y="3234690"/>
            <a:ext cx="251460" cy="251460"/>
          </a:xfrm>
          <a:prstGeom prst="rect">
            <a:avLst/>
          </a:prstGeom>
        </p:spPr>
      </p:pic>
      <p:sp>
        <p:nvSpPr>
          <p:cNvPr id="24" name="Text 18"/>
          <p:cNvSpPr txBox="1"/>
          <p:nvPr/>
        </p:nvSpPr>
        <p:spPr>
          <a:xfrm>
            <a:off x="1280160" y="3108960"/>
            <a:ext cx="2697480" cy="502920"/>
          </a:xfrm>
          <a:prstGeom prst="rect">
            <a:avLst/>
          </a:prstGeom>
          <a:noFill/>
          <a:ln/>
        </p:spPr>
        <p:txBody>
          <a:bodyPr wrap="square" lIns="0" tIns="0" rIns="0" bIns="0" rtlCol="0" anchor="ctr"/>
          <a:lstStyle/>
          <a:p>
            <a:pPr indent="0" marL="0">
              <a:buNone/>
            </a:pPr>
            <a:r>
              <a:rPr lang="en-US" sz="1450" b="1" dirty="0">
                <a:solidFill>
                  <a:schemeClr val="accent1"/>
                </a:solidFill>
              </a:rPr>
              <a:t>Conversation Agent</a:t>
            </a:r>
            <a:endParaRPr lang="en-US" sz="1450" dirty="0"/>
          </a:p>
        </p:txBody>
      </p:sp>
      <p:sp>
        <p:nvSpPr>
          <p:cNvPr id="25" name="Text 19"/>
          <p:cNvSpPr txBox="1"/>
          <p:nvPr/>
        </p:nvSpPr>
        <p:spPr>
          <a:xfrm>
            <a:off x="640080" y="3703320"/>
            <a:ext cx="3291840" cy="502920"/>
          </a:xfrm>
          <a:prstGeom prst="rect">
            <a:avLst/>
          </a:prstGeom>
          <a:noFill/>
          <a:ln/>
        </p:spPr>
        <p:txBody>
          <a:bodyPr wrap="square" lIns="0" tIns="0" rIns="0" bIns="0" rtlCol="0" anchor="t"/>
          <a:lstStyle/>
          <a:p>
            <a:pPr indent="0" marL="0">
              <a:buNone/>
            </a:pPr>
            <a:r>
              <a:rPr lang="en-US" sz="1200" dirty="0">
                <a:solidFill>
                  <a:schemeClr val="tx1"/>
                </a:solidFill>
              </a:rPr>
              <a:t>Finds buying signals in the customer's words, with typo correction</a:t>
            </a:r>
            <a:endParaRPr lang="en-US" sz="1200" dirty="0"/>
          </a:p>
        </p:txBody>
      </p:sp>
      <p:sp>
        <p:nvSpPr>
          <p:cNvPr id="26" name="Text 20"/>
          <p:cNvSpPr txBox="1"/>
          <p:nvPr/>
        </p:nvSpPr>
        <p:spPr>
          <a:xfrm>
            <a:off x="640080" y="4187952"/>
            <a:ext cx="3291840" cy="237744"/>
          </a:xfrm>
          <a:prstGeom prst="rect">
            <a:avLst/>
          </a:prstGeom>
          <a:noFill/>
          <a:ln/>
        </p:spPr>
        <p:txBody>
          <a:bodyPr wrap="square" lIns="0" tIns="0" rIns="0" bIns="0" rtlCol="0" anchor="ctr"/>
          <a:lstStyle/>
          <a:p>
            <a:pPr indent="0" marL="0">
              <a:buNone/>
            </a:pPr>
            <a:r>
              <a:rPr lang="en-US" sz="1050" dirty="0">
                <a:solidFill>
                  <a:srgbClr val="4F5A68"/>
                </a:solidFill>
                <a:latin typeface="Courier New" pitchFamily="34" charset="0"/>
                <a:ea typeface="Courier New" pitchFamily="34" charset="-122"/>
                <a:cs typeface="Courier New" pitchFamily="34" charset="-120"/>
              </a:rPr>
              <a:t>analyse_conversation</a:t>
            </a:r>
            <a:endParaRPr lang="en-US" sz="1050" dirty="0"/>
          </a:p>
        </p:txBody>
      </p:sp>
      <p:sp>
        <p:nvSpPr>
          <p:cNvPr id="27" name="Follow-up Agent"/>
          <p:cNvSpPr/>
          <p:nvPr/>
        </p:nvSpPr>
        <p:spPr>
          <a:xfrm>
            <a:off x="4279392" y="2926080"/>
            <a:ext cx="3630168" cy="1572768"/>
          </a:xfrm>
          <a:prstGeom prst="roundRect">
            <a:avLst>
              <a:gd name="adj" fmla="val 3488"/>
            </a:avLst>
          </a:prstGeom>
          <a:solidFill>
            <a:srgbClr val="FFFFFF"/>
          </a:solidFill>
          <a:ln w="12700">
            <a:solidFill>
              <a:srgbClr val="B7C2D0"/>
            </a:solidFill>
            <a:prstDash val="solid"/>
          </a:ln>
        </p:spPr>
      </p:sp>
      <p:sp>
        <p:nvSpPr>
          <p:cNvPr id="28" name="Icon circle"/>
          <p:cNvSpPr/>
          <p:nvPr/>
        </p:nvSpPr>
        <p:spPr>
          <a:xfrm>
            <a:off x="4462272" y="3108960"/>
            <a:ext cx="502920" cy="502920"/>
          </a:xfrm>
          <a:prstGeom prst="ellipse">
            <a:avLst/>
          </a:prstGeom>
          <a:solidFill>
            <a:schemeClr val="accent2"/>
          </a:solidFill>
          <a:ln w="12700">
            <a:solidFill>
              <a:schemeClr val="accent2"/>
            </a:solidFill>
            <a:prstDash val="solid"/>
          </a:ln>
        </p:spPr>
      </p:sp>
      <p:pic>
        <p:nvPicPr>
          <p:cNvPr id="29" name="Image 4" descr="Bell icon">    </p:cNvPr>
          <p:cNvPicPr>
            <a:picLocks noChangeAspect="1"/>
          </p:cNvPicPr>
          <p:nvPr/>
        </p:nvPicPr>
        <p:blipFill>
          <a:blip r:embed="rId5"/>
          <a:stretch>
            <a:fillRect/>
          </a:stretch>
        </p:blipFill>
        <p:spPr>
          <a:xfrm>
            <a:off x="4588002" y="3234690"/>
            <a:ext cx="251460" cy="251460"/>
          </a:xfrm>
          <a:prstGeom prst="rect">
            <a:avLst/>
          </a:prstGeom>
        </p:spPr>
      </p:pic>
      <p:sp>
        <p:nvSpPr>
          <p:cNvPr id="30" name="Text 23"/>
          <p:cNvSpPr txBox="1"/>
          <p:nvPr/>
        </p:nvSpPr>
        <p:spPr>
          <a:xfrm>
            <a:off x="5102352" y="3108960"/>
            <a:ext cx="2697480" cy="502920"/>
          </a:xfrm>
          <a:prstGeom prst="rect">
            <a:avLst/>
          </a:prstGeom>
          <a:noFill/>
          <a:ln/>
        </p:spPr>
        <p:txBody>
          <a:bodyPr wrap="square" lIns="0" tIns="0" rIns="0" bIns="0" rtlCol="0" anchor="ctr"/>
          <a:lstStyle/>
          <a:p>
            <a:pPr indent="0" marL="0">
              <a:buNone/>
            </a:pPr>
            <a:r>
              <a:rPr lang="en-US" sz="1450" b="1" dirty="0">
                <a:solidFill>
                  <a:schemeClr val="accent2"/>
                </a:solidFill>
              </a:rPr>
              <a:t>Follow-up Agent</a:t>
            </a:r>
            <a:endParaRPr lang="en-US" sz="1450" dirty="0"/>
          </a:p>
        </p:txBody>
      </p:sp>
      <p:sp>
        <p:nvSpPr>
          <p:cNvPr id="31" name="Text 24"/>
          <p:cNvSpPr txBox="1"/>
          <p:nvPr/>
        </p:nvSpPr>
        <p:spPr>
          <a:xfrm>
            <a:off x="4462272" y="3703320"/>
            <a:ext cx="3291840" cy="502920"/>
          </a:xfrm>
          <a:prstGeom prst="rect">
            <a:avLst/>
          </a:prstGeom>
          <a:noFill/>
          <a:ln/>
        </p:spPr>
        <p:txBody>
          <a:bodyPr wrap="square" lIns="0" tIns="0" rIns="0" bIns="0" rtlCol="0" anchor="t"/>
          <a:lstStyle/>
          <a:p>
            <a:pPr indent="0" marL="0">
              <a:buNone/>
            </a:pPr>
            <a:r>
              <a:rPr lang="en-US" sz="1200" dirty="0">
                <a:solidFill>
                  <a:schemeClr val="tx1"/>
                </a:solidFill>
              </a:rPr>
              <a:t>HIGH due after 1 day, MEDIUM 3, LOW 7; closed leads never due</a:t>
            </a:r>
            <a:endParaRPr lang="en-US" sz="1200" dirty="0"/>
          </a:p>
        </p:txBody>
      </p:sp>
      <p:sp>
        <p:nvSpPr>
          <p:cNvPr id="32" name="Text 25"/>
          <p:cNvSpPr txBox="1"/>
          <p:nvPr/>
        </p:nvSpPr>
        <p:spPr>
          <a:xfrm>
            <a:off x="4462272" y="4187952"/>
            <a:ext cx="3291840" cy="237744"/>
          </a:xfrm>
          <a:prstGeom prst="rect">
            <a:avLst/>
          </a:prstGeom>
          <a:noFill/>
          <a:ln/>
        </p:spPr>
        <p:txBody>
          <a:bodyPr wrap="square" lIns="0" tIns="0" rIns="0" bIns="0" rtlCol="0" anchor="ctr"/>
          <a:lstStyle/>
          <a:p>
            <a:pPr indent="0" marL="0">
              <a:buNone/>
            </a:pPr>
            <a:r>
              <a:rPr lang="en-US" sz="1050" dirty="0">
                <a:solidFill>
                  <a:srgbClr val="4F5A68"/>
                </a:solidFill>
                <a:latin typeface="Courier New" pitchFamily="34" charset="0"/>
                <a:ea typeface="Courier New" pitchFamily="34" charset="-122"/>
                <a:cs typeface="Courier New" pitchFamily="34" charset="-120"/>
              </a:rPr>
              <a:t>needs_follow_up</a:t>
            </a:r>
            <a:endParaRPr lang="en-US" sz="1050" dirty="0"/>
          </a:p>
        </p:txBody>
      </p:sp>
      <p:sp>
        <p:nvSpPr>
          <p:cNvPr id="33" name="Message Agent"/>
          <p:cNvSpPr/>
          <p:nvPr/>
        </p:nvSpPr>
        <p:spPr>
          <a:xfrm>
            <a:off x="8101584" y="2926080"/>
            <a:ext cx="3630168" cy="1572768"/>
          </a:xfrm>
          <a:prstGeom prst="roundRect">
            <a:avLst>
              <a:gd name="adj" fmla="val 3488"/>
            </a:avLst>
          </a:prstGeom>
          <a:solidFill>
            <a:srgbClr val="FFFFFF"/>
          </a:solidFill>
          <a:ln w="12700">
            <a:solidFill>
              <a:srgbClr val="B7C2D0"/>
            </a:solidFill>
            <a:prstDash val="solid"/>
          </a:ln>
        </p:spPr>
      </p:sp>
      <p:sp>
        <p:nvSpPr>
          <p:cNvPr id="34" name="Icon circle"/>
          <p:cNvSpPr/>
          <p:nvPr/>
        </p:nvSpPr>
        <p:spPr>
          <a:xfrm>
            <a:off x="8284464" y="3108960"/>
            <a:ext cx="502920" cy="502920"/>
          </a:xfrm>
          <a:prstGeom prst="ellipse">
            <a:avLst/>
          </a:prstGeom>
          <a:solidFill>
            <a:schemeClr val="accent3"/>
          </a:solidFill>
          <a:ln w="12700">
            <a:solidFill>
              <a:schemeClr val="accent3"/>
            </a:solidFill>
            <a:prstDash val="solid"/>
          </a:ln>
        </p:spPr>
      </p:sp>
      <p:pic>
        <p:nvPicPr>
          <p:cNvPr id="35" name="Image 5" descr="EnvelopeOpenText icon">    </p:cNvPr>
          <p:cNvPicPr>
            <a:picLocks noChangeAspect="1"/>
          </p:cNvPicPr>
          <p:nvPr/>
        </p:nvPicPr>
        <p:blipFill>
          <a:blip r:embed="rId6"/>
          <a:stretch>
            <a:fillRect/>
          </a:stretch>
        </p:blipFill>
        <p:spPr>
          <a:xfrm>
            <a:off x="8410194" y="3234690"/>
            <a:ext cx="251460" cy="251460"/>
          </a:xfrm>
          <a:prstGeom prst="rect">
            <a:avLst/>
          </a:prstGeom>
        </p:spPr>
      </p:pic>
      <p:sp>
        <p:nvSpPr>
          <p:cNvPr id="36" name="Text 28"/>
          <p:cNvSpPr txBox="1"/>
          <p:nvPr/>
        </p:nvSpPr>
        <p:spPr>
          <a:xfrm>
            <a:off x="8924544" y="3108960"/>
            <a:ext cx="2697480" cy="502920"/>
          </a:xfrm>
          <a:prstGeom prst="rect">
            <a:avLst/>
          </a:prstGeom>
          <a:noFill/>
          <a:ln/>
        </p:spPr>
        <p:txBody>
          <a:bodyPr wrap="square" lIns="0" tIns="0" rIns="0" bIns="0" rtlCol="0" anchor="ctr"/>
          <a:lstStyle/>
          <a:p>
            <a:pPr indent="0" marL="0">
              <a:buNone/>
            </a:pPr>
            <a:r>
              <a:rPr lang="en-US" sz="1450" b="1" dirty="0">
                <a:solidFill>
                  <a:schemeClr val="accent3"/>
                </a:solidFill>
              </a:rPr>
              <a:t>Message Agent</a:t>
            </a:r>
            <a:endParaRPr lang="en-US" sz="1450" dirty="0"/>
          </a:p>
        </p:txBody>
      </p:sp>
      <p:sp>
        <p:nvSpPr>
          <p:cNvPr id="37" name="Text 29"/>
          <p:cNvSpPr txBox="1"/>
          <p:nvPr/>
        </p:nvSpPr>
        <p:spPr>
          <a:xfrm>
            <a:off x="8284464" y="3703320"/>
            <a:ext cx="3291840" cy="502920"/>
          </a:xfrm>
          <a:prstGeom prst="rect">
            <a:avLst/>
          </a:prstGeom>
          <a:noFill/>
          <a:ln/>
        </p:spPr>
        <p:txBody>
          <a:bodyPr wrap="square" lIns="0" tIns="0" rIns="0" bIns="0" rtlCol="0" anchor="t"/>
          <a:lstStyle/>
          <a:p>
            <a:pPr indent="0" marL="0">
              <a:buNone/>
            </a:pPr>
            <a:r>
              <a:rPr lang="en-US" sz="1200" dirty="0">
                <a:solidFill>
                  <a:schemeClr val="tx1"/>
                </a:solidFill>
              </a:rPr>
              <a:t>Template per priority + one line per signal; salesperson edits</a:t>
            </a:r>
            <a:endParaRPr lang="en-US" sz="1200" dirty="0"/>
          </a:p>
        </p:txBody>
      </p:sp>
      <p:sp>
        <p:nvSpPr>
          <p:cNvPr id="38" name="Text 30"/>
          <p:cNvSpPr txBox="1"/>
          <p:nvPr/>
        </p:nvSpPr>
        <p:spPr>
          <a:xfrm>
            <a:off x="8284464" y="4187952"/>
            <a:ext cx="3291840" cy="237744"/>
          </a:xfrm>
          <a:prstGeom prst="rect">
            <a:avLst/>
          </a:prstGeom>
          <a:noFill/>
          <a:ln/>
        </p:spPr>
        <p:txBody>
          <a:bodyPr wrap="square" lIns="0" tIns="0" rIns="0" bIns="0" rtlCol="0" anchor="ctr"/>
          <a:lstStyle/>
          <a:p>
            <a:pPr indent="0" marL="0">
              <a:buNone/>
            </a:pPr>
            <a:r>
              <a:rPr lang="en-US" sz="1050" dirty="0">
                <a:solidFill>
                  <a:srgbClr val="4F5A68"/>
                </a:solidFill>
                <a:latin typeface="Courier New" pitchFamily="34" charset="0"/>
                <a:ea typeface="Courier New" pitchFamily="34" charset="-122"/>
                <a:cs typeface="Courier New" pitchFamily="34" charset="-120"/>
              </a:rPr>
              <a:t>draft_message</a:t>
            </a:r>
            <a:endParaRPr lang="en-US" sz="1050" dirty="0"/>
          </a:p>
        </p:txBody>
      </p:sp>
      <p:sp>
        <p:nvSpPr>
          <p:cNvPr id="39" name="Analytics Agent"/>
          <p:cNvSpPr/>
          <p:nvPr/>
        </p:nvSpPr>
        <p:spPr>
          <a:xfrm>
            <a:off x="457200" y="4663440"/>
            <a:ext cx="3630168" cy="1572768"/>
          </a:xfrm>
          <a:prstGeom prst="roundRect">
            <a:avLst>
              <a:gd name="adj" fmla="val 3488"/>
            </a:avLst>
          </a:prstGeom>
          <a:solidFill>
            <a:srgbClr val="FFFFFF"/>
          </a:solidFill>
          <a:ln w="12700">
            <a:solidFill>
              <a:srgbClr val="B7C2D0"/>
            </a:solidFill>
            <a:prstDash val="solid"/>
          </a:ln>
        </p:spPr>
      </p:sp>
      <p:sp>
        <p:nvSpPr>
          <p:cNvPr id="40" name="Icon circle"/>
          <p:cNvSpPr/>
          <p:nvPr/>
        </p:nvSpPr>
        <p:spPr>
          <a:xfrm>
            <a:off x="640080" y="4846320"/>
            <a:ext cx="502920" cy="502920"/>
          </a:xfrm>
          <a:prstGeom prst="ellipse">
            <a:avLst/>
          </a:prstGeom>
          <a:solidFill>
            <a:schemeClr val="accent1"/>
          </a:solidFill>
          <a:ln w="12700">
            <a:solidFill>
              <a:schemeClr val="accent1"/>
            </a:solidFill>
            <a:prstDash val="solid"/>
          </a:ln>
        </p:spPr>
      </p:sp>
      <p:pic>
        <p:nvPicPr>
          <p:cNvPr id="41" name="Image 6" descr="ChartBar icon">    </p:cNvPr>
          <p:cNvPicPr>
            <a:picLocks noChangeAspect="1"/>
          </p:cNvPicPr>
          <p:nvPr/>
        </p:nvPicPr>
        <p:blipFill>
          <a:blip r:embed="rId7"/>
          <a:stretch>
            <a:fillRect/>
          </a:stretch>
        </p:blipFill>
        <p:spPr>
          <a:xfrm>
            <a:off x="765810" y="4972050"/>
            <a:ext cx="251460" cy="251460"/>
          </a:xfrm>
          <a:prstGeom prst="rect">
            <a:avLst/>
          </a:prstGeom>
        </p:spPr>
      </p:pic>
      <p:sp>
        <p:nvSpPr>
          <p:cNvPr id="42" name="Text 33"/>
          <p:cNvSpPr txBox="1"/>
          <p:nvPr/>
        </p:nvSpPr>
        <p:spPr>
          <a:xfrm>
            <a:off x="1280160" y="4846320"/>
            <a:ext cx="2697480" cy="502920"/>
          </a:xfrm>
          <a:prstGeom prst="rect">
            <a:avLst/>
          </a:prstGeom>
          <a:noFill/>
          <a:ln/>
        </p:spPr>
        <p:txBody>
          <a:bodyPr wrap="square" lIns="0" tIns="0" rIns="0" bIns="0" rtlCol="0" anchor="ctr"/>
          <a:lstStyle/>
          <a:p>
            <a:pPr indent="0" marL="0">
              <a:buNone/>
            </a:pPr>
            <a:r>
              <a:rPr lang="en-US" sz="1450" b="1" dirty="0">
                <a:solidFill>
                  <a:schemeClr val="accent1"/>
                </a:solidFill>
              </a:rPr>
              <a:t>Analytics Agent</a:t>
            </a:r>
            <a:endParaRPr lang="en-US" sz="1450" dirty="0"/>
          </a:p>
        </p:txBody>
      </p:sp>
      <p:sp>
        <p:nvSpPr>
          <p:cNvPr id="43" name="Text 34"/>
          <p:cNvSpPr txBox="1"/>
          <p:nvPr/>
        </p:nvSpPr>
        <p:spPr>
          <a:xfrm>
            <a:off x="640080" y="5440680"/>
            <a:ext cx="3291840" cy="502920"/>
          </a:xfrm>
          <a:prstGeom prst="rect">
            <a:avLst/>
          </a:prstGeom>
          <a:noFill/>
          <a:ln/>
        </p:spPr>
        <p:txBody>
          <a:bodyPr wrap="square" lIns="0" tIns="0" rIns="0" bIns="0" rtlCol="0" anchor="t"/>
          <a:lstStyle/>
          <a:p>
            <a:pPr indent="0" marL="0">
              <a:buNone/>
            </a:pPr>
            <a:r>
              <a:rPr lang="en-US" sz="1200" dirty="0">
                <a:solidFill>
                  <a:schemeClr val="tx1"/>
                </a:solidFill>
              </a:rPr>
              <a:t>Leads by channel, priority, status; conversion rate of finished leads</a:t>
            </a:r>
            <a:endParaRPr lang="en-US" sz="1200" dirty="0"/>
          </a:p>
        </p:txBody>
      </p:sp>
      <p:sp>
        <p:nvSpPr>
          <p:cNvPr id="44" name="Text 35"/>
          <p:cNvSpPr txBox="1"/>
          <p:nvPr/>
        </p:nvSpPr>
        <p:spPr>
          <a:xfrm>
            <a:off x="640080" y="5925312"/>
            <a:ext cx="3291840" cy="237744"/>
          </a:xfrm>
          <a:prstGeom prst="rect">
            <a:avLst/>
          </a:prstGeom>
          <a:noFill/>
          <a:ln/>
        </p:spPr>
        <p:txBody>
          <a:bodyPr wrap="square" lIns="0" tIns="0" rIns="0" bIns="0" rtlCol="0" anchor="ctr"/>
          <a:lstStyle/>
          <a:p>
            <a:pPr indent="0" marL="0">
              <a:buNone/>
            </a:pPr>
            <a:r>
              <a:rPr lang="en-US" sz="1050" dirty="0">
                <a:solidFill>
                  <a:srgbClr val="4F5A68"/>
                </a:solidFill>
                <a:latin typeface="Courier New" pitchFamily="34" charset="0"/>
                <a:ea typeface="Courier New" pitchFamily="34" charset="-122"/>
                <a:cs typeface="Courier New" pitchFamily="34" charset="-120"/>
              </a:rPr>
              <a:t>analytics</a:t>
            </a:r>
            <a:endParaRPr lang="en-US" sz="1050" dirty="0"/>
          </a:p>
        </p:txBody>
      </p:sp>
      <p:sp>
        <p:nvSpPr>
          <p:cNvPr id="45" name="Dashboard"/>
          <p:cNvSpPr/>
          <p:nvPr/>
        </p:nvSpPr>
        <p:spPr>
          <a:xfrm>
            <a:off x="4279392" y="4663440"/>
            <a:ext cx="3630168" cy="1572768"/>
          </a:xfrm>
          <a:prstGeom prst="roundRect">
            <a:avLst>
              <a:gd name="adj" fmla="val 3488"/>
            </a:avLst>
          </a:prstGeom>
          <a:solidFill>
            <a:srgbClr val="FFFFFF"/>
          </a:solidFill>
          <a:ln w="12700">
            <a:solidFill>
              <a:srgbClr val="B7C2D0"/>
            </a:solidFill>
            <a:prstDash val="solid"/>
          </a:ln>
        </p:spPr>
      </p:sp>
      <p:sp>
        <p:nvSpPr>
          <p:cNvPr id="46" name="Icon circle"/>
          <p:cNvSpPr/>
          <p:nvPr/>
        </p:nvSpPr>
        <p:spPr>
          <a:xfrm>
            <a:off x="4462272" y="4846320"/>
            <a:ext cx="502920" cy="502920"/>
          </a:xfrm>
          <a:prstGeom prst="ellipse">
            <a:avLst/>
          </a:prstGeom>
          <a:solidFill>
            <a:schemeClr val="accent2"/>
          </a:solidFill>
          <a:ln w="12700">
            <a:solidFill>
              <a:schemeClr val="accent2"/>
            </a:solidFill>
            <a:prstDash val="solid"/>
          </a:ln>
        </p:spPr>
      </p:sp>
      <p:pic>
        <p:nvPicPr>
          <p:cNvPr id="47" name="Image 7" descr="Desktop icon">    </p:cNvPr>
          <p:cNvPicPr>
            <a:picLocks noChangeAspect="1"/>
          </p:cNvPicPr>
          <p:nvPr/>
        </p:nvPicPr>
        <p:blipFill>
          <a:blip r:embed="rId8"/>
          <a:stretch>
            <a:fillRect/>
          </a:stretch>
        </p:blipFill>
        <p:spPr>
          <a:xfrm>
            <a:off x="4588002" y="4972050"/>
            <a:ext cx="251460" cy="251460"/>
          </a:xfrm>
          <a:prstGeom prst="rect">
            <a:avLst/>
          </a:prstGeom>
        </p:spPr>
      </p:pic>
      <p:sp>
        <p:nvSpPr>
          <p:cNvPr id="48" name="Text 38"/>
          <p:cNvSpPr txBox="1"/>
          <p:nvPr/>
        </p:nvSpPr>
        <p:spPr>
          <a:xfrm>
            <a:off x="5102352" y="4846320"/>
            <a:ext cx="2697480" cy="502920"/>
          </a:xfrm>
          <a:prstGeom prst="rect">
            <a:avLst/>
          </a:prstGeom>
          <a:noFill/>
          <a:ln/>
        </p:spPr>
        <p:txBody>
          <a:bodyPr wrap="square" lIns="0" tIns="0" rIns="0" bIns="0" rtlCol="0" anchor="ctr"/>
          <a:lstStyle/>
          <a:p>
            <a:pPr indent="0" marL="0">
              <a:buNone/>
            </a:pPr>
            <a:r>
              <a:rPr lang="en-US" sz="1450" b="1" dirty="0">
                <a:solidFill>
                  <a:schemeClr val="accent2"/>
                </a:solidFill>
              </a:rPr>
              <a:t>Dashboard</a:t>
            </a:r>
            <a:endParaRPr lang="en-US" sz="1450" dirty="0"/>
          </a:p>
        </p:txBody>
      </p:sp>
      <p:sp>
        <p:nvSpPr>
          <p:cNvPr id="49" name="Text 39"/>
          <p:cNvSpPr txBox="1"/>
          <p:nvPr/>
        </p:nvSpPr>
        <p:spPr>
          <a:xfrm>
            <a:off x="4462272" y="5440680"/>
            <a:ext cx="3291840" cy="502920"/>
          </a:xfrm>
          <a:prstGeom prst="rect">
            <a:avLst/>
          </a:prstGeom>
          <a:noFill/>
          <a:ln/>
        </p:spPr>
        <p:txBody>
          <a:bodyPr wrap="square" lIns="0" tIns="0" rIns="0" bIns="0" rtlCol="0" anchor="t"/>
          <a:lstStyle/>
          <a:p>
            <a:pPr indent="0" marL="0">
              <a:buNone/>
            </a:pPr>
            <a:r>
              <a:rPr lang="en-US" sz="1200" dirty="0">
                <a:solidFill>
                  <a:schemeClr val="tx1"/>
                </a:solidFill>
              </a:rPr>
              <a:t>React pages for owner and sales team, Connect page for channels</a:t>
            </a:r>
            <a:endParaRPr lang="en-US" sz="1200" dirty="0"/>
          </a:p>
        </p:txBody>
      </p:sp>
      <p:sp>
        <p:nvSpPr>
          <p:cNvPr id="50" name="Text 40"/>
          <p:cNvSpPr txBox="1"/>
          <p:nvPr/>
        </p:nvSpPr>
        <p:spPr>
          <a:xfrm>
            <a:off x="4462272" y="5925312"/>
            <a:ext cx="3291840" cy="237744"/>
          </a:xfrm>
          <a:prstGeom prst="rect">
            <a:avLst/>
          </a:prstGeom>
          <a:noFill/>
          <a:ln/>
        </p:spPr>
        <p:txBody>
          <a:bodyPr wrap="square" lIns="0" tIns="0" rIns="0" bIns="0" rtlCol="0" anchor="ctr"/>
          <a:lstStyle/>
          <a:p>
            <a:pPr indent="0" marL="0">
              <a:buNone/>
            </a:pPr>
            <a:r>
              <a:rPr lang="en-US" sz="1050" dirty="0">
                <a:solidFill>
                  <a:srgbClr val="4F5A68"/>
                </a:solidFill>
                <a:latin typeface="Courier New" pitchFamily="34" charset="0"/>
                <a:ea typeface="Courier New" pitchFamily="34" charset="-122"/>
                <a:cs typeface="Courier New" pitchFamily="34" charset="-120"/>
              </a:rPr>
              <a:t>frontend/src/pages</a:t>
            </a:r>
            <a:endParaRPr lang="en-US" sz="1050" dirty="0"/>
          </a:p>
        </p:txBody>
      </p:sp>
      <p:sp>
        <p:nvSpPr>
          <p:cNvPr id="51" name="Orchestrator"/>
          <p:cNvSpPr/>
          <p:nvPr/>
        </p:nvSpPr>
        <p:spPr>
          <a:xfrm>
            <a:off x="8101584" y="4663440"/>
            <a:ext cx="3630168" cy="1572768"/>
          </a:xfrm>
          <a:prstGeom prst="roundRect">
            <a:avLst>
              <a:gd name="adj" fmla="val 3488"/>
            </a:avLst>
          </a:prstGeom>
          <a:solidFill>
            <a:srgbClr val="FFFFFF"/>
          </a:solidFill>
          <a:ln w="12700">
            <a:solidFill>
              <a:srgbClr val="B7C2D0"/>
            </a:solidFill>
            <a:prstDash val="solid"/>
          </a:ln>
        </p:spPr>
      </p:sp>
      <p:sp>
        <p:nvSpPr>
          <p:cNvPr id="52" name="Icon circle"/>
          <p:cNvSpPr/>
          <p:nvPr/>
        </p:nvSpPr>
        <p:spPr>
          <a:xfrm>
            <a:off x="8284464" y="4846320"/>
            <a:ext cx="502920" cy="502920"/>
          </a:xfrm>
          <a:prstGeom prst="ellipse">
            <a:avLst/>
          </a:prstGeom>
          <a:solidFill>
            <a:schemeClr val="accent3"/>
          </a:solidFill>
          <a:ln w="12700">
            <a:solidFill>
              <a:schemeClr val="accent3"/>
            </a:solidFill>
            <a:prstDash val="solid"/>
          </a:ln>
        </p:spPr>
      </p:sp>
      <p:pic>
        <p:nvPicPr>
          <p:cNvPr id="53" name="Image 8" descr="Sitemap icon">    </p:cNvPr>
          <p:cNvPicPr>
            <a:picLocks noChangeAspect="1"/>
          </p:cNvPicPr>
          <p:nvPr/>
        </p:nvPicPr>
        <p:blipFill>
          <a:blip r:embed="rId9"/>
          <a:stretch>
            <a:fillRect/>
          </a:stretch>
        </p:blipFill>
        <p:spPr>
          <a:xfrm>
            <a:off x="8410194" y="4972050"/>
            <a:ext cx="251460" cy="251460"/>
          </a:xfrm>
          <a:prstGeom prst="rect">
            <a:avLst/>
          </a:prstGeom>
        </p:spPr>
      </p:pic>
      <p:sp>
        <p:nvSpPr>
          <p:cNvPr id="54" name="Text 43"/>
          <p:cNvSpPr txBox="1"/>
          <p:nvPr/>
        </p:nvSpPr>
        <p:spPr>
          <a:xfrm>
            <a:off x="8924544" y="4846320"/>
            <a:ext cx="2697480" cy="502920"/>
          </a:xfrm>
          <a:prstGeom prst="rect">
            <a:avLst/>
          </a:prstGeom>
          <a:noFill/>
          <a:ln/>
        </p:spPr>
        <p:txBody>
          <a:bodyPr wrap="square" lIns="0" tIns="0" rIns="0" bIns="0" rtlCol="0" anchor="ctr"/>
          <a:lstStyle/>
          <a:p>
            <a:pPr indent="0" marL="0">
              <a:buNone/>
            </a:pPr>
            <a:r>
              <a:rPr lang="en-US" sz="1450" b="1" dirty="0">
                <a:solidFill>
                  <a:schemeClr val="accent3"/>
                </a:solidFill>
              </a:rPr>
              <a:t>Orchestrator</a:t>
            </a:r>
            <a:endParaRPr lang="en-US" sz="1450" dirty="0"/>
          </a:p>
        </p:txBody>
      </p:sp>
      <p:sp>
        <p:nvSpPr>
          <p:cNvPr id="55" name="Text 44"/>
          <p:cNvSpPr txBox="1"/>
          <p:nvPr/>
        </p:nvSpPr>
        <p:spPr>
          <a:xfrm>
            <a:off x="8284464" y="5440680"/>
            <a:ext cx="3291840" cy="502920"/>
          </a:xfrm>
          <a:prstGeom prst="rect">
            <a:avLst/>
          </a:prstGeom>
          <a:noFill/>
          <a:ln/>
        </p:spPr>
        <p:txBody>
          <a:bodyPr wrap="square" lIns="0" tIns="0" rIns="0" bIns="0" rtlCol="0" anchor="t"/>
          <a:lstStyle/>
          <a:p>
            <a:pPr indent="0" marL="0">
              <a:buNone/>
            </a:pPr>
            <a:r>
              <a:rPr lang="en-US" sz="1200" dirty="0">
                <a:solidFill>
                  <a:schemeClr val="tx1"/>
                </a:solidFill>
              </a:rPr>
              <a:t>Runs the agents in order for every request and saves the result</a:t>
            </a:r>
            <a:endParaRPr lang="en-US" sz="1200" dirty="0"/>
          </a:p>
        </p:txBody>
      </p:sp>
      <p:sp>
        <p:nvSpPr>
          <p:cNvPr id="56" name="Text 45"/>
          <p:cNvSpPr txBox="1"/>
          <p:nvPr/>
        </p:nvSpPr>
        <p:spPr>
          <a:xfrm>
            <a:off x="8284464" y="5925312"/>
            <a:ext cx="3291840" cy="237744"/>
          </a:xfrm>
          <a:prstGeom prst="rect">
            <a:avLst/>
          </a:prstGeom>
          <a:noFill/>
          <a:ln/>
        </p:spPr>
        <p:txBody>
          <a:bodyPr wrap="square" lIns="0" tIns="0" rIns="0" bIns="0" rtlCol="0" anchor="ctr"/>
          <a:lstStyle/>
          <a:p>
            <a:pPr indent="0" marL="0">
              <a:buNone/>
            </a:pPr>
            <a:r>
              <a:rPr lang="en-US" sz="1050" dirty="0">
                <a:solidFill>
                  <a:srgbClr val="4F5A68"/>
                </a:solidFill>
                <a:latin typeface="Courier New" pitchFamily="34" charset="0"/>
                <a:ea typeface="Courier New" pitchFamily="34" charset="-122"/>
                <a:cs typeface="Courier New" pitchFamily="34" charset="-120"/>
              </a:rPr>
              <a:t>app.py</a:t>
            </a:r>
            <a:endParaRPr lang="en-US" sz="1050" dirty="0"/>
          </a:p>
        </p:txBody>
      </p:sp>
      <p:sp>
        <p:nvSpPr>
          <p:cNvPr id="25" name="Slide Number Placeholder 0"/>
          <p:cNvSpPr>
            <a:spLocks noGrp="1"/>
          </p:cNvSpPr>
          <p:nvPr>
            <p:ph type="sldNum" sz="quarter" idx="4294967295"/>
          </p:nvPr>
        </p:nvSpPr>
        <p:spPr>
          <a:xfrm>
            <a:off x="1127455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F5A68"/>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685800"/>
          </a:xfrm>
          <a:prstGeom prst="rect">
            <a:avLst/>
          </a:prstGeom>
          <a:noFill/>
          <a:ln/>
        </p:spPr>
        <p:txBody>
          <a:bodyPr wrap="square" lIns="0" tIns="0" rIns="0" bIns="0" rtlCol="0" anchor="ctr"/>
          <a:lstStyle/>
          <a:p>
            <a:pPr algn="ctr" indent="0" marL="0">
              <a:buNone/>
            </a:pPr>
            <a:r>
              <a:rPr lang="en-US" sz="3200" b="1" dirty="0">
                <a:solidFill>
                  <a:srgbClr val="222B38"/>
                </a:solidFill>
                <a:latin typeface="Times New Roman" pitchFamily="34" charset="0"/>
                <a:ea typeface="Times New Roman" pitchFamily="34" charset="-122"/>
                <a:cs typeface="Times New Roman" pitchFamily="34" charset="-120"/>
              </a:rPr>
              <a:t>DATA FLOW</a:t>
            </a:r>
            <a:endParaRPr lang="en-US" sz="3200" dirty="0"/>
          </a:p>
        </p:txBody>
      </p:sp>
      <p:sp>
        <p:nvSpPr>
          <p:cNvPr id="3" name="Text 1"/>
          <p:cNvSpPr txBox="1"/>
          <p:nvPr/>
        </p:nvSpPr>
        <p:spPr>
          <a:xfrm>
            <a:off x="457200" y="1188720"/>
            <a:ext cx="7315200" cy="320040"/>
          </a:xfrm>
          <a:prstGeom prst="rect">
            <a:avLst/>
          </a:prstGeom>
          <a:noFill/>
          <a:ln/>
        </p:spPr>
        <p:txBody>
          <a:bodyPr wrap="square" lIns="0" tIns="0" rIns="0" bIns="0" rtlCol="0" anchor="ctr"/>
          <a:lstStyle/>
          <a:p>
            <a:pPr indent="0" marL="0">
              <a:buNone/>
            </a:pPr>
            <a:r>
              <a:rPr lang="en-US" sz="1600" b="1" dirty="0">
                <a:solidFill>
                  <a:schemeClr val="tx2"/>
                </a:solidFill>
              </a:rPr>
              <a:t>Training (once, and after new outcomes)</a:t>
            </a:r>
            <a:endParaRPr lang="en-US" sz="1600" dirty="0"/>
          </a:p>
        </p:txBody>
      </p:sp>
      <p:sp>
        <p:nvSpPr>
          <p:cNvPr id="4" name="Leads.csv"/>
          <p:cNvSpPr/>
          <p:nvPr/>
        </p:nvSpPr>
        <p:spPr>
          <a:xfrm>
            <a:off x="457200" y="1600200"/>
            <a:ext cx="1691640" cy="960120"/>
          </a:xfrm>
          <a:prstGeom prst="roundRect">
            <a:avLst>
              <a:gd name="adj" fmla="val 5714"/>
            </a:avLst>
          </a:prstGeom>
          <a:solidFill>
            <a:schemeClr val="bg2"/>
          </a:solidFill>
          <a:ln w="12700">
            <a:solidFill>
              <a:srgbClr val="9DB7D9"/>
            </a:solidFill>
            <a:prstDash val="solid"/>
          </a:ln>
        </p:spPr>
      </p:sp>
      <p:sp>
        <p:nvSpPr>
          <p:cNvPr id="5" name="Text 3"/>
          <p:cNvSpPr txBox="1"/>
          <p:nvPr/>
        </p:nvSpPr>
        <p:spPr>
          <a:xfrm>
            <a:off x="548640" y="1600200"/>
            <a:ext cx="1508760" cy="960120"/>
          </a:xfrm>
          <a:prstGeom prst="rect">
            <a:avLst/>
          </a:prstGeom>
          <a:noFill/>
          <a:ln/>
        </p:spPr>
        <p:txBody>
          <a:bodyPr wrap="square" lIns="0" tIns="0" rIns="0" bIns="0" rtlCol="0" anchor="ctr"/>
          <a:lstStyle/>
          <a:p>
            <a:pPr algn="ctr" indent="0" marL="0">
              <a:buNone/>
            </a:pPr>
            <a:r>
              <a:rPr lang="en-US" sz="1300" b="1" dirty="0">
                <a:solidFill>
                  <a:schemeClr val="tx1"/>
                </a:solidFill>
              </a:rPr>
              <a:t>Leads.csv</a:t>
            </a:r>
            <a:endParaRPr lang="en-US" sz="1400" dirty="0"/>
          </a:p>
          <a:p>
            <a:pPr algn="ctr" indent="0" marL="0">
              <a:buNone/>
            </a:pPr>
            <a:r>
              <a:rPr lang="en-US" sz="1100" dirty="0">
                <a:solidFill>
                  <a:srgbClr val="4F5A68"/>
                </a:solidFill>
              </a:rPr>
              <a:t>9,240 real leads, 37 columns</a:t>
            </a:r>
            <a:endParaRPr lang="en-US" sz="1400" dirty="0"/>
          </a:p>
        </p:txBody>
      </p:sp>
      <p:sp>
        <p:nvSpPr>
          <p:cNvPr id="6" name="Arrow"/>
          <p:cNvSpPr/>
          <p:nvPr/>
        </p:nvSpPr>
        <p:spPr>
          <a:xfrm>
            <a:off x="2148840" y="2075688"/>
            <a:ext cx="228600" cy="0"/>
          </a:xfrm>
          <a:prstGeom prst="line">
            <a:avLst/>
          </a:prstGeom>
          <a:noFill/>
          <a:ln w="19050">
            <a:solidFill>
              <a:srgbClr val="5B6675"/>
            </a:solidFill>
            <a:prstDash val="solid"/>
            <a:tailEnd type="triangle"/>
          </a:ln>
        </p:spPr>
      </p:sp>
      <p:sp>
        <p:nvSpPr>
          <p:cNvPr id="7" name="Clean data"/>
          <p:cNvSpPr/>
          <p:nvPr/>
        </p:nvSpPr>
        <p:spPr>
          <a:xfrm>
            <a:off x="2377440" y="1600200"/>
            <a:ext cx="1691640" cy="960120"/>
          </a:xfrm>
          <a:prstGeom prst="roundRect">
            <a:avLst>
              <a:gd name="adj" fmla="val 5714"/>
            </a:avLst>
          </a:prstGeom>
          <a:solidFill>
            <a:schemeClr val="bg2"/>
          </a:solidFill>
          <a:ln w="12700">
            <a:solidFill>
              <a:srgbClr val="9DB7D9"/>
            </a:solidFill>
            <a:prstDash val="solid"/>
          </a:ln>
        </p:spPr>
      </p:sp>
      <p:sp>
        <p:nvSpPr>
          <p:cNvPr id="8" name="Text 6"/>
          <p:cNvSpPr txBox="1"/>
          <p:nvPr/>
        </p:nvSpPr>
        <p:spPr>
          <a:xfrm>
            <a:off x="2468880" y="1600200"/>
            <a:ext cx="1508760" cy="960120"/>
          </a:xfrm>
          <a:prstGeom prst="rect">
            <a:avLst/>
          </a:prstGeom>
          <a:noFill/>
          <a:ln/>
        </p:spPr>
        <p:txBody>
          <a:bodyPr wrap="square" lIns="0" tIns="0" rIns="0" bIns="0" rtlCol="0" anchor="ctr"/>
          <a:lstStyle/>
          <a:p>
            <a:pPr algn="ctr" indent="0" marL="0">
              <a:buNone/>
            </a:pPr>
            <a:r>
              <a:rPr lang="en-US" sz="1300" b="1" dirty="0">
                <a:solidFill>
                  <a:schemeClr val="tx1"/>
                </a:solidFill>
              </a:rPr>
              <a:t>Clean data</a:t>
            </a:r>
            <a:endParaRPr lang="en-US" sz="1400" dirty="0"/>
          </a:p>
          <a:p>
            <a:pPr algn="ctr" indent="0" marL="0">
              <a:buNone/>
            </a:pPr>
            <a:r>
              <a:rPr lang="en-US" sz="1100" dirty="0">
                <a:solidFill>
                  <a:srgbClr val="4F5A68"/>
                </a:solidFill>
              </a:rPr>
              <a:t>remove leakage &amp; IDs</a:t>
            </a:r>
            <a:endParaRPr lang="en-US" sz="1400" dirty="0"/>
          </a:p>
        </p:txBody>
      </p:sp>
      <p:sp>
        <p:nvSpPr>
          <p:cNvPr id="9" name="Arrow"/>
          <p:cNvSpPr/>
          <p:nvPr/>
        </p:nvSpPr>
        <p:spPr>
          <a:xfrm>
            <a:off x="4069080" y="2075688"/>
            <a:ext cx="228600" cy="0"/>
          </a:xfrm>
          <a:prstGeom prst="line">
            <a:avLst/>
          </a:prstGeom>
          <a:noFill/>
          <a:ln w="19050">
            <a:solidFill>
              <a:srgbClr val="5B6675"/>
            </a:solidFill>
            <a:prstDash val="solid"/>
            <a:tailEnd type="triangle"/>
          </a:ln>
        </p:spPr>
      </p:sp>
      <p:sp>
        <p:nvSpPr>
          <p:cNvPr id="10" name="6 features"/>
          <p:cNvSpPr/>
          <p:nvPr/>
        </p:nvSpPr>
        <p:spPr>
          <a:xfrm>
            <a:off x="4297680" y="1600200"/>
            <a:ext cx="1691640" cy="960120"/>
          </a:xfrm>
          <a:prstGeom prst="roundRect">
            <a:avLst>
              <a:gd name="adj" fmla="val 5714"/>
            </a:avLst>
          </a:prstGeom>
          <a:solidFill>
            <a:schemeClr val="bg2"/>
          </a:solidFill>
          <a:ln w="12700">
            <a:solidFill>
              <a:srgbClr val="9DB7D9"/>
            </a:solidFill>
            <a:prstDash val="solid"/>
          </a:ln>
        </p:spPr>
      </p:sp>
      <p:sp>
        <p:nvSpPr>
          <p:cNvPr id="11" name="Text 9"/>
          <p:cNvSpPr txBox="1"/>
          <p:nvPr/>
        </p:nvSpPr>
        <p:spPr>
          <a:xfrm>
            <a:off x="4389120" y="1600200"/>
            <a:ext cx="1508760" cy="960120"/>
          </a:xfrm>
          <a:prstGeom prst="rect">
            <a:avLst/>
          </a:prstGeom>
          <a:noFill/>
          <a:ln/>
        </p:spPr>
        <p:txBody>
          <a:bodyPr wrap="square" lIns="0" tIns="0" rIns="0" bIns="0" rtlCol="0" anchor="ctr"/>
          <a:lstStyle/>
          <a:p>
            <a:pPr algn="ctr" indent="0" marL="0">
              <a:buNone/>
            </a:pPr>
            <a:r>
              <a:rPr lang="en-US" sz="1300" b="1" dirty="0">
                <a:solidFill>
                  <a:schemeClr val="tx1"/>
                </a:solidFill>
              </a:rPr>
              <a:t>6 features</a:t>
            </a:r>
            <a:endParaRPr lang="en-US" sz="1400" dirty="0"/>
          </a:p>
          <a:p>
            <a:pPr algn="ctr" indent="0" marL="0">
              <a:buNone/>
            </a:pPr>
            <a:r>
              <a:rPr lang="en-US" sz="1100" dirty="0">
                <a:solidFill>
                  <a:srgbClr val="4F5A68"/>
                </a:solidFill>
              </a:rPr>
              <a:t>what a form can collect</a:t>
            </a:r>
            <a:endParaRPr lang="en-US" sz="1400" dirty="0"/>
          </a:p>
        </p:txBody>
      </p:sp>
      <p:sp>
        <p:nvSpPr>
          <p:cNvPr id="12" name="Arrow"/>
          <p:cNvSpPr/>
          <p:nvPr/>
        </p:nvSpPr>
        <p:spPr>
          <a:xfrm>
            <a:off x="5989320" y="2075688"/>
            <a:ext cx="228600" cy="0"/>
          </a:xfrm>
          <a:prstGeom prst="line">
            <a:avLst/>
          </a:prstGeom>
          <a:noFill/>
          <a:ln w="19050">
            <a:solidFill>
              <a:srgbClr val="5B6675"/>
            </a:solidFill>
            <a:prstDash val="solid"/>
            <a:tailEnd type="triangle"/>
          </a:ln>
        </p:spPr>
      </p:sp>
      <p:sp>
        <p:nvSpPr>
          <p:cNvPr id="13" name="Train &amp; calibrate"/>
          <p:cNvSpPr/>
          <p:nvPr/>
        </p:nvSpPr>
        <p:spPr>
          <a:xfrm>
            <a:off x="6217920" y="1600200"/>
            <a:ext cx="1691640" cy="960120"/>
          </a:xfrm>
          <a:prstGeom prst="roundRect">
            <a:avLst>
              <a:gd name="adj" fmla="val 5714"/>
            </a:avLst>
          </a:prstGeom>
          <a:solidFill>
            <a:schemeClr val="bg2"/>
          </a:solidFill>
          <a:ln w="12700">
            <a:solidFill>
              <a:srgbClr val="9DB7D9"/>
            </a:solidFill>
            <a:prstDash val="solid"/>
          </a:ln>
        </p:spPr>
      </p:sp>
      <p:sp>
        <p:nvSpPr>
          <p:cNvPr id="14" name="Text 12"/>
          <p:cNvSpPr txBox="1"/>
          <p:nvPr/>
        </p:nvSpPr>
        <p:spPr>
          <a:xfrm>
            <a:off x="6309360" y="1600200"/>
            <a:ext cx="1508760" cy="960120"/>
          </a:xfrm>
          <a:prstGeom prst="rect">
            <a:avLst/>
          </a:prstGeom>
          <a:noFill/>
          <a:ln/>
        </p:spPr>
        <p:txBody>
          <a:bodyPr wrap="square" lIns="0" tIns="0" rIns="0" bIns="0" rtlCol="0" anchor="ctr"/>
          <a:lstStyle/>
          <a:p>
            <a:pPr algn="ctr" indent="0" marL="0">
              <a:buNone/>
            </a:pPr>
            <a:r>
              <a:rPr lang="en-US" sz="1300" b="1" dirty="0">
                <a:solidFill>
                  <a:schemeClr val="tx1"/>
                </a:solidFill>
              </a:rPr>
              <a:t>Train &amp; calibrate</a:t>
            </a:r>
            <a:endParaRPr lang="en-US" sz="1400" dirty="0"/>
          </a:p>
          <a:p>
            <a:pPr algn="ctr" indent="0" marL="0">
              <a:buNone/>
            </a:pPr>
            <a:r>
              <a:rPr lang="en-US" sz="1100" dirty="0">
                <a:solidFill>
                  <a:srgbClr val="4F5A68"/>
                </a:solidFill>
              </a:rPr>
              <a:t>monotonic gradient boosting</a:t>
            </a:r>
            <a:endParaRPr lang="en-US" sz="1400" dirty="0"/>
          </a:p>
        </p:txBody>
      </p:sp>
      <p:sp>
        <p:nvSpPr>
          <p:cNvPr id="15" name="Arrow"/>
          <p:cNvSpPr/>
          <p:nvPr/>
        </p:nvSpPr>
        <p:spPr>
          <a:xfrm>
            <a:off x="7909560" y="2075688"/>
            <a:ext cx="228600" cy="0"/>
          </a:xfrm>
          <a:prstGeom prst="line">
            <a:avLst/>
          </a:prstGeom>
          <a:noFill/>
          <a:ln w="19050">
            <a:solidFill>
              <a:srgbClr val="5B6675"/>
            </a:solidFill>
            <a:prstDash val="solid"/>
            <a:tailEnd type="triangle"/>
          </a:ln>
        </p:spPr>
      </p:sp>
      <p:sp>
        <p:nvSpPr>
          <p:cNvPr id="16" name="Evaluate"/>
          <p:cNvSpPr/>
          <p:nvPr/>
        </p:nvSpPr>
        <p:spPr>
          <a:xfrm>
            <a:off x="8138160" y="1600200"/>
            <a:ext cx="1691640" cy="960120"/>
          </a:xfrm>
          <a:prstGeom prst="roundRect">
            <a:avLst>
              <a:gd name="adj" fmla="val 5714"/>
            </a:avLst>
          </a:prstGeom>
          <a:solidFill>
            <a:schemeClr val="bg2"/>
          </a:solidFill>
          <a:ln w="12700">
            <a:solidFill>
              <a:srgbClr val="9DB7D9"/>
            </a:solidFill>
            <a:prstDash val="solid"/>
          </a:ln>
        </p:spPr>
      </p:sp>
      <p:sp>
        <p:nvSpPr>
          <p:cNvPr id="17" name="Text 15"/>
          <p:cNvSpPr txBox="1"/>
          <p:nvPr/>
        </p:nvSpPr>
        <p:spPr>
          <a:xfrm>
            <a:off x="8229600" y="1600200"/>
            <a:ext cx="1508760" cy="960120"/>
          </a:xfrm>
          <a:prstGeom prst="rect">
            <a:avLst/>
          </a:prstGeom>
          <a:noFill/>
          <a:ln/>
        </p:spPr>
        <p:txBody>
          <a:bodyPr wrap="square" lIns="0" tIns="0" rIns="0" bIns="0" rtlCol="0" anchor="ctr"/>
          <a:lstStyle/>
          <a:p>
            <a:pPr algn="ctr" indent="0" marL="0">
              <a:buNone/>
            </a:pPr>
            <a:r>
              <a:rPr lang="en-US" sz="1300" b="1" dirty="0">
                <a:solidFill>
                  <a:schemeClr val="tx1"/>
                </a:solidFill>
              </a:rPr>
              <a:t>Evaluate</a:t>
            </a:r>
            <a:endParaRPr lang="en-US" sz="1400" dirty="0"/>
          </a:p>
          <a:p>
            <a:pPr algn="ctr" indent="0" marL="0">
              <a:buNone/>
            </a:pPr>
            <a:r>
              <a:rPr lang="en-US" sz="1100" dirty="0">
                <a:solidFill>
                  <a:srgbClr val="4F5A68"/>
                </a:solidFill>
              </a:rPr>
              <a:t>fixed test set, 1,848 leads</a:t>
            </a:r>
            <a:endParaRPr lang="en-US" sz="1400" dirty="0"/>
          </a:p>
        </p:txBody>
      </p:sp>
      <p:sp>
        <p:nvSpPr>
          <p:cNvPr id="18" name="Arrow"/>
          <p:cNvSpPr/>
          <p:nvPr/>
        </p:nvSpPr>
        <p:spPr>
          <a:xfrm>
            <a:off x="9829800" y="2075688"/>
            <a:ext cx="228600" cy="0"/>
          </a:xfrm>
          <a:prstGeom prst="line">
            <a:avLst/>
          </a:prstGeom>
          <a:noFill/>
          <a:ln w="19050">
            <a:solidFill>
              <a:srgbClr val="5B6675"/>
            </a:solidFill>
            <a:prstDash val="solid"/>
            <a:tailEnd type="triangle"/>
          </a:ln>
        </p:spPr>
      </p:sp>
      <p:sp>
        <p:nvSpPr>
          <p:cNvPr id="19" name="lead_model.pkl"/>
          <p:cNvSpPr/>
          <p:nvPr/>
        </p:nvSpPr>
        <p:spPr>
          <a:xfrm>
            <a:off x="10058400" y="1600200"/>
            <a:ext cx="1691640" cy="960120"/>
          </a:xfrm>
          <a:prstGeom prst="roundRect">
            <a:avLst>
              <a:gd name="adj" fmla="val 5714"/>
            </a:avLst>
          </a:prstGeom>
          <a:solidFill>
            <a:schemeClr val="bg2"/>
          </a:solidFill>
          <a:ln w="12700">
            <a:solidFill>
              <a:srgbClr val="9DB7D9"/>
            </a:solidFill>
            <a:prstDash val="solid"/>
          </a:ln>
        </p:spPr>
      </p:sp>
      <p:sp>
        <p:nvSpPr>
          <p:cNvPr id="20" name="Text 18"/>
          <p:cNvSpPr txBox="1"/>
          <p:nvPr/>
        </p:nvSpPr>
        <p:spPr>
          <a:xfrm>
            <a:off x="10149840" y="1600200"/>
            <a:ext cx="1508760" cy="960120"/>
          </a:xfrm>
          <a:prstGeom prst="rect">
            <a:avLst/>
          </a:prstGeom>
          <a:noFill/>
          <a:ln/>
        </p:spPr>
        <p:txBody>
          <a:bodyPr wrap="square" lIns="0" tIns="0" rIns="0" bIns="0" rtlCol="0" anchor="ctr"/>
          <a:lstStyle/>
          <a:p>
            <a:pPr algn="ctr" indent="0" marL="0">
              <a:buNone/>
            </a:pPr>
            <a:r>
              <a:rPr lang="en-US" sz="1300" b="1" dirty="0">
                <a:solidFill>
                  <a:schemeClr val="tx1"/>
                </a:solidFill>
              </a:rPr>
              <a:t>lead_model.pkl</a:t>
            </a:r>
            <a:endParaRPr lang="en-US" sz="1400" dirty="0"/>
          </a:p>
          <a:p>
            <a:pPr algn="ctr" indent="0" marL="0">
              <a:buNone/>
            </a:pPr>
            <a:r>
              <a:rPr lang="en-US" sz="1100" dirty="0">
                <a:solidFill>
                  <a:srgbClr val="4F5A68"/>
                </a:solidFill>
              </a:rPr>
              <a:t>model + cut-offs saved</a:t>
            </a:r>
            <a:endParaRPr lang="en-US" sz="1400" dirty="0"/>
          </a:p>
        </p:txBody>
      </p:sp>
      <p:sp>
        <p:nvSpPr>
          <p:cNvPr id="21" name="Text 19"/>
          <p:cNvSpPr txBox="1"/>
          <p:nvPr/>
        </p:nvSpPr>
        <p:spPr>
          <a:xfrm>
            <a:off x="457200" y="2971800"/>
            <a:ext cx="7315200" cy="320040"/>
          </a:xfrm>
          <a:prstGeom prst="rect">
            <a:avLst/>
          </a:prstGeom>
          <a:noFill/>
          <a:ln/>
        </p:spPr>
        <p:txBody>
          <a:bodyPr wrap="square" lIns="0" tIns="0" rIns="0" bIns="0" rtlCol="0" anchor="ctr"/>
          <a:lstStyle/>
          <a:p>
            <a:pPr indent="0" marL="0">
              <a:buNone/>
            </a:pPr>
            <a:r>
              <a:rPr lang="en-US" sz="1600" b="1" dirty="0">
                <a:solidFill>
                  <a:schemeClr val="tx2"/>
                </a:solidFill>
              </a:rPr>
              <a:t>Live scoring (every enquiry)</a:t>
            </a:r>
            <a:endParaRPr lang="en-US" sz="1600" dirty="0"/>
          </a:p>
        </p:txBody>
      </p:sp>
      <p:sp>
        <p:nvSpPr>
          <p:cNvPr id="22" name="Enquiry"/>
          <p:cNvSpPr/>
          <p:nvPr/>
        </p:nvSpPr>
        <p:spPr>
          <a:xfrm>
            <a:off x="457200" y="3383280"/>
            <a:ext cx="1691640" cy="960120"/>
          </a:xfrm>
          <a:prstGeom prst="roundRect">
            <a:avLst>
              <a:gd name="adj" fmla="val 5714"/>
            </a:avLst>
          </a:prstGeom>
          <a:solidFill>
            <a:schemeClr val="accent5"/>
          </a:solidFill>
          <a:ln w="12700">
            <a:solidFill>
              <a:srgbClr val="9CCBAE"/>
            </a:solidFill>
            <a:prstDash val="solid"/>
          </a:ln>
        </p:spPr>
      </p:sp>
      <p:sp>
        <p:nvSpPr>
          <p:cNvPr id="23" name="Text 21"/>
          <p:cNvSpPr txBox="1"/>
          <p:nvPr/>
        </p:nvSpPr>
        <p:spPr>
          <a:xfrm>
            <a:off x="548640" y="3383280"/>
            <a:ext cx="1508760" cy="960120"/>
          </a:xfrm>
          <a:prstGeom prst="rect">
            <a:avLst/>
          </a:prstGeom>
          <a:noFill/>
          <a:ln/>
        </p:spPr>
        <p:txBody>
          <a:bodyPr wrap="square" lIns="0" tIns="0" rIns="0" bIns="0" rtlCol="0" anchor="ctr"/>
          <a:lstStyle/>
          <a:p>
            <a:pPr algn="ctr" indent="0" marL="0">
              <a:buNone/>
            </a:pPr>
            <a:r>
              <a:rPr lang="en-US" sz="1300" b="1" dirty="0">
                <a:solidFill>
                  <a:schemeClr val="tx1"/>
                </a:solidFill>
              </a:rPr>
              <a:t>Enquiry</a:t>
            </a:r>
            <a:endParaRPr lang="en-US" sz="1400" dirty="0"/>
          </a:p>
          <a:p>
            <a:pPr algn="ctr" indent="0" marL="0">
              <a:buNone/>
            </a:pPr>
            <a:r>
              <a:rPr lang="en-US" sz="1100" dirty="0">
                <a:solidFill>
                  <a:srgbClr val="4F5A68"/>
                </a:solidFill>
              </a:rPr>
              <a:t>WhatsApp · web · email</a:t>
            </a:r>
            <a:endParaRPr lang="en-US" sz="1400" dirty="0"/>
          </a:p>
        </p:txBody>
      </p:sp>
      <p:sp>
        <p:nvSpPr>
          <p:cNvPr id="24" name="Arrow"/>
          <p:cNvSpPr/>
          <p:nvPr/>
        </p:nvSpPr>
        <p:spPr>
          <a:xfrm>
            <a:off x="2148840" y="3858768"/>
            <a:ext cx="228600" cy="0"/>
          </a:xfrm>
          <a:prstGeom prst="line">
            <a:avLst/>
          </a:prstGeom>
          <a:noFill/>
          <a:ln w="19050">
            <a:solidFill>
              <a:srgbClr val="5B6675"/>
            </a:solidFill>
            <a:prstDash val="solid"/>
            <a:tailEnd type="triangle"/>
          </a:ln>
        </p:spPr>
      </p:sp>
      <p:sp>
        <p:nvSpPr>
          <p:cNvPr id="25" name="Lead Analysis"/>
          <p:cNvSpPr/>
          <p:nvPr/>
        </p:nvSpPr>
        <p:spPr>
          <a:xfrm>
            <a:off x="2377440" y="3383280"/>
            <a:ext cx="1691640" cy="960120"/>
          </a:xfrm>
          <a:prstGeom prst="roundRect">
            <a:avLst>
              <a:gd name="adj" fmla="val 5714"/>
            </a:avLst>
          </a:prstGeom>
          <a:solidFill>
            <a:schemeClr val="accent5"/>
          </a:solidFill>
          <a:ln w="12700">
            <a:solidFill>
              <a:srgbClr val="9CCBAE"/>
            </a:solidFill>
            <a:prstDash val="solid"/>
          </a:ln>
        </p:spPr>
      </p:sp>
      <p:sp>
        <p:nvSpPr>
          <p:cNvPr id="26" name="Text 24"/>
          <p:cNvSpPr txBox="1"/>
          <p:nvPr/>
        </p:nvSpPr>
        <p:spPr>
          <a:xfrm>
            <a:off x="2468880" y="3383280"/>
            <a:ext cx="1508760" cy="960120"/>
          </a:xfrm>
          <a:prstGeom prst="rect">
            <a:avLst/>
          </a:prstGeom>
          <a:noFill/>
          <a:ln/>
        </p:spPr>
        <p:txBody>
          <a:bodyPr wrap="square" lIns="0" tIns="0" rIns="0" bIns="0" rtlCol="0" anchor="ctr"/>
          <a:lstStyle/>
          <a:p>
            <a:pPr algn="ctr" indent="0" marL="0">
              <a:buNone/>
            </a:pPr>
            <a:r>
              <a:rPr lang="en-US" sz="1300" b="1" dirty="0">
                <a:solidFill>
                  <a:schemeClr val="tx1"/>
                </a:solidFill>
              </a:rPr>
              <a:t>Lead Analysis</a:t>
            </a:r>
            <a:endParaRPr lang="en-US" sz="1400" dirty="0"/>
          </a:p>
          <a:p>
            <a:pPr algn="ctr" indent="0" marL="0">
              <a:buNone/>
            </a:pPr>
            <a:r>
              <a:rPr lang="en-US" sz="1100" dirty="0">
                <a:solidFill>
                  <a:srgbClr val="4F5A68"/>
                </a:solidFill>
              </a:rPr>
              <a:t>clean + map fields</a:t>
            </a:r>
            <a:endParaRPr lang="en-US" sz="1400" dirty="0"/>
          </a:p>
        </p:txBody>
      </p:sp>
      <p:sp>
        <p:nvSpPr>
          <p:cNvPr id="27" name="Arrow"/>
          <p:cNvSpPr/>
          <p:nvPr/>
        </p:nvSpPr>
        <p:spPr>
          <a:xfrm>
            <a:off x="4069080" y="3858768"/>
            <a:ext cx="228600" cy="0"/>
          </a:xfrm>
          <a:prstGeom prst="line">
            <a:avLst/>
          </a:prstGeom>
          <a:noFill/>
          <a:ln w="19050">
            <a:solidFill>
              <a:srgbClr val="5B6675"/>
            </a:solidFill>
            <a:prstDash val="solid"/>
            <a:tailEnd type="triangle"/>
          </a:ln>
        </p:spPr>
      </p:sp>
      <p:sp>
        <p:nvSpPr>
          <p:cNvPr id="28" name="ML model"/>
          <p:cNvSpPr/>
          <p:nvPr/>
        </p:nvSpPr>
        <p:spPr>
          <a:xfrm>
            <a:off x="4297680" y="3383280"/>
            <a:ext cx="1691640" cy="960120"/>
          </a:xfrm>
          <a:prstGeom prst="roundRect">
            <a:avLst>
              <a:gd name="adj" fmla="val 5714"/>
            </a:avLst>
          </a:prstGeom>
          <a:solidFill>
            <a:schemeClr val="accent5"/>
          </a:solidFill>
          <a:ln w="12700">
            <a:solidFill>
              <a:srgbClr val="9CCBAE"/>
            </a:solidFill>
            <a:prstDash val="solid"/>
          </a:ln>
        </p:spPr>
      </p:sp>
      <p:sp>
        <p:nvSpPr>
          <p:cNvPr id="29" name="Text 27"/>
          <p:cNvSpPr txBox="1"/>
          <p:nvPr/>
        </p:nvSpPr>
        <p:spPr>
          <a:xfrm>
            <a:off x="4389120" y="3383280"/>
            <a:ext cx="1508760" cy="960120"/>
          </a:xfrm>
          <a:prstGeom prst="rect">
            <a:avLst/>
          </a:prstGeom>
          <a:noFill/>
          <a:ln/>
        </p:spPr>
        <p:txBody>
          <a:bodyPr wrap="square" lIns="0" tIns="0" rIns="0" bIns="0" rtlCol="0" anchor="ctr"/>
          <a:lstStyle/>
          <a:p>
            <a:pPr algn="ctr" indent="0" marL="0">
              <a:buNone/>
            </a:pPr>
            <a:r>
              <a:rPr lang="en-US" sz="1300" b="1" dirty="0">
                <a:solidFill>
                  <a:schemeClr val="tx1"/>
                </a:solidFill>
              </a:rPr>
              <a:t>ML model</a:t>
            </a:r>
            <a:endParaRPr lang="en-US" sz="1400" dirty="0"/>
          </a:p>
          <a:p>
            <a:pPr algn="ctr" indent="0" marL="0">
              <a:buNone/>
            </a:pPr>
            <a:r>
              <a:rPr lang="en-US" sz="1100" dirty="0">
                <a:solidFill>
                  <a:srgbClr val="4F5A68"/>
                </a:solidFill>
              </a:rPr>
              <a:t>profile chance</a:t>
            </a:r>
            <a:endParaRPr lang="en-US" sz="1400" dirty="0"/>
          </a:p>
        </p:txBody>
      </p:sp>
      <p:sp>
        <p:nvSpPr>
          <p:cNvPr id="30" name="Arrow"/>
          <p:cNvSpPr/>
          <p:nvPr/>
        </p:nvSpPr>
        <p:spPr>
          <a:xfrm>
            <a:off x="5989320" y="3858768"/>
            <a:ext cx="228600" cy="0"/>
          </a:xfrm>
          <a:prstGeom prst="line">
            <a:avLst/>
          </a:prstGeom>
          <a:noFill/>
          <a:ln w="19050">
            <a:solidFill>
              <a:srgbClr val="5B6675"/>
            </a:solidFill>
            <a:prstDash val="solid"/>
            <a:tailEnd type="triangle"/>
          </a:ln>
        </p:spPr>
      </p:sp>
      <p:sp>
        <p:nvSpPr>
          <p:cNvPr id="31" name="Signals"/>
          <p:cNvSpPr/>
          <p:nvPr/>
        </p:nvSpPr>
        <p:spPr>
          <a:xfrm>
            <a:off x="6217920" y="3383280"/>
            <a:ext cx="1691640" cy="960120"/>
          </a:xfrm>
          <a:prstGeom prst="roundRect">
            <a:avLst>
              <a:gd name="adj" fmla="val 5714"/>
            </a:avLst>
          </a:prstGeom>
          <a:solidFill>
            <a:schemeClr val="accent5"/>
          </a:solidFill>
          <a:ln w="12700">
            <a:solidFill>
              <a:srgbClr val="9CCBAE"/>
            </a:solidFill>
            <a:prstDash val="solid"/>
          </a:ln>
        </p:spPr>
      </p:sp>
      <p:sp>
        <p:nvSpPr>
          <p:cNvPr id="32" name="Text 30"/>
          <p:cNvSpPr txBox="1"/>
          <p:nvPr/>
        </p:nvSpPr>
        <p:spPr>
          <a:xfrm>
            <a:off x="6309360" y="3383280"/>
            <a:ext cx="1508760" cy="960120"/>
          </a:xfrm>
          <a:prstGeom prst="rect">
            <a:avLst/>
          </a:prstGeom>
          <a:noFill/>
          <a:ln/>
        </p:spPr>
        <p:txBody>
          <a:bodyPr wrap="square" lIns="0" tIns="0" rIns="0" bIns="0" rtlCol="0" anchor="ctr"/>
          <a:lstStyle/>
          <a:p>
            <a:pPr algn="ctr" indent="0" marL="0">
              <a:buNone/>
            </a:pPr>
            <a:r>
              <a:rPr lang="en-US" sz="1300" b="1" dirty="0">
                <a:solidFill>
                  <a:schemeClr val="tx1"/>
                </a:solidFill>
              </a:rPr>
              <a:t>Signals</a:t>
            </a:r>
            <a:endParaRPr lang="en-US" sz="1400" dirty="0"/>
          </a:p>
          <a:p>
            <a:pPr algn="ctr" indent="0" marL="0">
              <a:buNone/>
            </a:pPr>
            <a:r>
              <a:rPr lang="en-US" sz="1100" dirty="0">
                <a:solidFill>
                  <a:srgbClr val="4F5A68"/>
                </a:solidFill>
              </a:rPr>
              <a:t>odds × weights</a:t>
            </a:r>
            <a:endParaRPr lang="en-US" sz="1400" dirty="0"/>
          </a:p>
        </p:txBody>
      </p:sp>
      <p:sp>
        <p:nvSpPr>
          <p:cNvPr id="33" name="Arrow"/>
          <p:cNvSpPr/>
          <p:nvPr/>
        </p:nvSpPr>
        <p:spPr>
          <a:xfrm>
            <a:off x="7909560" y="3858768"/>
            <a:ext cx="228600" cy="0"/>
          </a:xfrm>
          <a:prstGeom prst="line">
            <a:avLst/>
          </a:prstGeom>
          <a:noFill/>
          <a:ln w="19050">
            <a:solidFill>
              <a:srgbClr val="5B6675"/>
            </a:solidFill>
            <a:prstDash val="solid"/>
            <a:tailEnd type="triangle"/>
          </a:ln>
        </p:spPr>
      </p:sp>
      <p:sp>
        <p:nvSpPr>
          <p:cNvPr id="34" name="Final chance"/>
          <p:cNvSpPr/>
          <p:nvPr/>
        </p:nvSpPr>
        <p:spPr>
          <a:xfrm>
            <a:off x="8138160" y="3383280"/>
            <a:ext cx="1691640" cy="960120"/>
          </a:xfrm>
          <a:prstGeom prst="roundRect">
            <a:avLst>
              <a:gd name="adj" fmla="val 5714"/>
            </a:avLst>
          </a:prstGeom>
          <a:solidFill>
            <a:schemeClr val="accent5"/>
          </a:solidFill>
          <a:ln w="12700">
            <a:solidFill>
              <a:srgbClr val="9CCBAE"/>
            </a:solidFill>
            <a:prstDash val="solid"/>
          </a:ln>
        </p:spPr>
      </p:sp>
      <p:sp>
        <p:nvSpPr>
          <p:cNvPr id="35" name="Text 33"/>
          <p:cNvSpPr txBox="1"/>
          <p:nvPr/>
        </p:nvSpPr>
        <p:spPr>
          <a:xfrm>
            <a:off x="8229600" y="3383280"/>
            <a:ext cx="1508760" cy="960120"/>
          </a:xfrm>
          <a:prstGeom prst="rect">
            <a:avLst/>
          </a:prstGeom>
          <a:noFill/>
          <a:ln/>
        </p:spPr>
        <p:txBody>
          <a:bodyPr wrap="square" lIns="0" tIns="0" rIns="0" bIns="0" rtlCol="0" anchor="ctr"/>
          <a:lstStyle/>
          <a:p>
            <a:pPr algn="ctr" indent="0" marL="0">
              <a:buNone/>
            </a:pPr>
            <a:r>
              <a:rPr lang="en-US" sz="1300" b="1" dirty="0">
                <a:solidFill>
                  <a:schemeClr val="tx1"/>
                </a:solidFill>
              </a:rPr>
              <a:t>Final chance</a:t>
            </a:r>
            <a:endParaRPr lang="en-US" sz="1400" dirty="0"/>
          </a:p>
          <a:p>
            <a:pPr algn="ctr" indent="0" marL="0">
              <a:buNone/>
            </a:pPr>
            <a:r>
              <a:rPr lang="en-US" sz="1100" dirty="0">
                <a:solidFill>
                  <a:srgbClr val="4F5A68"/>
                </a:solidFill>
              </a:rPr>
              <a:t>priority + reason</a:t>
            </a:r>
            <a:endParaRPr lang="en-US" sz="1400" dirty="0"/>
          </a:p>
        </p:txBody>
      </p:sp>
      <p:sp>
        <p:nvSpPr>
          <p:cNvPr id="36" name="Arrow"/>
          <p:cNvSpPr/>
          <p:nvPr/>
        </p:nvSpPr>
        <p:spPr>
          <a:xfrm>
            <a:off x="9829800" y="3858768"/>
            <a:ext cx="228600" cy="0"/>
          </a:xfrm>
          <a:prstGeom prst="line">
            <a:avLst/>
          </a:prstGeom>
          <a:noFill/>
          <a:ln w="19050">
            <a:solidFill>
              <a:srgbClr val="5B6675"/>
            </a:solidFill>
            <a:prstDash val="solid"/>
            <a:tailEnd type="triangle"/>
          </a:ln>
        </p:spPr>
      </p:sp>
      <p:sp>
        <p:nvSpPr>
          <p:cNvPr id="37" name="SQLite → Dashboard"/>
          <p:cNvSpPr/>
          <p:nvPr/>
        </p:nvSpPr>
        <p:spPr>
          <a:xfrm>
            <a:off x="10058400" y="3383280"/>
            <a:ext cx="1691640" cy="960120"/>
          </a:xfrm>
          <a:prstGeom prst="roundRect">
            <a:avLst>
              <a:gd name="adj" fmla="val 5714"/>
            </a:avLst>
          </a:prstGeom>
          <a:solidFill>
            <a:schemeClr val="accent5"/>
          </a:solidFill>
          <a:ln w="12700">
            <a:solidFill>
              <a:srgbClr val="9CCBAE"/>
            </a:solidFill>
            <a:prstDash val="solid"/>
          </a:ln>
        </p:spPr>
      </p:sp>
      <p:sp>
        <p:nvSpPr>
          <p:cNvPr id="38" name="Text 36"/>
          <p:cNvSpPr txBox="1"/>
          <p:nvPr/>
        </p:nvSpPr>
        <p:spPr>
          <a:xfrm>
            <a:off x="10149840" y="3383280"/>
            <a:ext cx="1508760" cy="960120"/>
          </a:xfrm>
          <a:prstGeom prst="rect">
            <a:avLst/>
          </a:prstGeom>
          <a:noFill/>
          <a:ln/>
        </p:spPr>
        <p:txBody>
          <a:bodyPr wrap="square" lIns="0" tIns="0" rIns="0" bIns="0" rtlCol="0" anchor="ctr"/>
          <a:lstStyle/>
          <a:p>
            <a:pPr algn="ctr" indent="0" marL="0">
              <a:buNone/>
            </a:pPr>
            <a:r>
              <a:rPr lang="en-US" sz="1300" b="1" dirty="0">
                <a:solidFill>
                  <a:schemeClr val="tx1"/>
                </a:solidFill>
              </a:rPr>
              <a:t>SQLite → Dashboard</a:t>
            </a:r>
            <a:endParaRPr lang="en-US" sz="1400" dirty="0"/>
          </a:p>
          <a:p>
            <a:pPr algn="ctr" indent="0" marL="0">
              <a:buNone/>
            </a:pPr>
            <a:r>
              <a:rPr lang="en-US" sz="1100" dirty="0">
                <a:solidFill>
                  <a:srgbClr val="4F5A68"/>
                </a:solidFill>
              </a:rPr>
              <a:t>follow-up draft</a:t>
            </a:r>
            <a:endParaRPr lang="en-US" sz="1400" dirty="0"/>
          </a:p>
        </p:txBody>
      </p:sp>
      <p:sp>
        <p:nvSpPr>
          <p:cNvPr id="39" name="Arrow"/>
          <p:cNvSpPr/>
          <p:nvPr/>
        </p:nvSpPr>
        <p:spPr>
          <a:xfrm>
            <a:off x="4572000" y="2560320"/>
            <a:ext cx="777240" cy="822960"/>
          </a:xfrm>
          <a:prstGeom prst="line">
            <a:avLst/>
          </a:prstGeom>
          <a:noFill/>
          <a:ln w="19050">
            <a:solidFill>
              <a:srgbClr val="5B6675"/>
            </a:solidFill>
            <a:prstDash val="solid"/>
            <a:tailEnd type="triangle"/>
          </a:ln>
        </p:spPr>
      </p:sp>
      <p:sp>
        <p:nvSpPr>
          <p:cNvPr id="40" name="Text 38"/>
          <p:cNvSpPr txBox="1"/>
          <p:nvPr/>
        </p:nvSpPr>
        <p:spPr>
          <a:xfrm>
            <a:off x="5074920" y="2743200"/>
            <a:ext cx="1188720" cy="274320"/>
          </a:xfrm>
          <a:prstGeom prst="rect">
            <a:avLst/>
          </a:prstGeom>
          <a:noFill/>
          <a:ln/>
        </p:spPr>
        <p:txBody>
          <a:bodyPr wrap="square" lIns="0" tIns="0" rIns="0" bIns="0" rtlCol="0" anchor="t"/>
          <a:lstStyle/>
          <a:p>
            <a:pPr indent="0" marL="0">
              <a:buNone/>
            </a:pPr>
            <a:r>
              <a:rPr lang="en-US" sz="1050" i="1" dirty="0">
                <a:solidFill>
                  <a:srgbClr val="4F5A68"/>
                </a:solidFill>
              </a:rPr>
              <a:t>model loaded</a:t>
            </a:r>
            <a:endParaRPr lang="en-US" sz="1050" dirty="0"/>
          </a:p>
        </p:txBody>
      </p:sp>
      <p:sp>
        <p:nvSpPr>
          <p:cNvPr id="41" name="Text 39"/>
          <p:cNvSpPr txBox="1"/>
          <p:nvPr/>
        </p:nvSpPr>
        <p:spPr>
          <a:xfrm>
            <a:off x="457200" y="4754880"/>
            <a:ext cx="7315200" cy="320040"/>
          </a:xfrm>
          <a:prstGeom prst="rect">
            <a:avLst/>
          </a:prstGeom>
          <a:noFill/>
          <a:ln/>
        </p:spPr>
        <p:txBody>
          <a:bodyPr wrap="square" lIns="0" tIns="0" rIns="0" bIns="0" rtlCol="0" anchor="ctr"/>
          <a:lstStyle/>
          <a:p>
            <a:pPr indent="0" marL="0">
              <a:buNone/>
            </a:pPr>
            <a:r>
              <a:rPr lang="en-US" sz="1600" b="1" dirty="0">
                <a:solidFill>
                  <a:schemeClr val="tx2"/>
                </a:solidFill>
              </a:rPr>
              <a:t>Feedback</a:t>
            </a:r>
            <a:endParaRPr lang="en-US" sz="1600" dirty="0"/>
          </a:p>
        </p:txBody>
      </p:sp>
      <p:sp>
        <p:nvSpPr>
          <p:cNvPr id="42" name="Feedback box"/>
          <p:cNvSpPr/>
          <p:nvPr/>
        </p:nvSpPr>
        <p:spPr>
          <a:xfrm>
            <a:off x="457200" y="5166360"/>
            <a:ext cx="11274552" cy="1005840"/>
          </a:xfrm>
          <a:prstGeom prst="roundRect">
            <a:avLst>
              <a:gd name="adj" fmla="val 5455"/>
            </a:avLst>
          </a:prstGeom>
          <a:solidFill>
            <a:schemeClr val="accent6"/>
          </a:solidFill>
          <a:ln w="12700">
            <a:solidFill>
              <a:srgbClr val="EBB98F"/>
            </a:solidFill>
            <a:prstDash val="solid"/>
          </a:ln>
        </p:spPr>
      </p:sp>
      <p:sp>
        <p:nvSpPr>
          <p:cNvPr id="43" name="Text 41"/>
          <p:cNvSpPr txBox="1"/>
          <p:nvPr/>
        </p:nvSpPr>
        <p:spPr>
          <a:xfrm>
            <a:off x="685800" y="5166360"/>
            <a:ext cx="10835640" cy="1005840"/>
          </a:xfrm>
          <a:prstGeom prst="rect">
            <a:avLst/>
          </a:prstGeom>
          <a:noFill/>
          <a:ln/>
        </p:spPr>
        <p:txBody>
          <a:bodyPr wrap="square" lIns="0" tIns="0" rIns="0" bIns="0" rtlCol="0" anchor="ctr"/>
          <a:lstStyle/>
          <a:p>
            <a:pPr indent="0" marL="0">
              <a:buNone/>
            </a:pPr>
            <a:r>
              <a:rPr lang="en-US" sz="1350" b="1" dirty="0">
                <a:solidFill>
                  <a:schemeClr val="tx1"/>
                </a:solidFill>
              </a:rPr>
              <a:t>Salesperson marks Converted / Not Converted  →  </a:t>
            </a:r>
            <a:pPr indent="0" marL="0">
              <a:buNone/>
            </a:pPr>
            <a:r>
              <a:rPr lang="en-US" sz="1350" dirty="0">
                <a:solidFill>
                  <a:schemeClr val="tx1"/>
                </a:solidFill>
              </a:rPr>
              <a:t>every 10 outcomes the profile model is retrained (kept only if better on the test set) and the message model learns from the customers' own words (used once 15 + 15 chats and AUC ≥ 0.60).</a:t>
            </a:r>
            <a:endParaRPr lang="en-US" sz="1350" dirty="0"/>
          </a:p>
        </p:txBody>
      </p:sp>
      <p:sp>
        <p:nvSpPr>
          <p:cNvPr id="25" name="Slide Number Placeholder 0"/>
          <p:cNvSpPr>
            <a:spLocks noGrp="1"/>
          </p:cNvSpPr>
          <p:nvPr>
            <p:ph type="sldNum" sz="quarter" idx="4294967295"/>
          </p:nvPr>
        </p:nvSpPr>
        <p:spPr>
          <a:xfrm>
            <a:off x="1127455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F5A68"/>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685800"/>
          </a:xfrm>
          <a:prstGeom prst="rect">
            <a:avLst/>
          </a:prstGeom>
          <a:noFill/>
          <a:ln/>
        </p:spPr>
        <p:txBody>
          <a:bodyPr wrap="square" lIns="0" tIns="0" rIns="0" bIns="0" rtlCol="0" anchor="ctr"/>
          <a:lstStyle/>
          <a:p>
            <a:pPr algn="ctr" indent="0" marL="0">
              <a:buNone/>
            </a:pPr>
            <a:r>
              <a:rPr lang="en-US" sz="3200" b="1" dirty="0">
                <a:solidFill>
                  <a:srgbClr val="222B38"/>
                </a:solidFill>
                <a:latin typeface="Times New Roman" pitchFamily="34" charset="0"/>
                <a:ea typeface="Times New Roman" pitchFamily="34" charset="-122"/>
                <a:cs typeface="Times New Roman" pitchFamily="34" charset="-120"/>
              </a:rPr>
              <a:t>HOW ONE ENQUIRY IS SCORED</a:t>
            </a:r>
            <a:endParaRPr lang="en-US" sz="3200" dirty="0"/>
          </a:p>
        </p:txBody>
      </p:sp>
      <p:sp>
        <p:nvSpPr>
          <p:cNvPr id="3" name="Input box"/>
          <p:cNvSpPr/>
          <p:nvPr/>
        </p:nvSpPr>
        <p:spPr>
          <a:xfrm>
            <a:off x="457200" y="1188720"/>
            <a:ext cx="11274552" cy="777240"/>
          </a:xfrm>
          <a:prstGeom prst="roundRect">
            <a:avLst>
              <a:gd name="adj" fmla="val 7059"/>
            </a:avLst>
          </a:prstGeom>
          <a:solidFill>
            <a:srgbClr val="F3F5F8"/>
          </a:solidFill>
          <a:ln w="12700">
            <a:solidFill>
              <a:srgbClr val="B7C2D0"/>
            </a:solidFill>
            <a:prstDash val="solid"/>
          </a:ln>
        </p:spPr>
      </p:sp>
      <p:sp>
        <p:nvSpPr>
          <p:cNvPr id="4" name="Text 2"/>
          <p:cNvSpPr txBox="1"/>
          <p:nvPr/>
        </p:nvSpPr>
        <p:spPr>
          <a:xfrm>
            <a:off x="685800" y="1188720"/>
            <a:ext cx="10835640" cy="777240"/>
          </a:xfrm>
          <a:prstGeom prst="rect">
            <a:avLst/>
          </a:prstGeom>
          <a:noFill/>
          <a:ln/>
        </p:spPr>
        <p:txBody>
          <a:bodyPr wrap="square" lIns="0" tIns="0" rIns="0" bIns="0" rtlCol="0" anchor="ctr"/>
          <a:lstStyle/>
          <a:p>
            <a:pPr indent="0" marL="0">
              <a:buNone/>
            </a:pPr>
            <a:r>
              <a:rPr lang="en-US" sz="1500" b="1" dirty="0">
                <a:solidFill>
                  <a:schemeClr val="tx2"/>
                </a:solidFill>
              </a:rPr>
              <a:t>Input (WhatsApp):  </a:t>
            </a:r>
            <a:pPr indent="0" marL="0">
              <a:buNone/>
            </a:pPr>
            <a:r>
              <a:rPr lang="en-US" sz="1500" i="1" dirty="0">
                <a:solidFill>
                  <a:schemeClr val="tx1"/>
                </a:solidFill>
              </a:rPr>
              <a:t>"I need detail specfications and price of the car, I want to book this week"</a:t>
            </a:r>
            <a:pPr indent="0" marL="0">
              <a:buNone/>
            </a:pPr>
            <a:r>
              <a:rPr lang="en-US" sz="1500" dirty="0">
                <a:solidFill>
                  <a:srgbClr val="4F5A68"/>
                </a:solidFill>
              </a:rPr>
              <a:t>   ·  Working Professional · chose Hyundai Creta SX</a:t>
            </a:r>
            <a:endParaRPr lang="en-US" sz="1500" dirty="0"/>
          </a:p>
        </p:txBody>
      </p:sp>
      <p:sp>
        <p:nvSpPr>
          <p:cNvPr id="5" name="Step 1"/>
          <p:cNvSpPr/>
          <p:nvPr/>
        </p:nvSpPr>
        <p:spPr>
          <a:xfrm>
            <a:off x="548640" y="2267712"/>
            <a:ext cx="502920" cy="502920"/>
          </a:xfrm>
          <a:prstGeom prst="ellipse">
            <a:avLst/>
          </a:prstGeom>
          <a:solidFill>
            <a:schemeClr val="accent1"/>
          </a:solidFill>
          <a:ln w="12700">
            <a:solidFill>
              <a:schemeClr val="accent1"/>
            </a:solidFill>
            <a:prstDash val="solid"/>
          </a:ln>
        </p:spPr>
      </p:sp>
      <p:sp>
        <p:nvSpPr>
          <p:cNvPr id="6" name="Text 4"/>
          <p:cNvSpPr txBox="1"/>
          <p:nvPr/>
        </p:nvSpPr>
        <p:spPr>
          <a:xfrm>
            <a:off x="548640" y="2267712"/>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5"/>
          <p:cNvSpPr txBox="1"/>
          <p:nvPr/>
        </p:nvSpPr>
        <p:spPr>
          <a:xfrm>
            <a:off x="1234440" y="2194560"/>
            <a:ext cx="6035040" cy="658368"/>
          </a:xfrm>
          <a:prstGeom prst="rect">
            <a:avLst/>
          </a:prstGeom>
          <a:noFill/>
          <a:ln/>
        </p:spPr>
        <p:txBody>
          <a:bodyPr wrap="square" lIns="0" tIns="0" rIns="0" bIns="0" rtlCol="0" anchor="ctr"/>
          <a:lstStyle/>
          <a:p>
            <a:pPr indent="0" marL="0">
              <a:buNone/>
            </a:pPr>
            <a:r>
              <a:rPr lang="en-US" sz="1400" b="1" dirty="0">
                <a:solidFill>
                  <a:schemeClr val="tx2"/>
                </a:solidFill>
              </a:rPr>
              <a:t>Clean &amp; fix typos   </a:t>
            </a:r>
            <a:pPr indent="0" marL="0">
              <a:buNone/>
            </a:pPr>
            <a:r>
              <a:rPr lang="en-US" sz="1400" dirty="0">
                <a:solidFill>
                  <a:schemeClr val="tx1"/>
                </a:solidFill>
              </a:rPr>
              <a:t>"specfications" → specifications; fields mapped to the dataset's values</a:t>
            </a:r>
            <a:endParaRPr lang="en-US" sz="1400" dirty="0"/>
          </a:p>
        </p:txBody>
      </p:sp>
      <p:sp>
        <p:nvSpPr>
          <p:cNvPr id="8" name="Step 2"/>
          <p:cNvSpPr/>
          <p:nvPr/>
        </p:nvSpPr>
        <p:spPr>
          <a:xfrm>
            <a:off x="548640" y="3054096"/>
            <a:ext cx="502920" cy="502920"/>
          </a:xfrm>
          <a:prstGeom prst="ellipse">
            <a:avLst/>
          </a:prstGeom>
          <a:solidFill>
            <a:schemeClr val="accent2"/>
          </a:solidFill>
          <a:ln w="12700">
            <a:solidFill>
              <a:schemeClr val="accent2"/>
            </a:solidFill>
            <a:prstDash val="solid"/>
          </a:ln>
        </p:spPr>
      </p:sp>
      <p:sp>
        <p:nvSpPr>
          <p:cNvPr id="9" name="Text 7"/>
          <p:cNvSpPr txBox="1"/>
          <p:nvPr/>
        </p:nvSpPr>
        <p:spPr>
          <a:xfrm>
            <a:off x="548640" y="3054096"/>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0" name="Text 8"/>
          <p:cNvSpPr txBox="1"/>
          <p:nvPr/>
        </p:nvSpPr>
        <p:spPr>
          <a:xfrm>
            <a:off x="1234440" y="2980944"/>
            <a:ext cx="6035040" cy="658368"/>
          </a:xfrm>
          <a:prstGeom prst="rect">
            <a:avLst/>
          </a:prstGeom>
          <a:noFill/>
          <a:ln/>
        </p:spPr>
        <p:txBody>
          <a:bodyPr wrap="square" lIns="0" tIns="0" rIns="0" bIns="0" rtlCol="0" anchor="ctr"/>
          <a:lstStyle/>
          <a:p>
            <a:pPr indent="0" marL="0">
              <a:buNone/>
            </a:pPr>
            <a:r>
              <a:rPr lang="en-US" sz="1400" b="1" dirty="0">
                <a:solidFill>
                  <a:schemeClr val="tx2"/>
                </a:solidFill>
              </a:rPr>
              <a:t>ML profile chance   </a:t>
            </a:r>
            <a:pPr indent="0" marL="0">
              <a:buNone/>
            </a:pPr>
            <a:r>
              <a:rPr lang="en-US" sz="1400" dirty="0">
                <a:solidFill>
                  <a:schemeClr val="tx1"/>
                </a:solidFill>
              </a:rPr>
              <a:t>WhatsApp + Working Professional + chatted → 76%</a:t>
            </a:r>
            <a:endParaRPr lang="en-US" sz="1400" dirty="0"/>
          </a:p>
        </p:txBody>
      </p:sp>
      <p:sp>
        <p:nvSpPr>
          <p:cNvPr id="11" name="Step 3"/>
          <p:cNvSpPr/>
          <p:nvPr/>
        </p:nvSpPr>
        <p:spPr>
          <a:xfrm>
            <a:off x="548640" y="3840480"/>
            <a:ext cx="502920" cy="502920"/>
          </a:xfrm>
          <a:prstGeom prst="ellipse">
            <a:avLst/>
          </a:prstGeom>
          <a:solidFill>
            <a:schemeClr val="accent3"/>
          </a:solidFill>
          <a:ln w="12700">
            <a:solidFill>
              <a:schemeClr val="accent3"/>
            </a:solidFill>
            <a:prstDash val="solid"/>
          </a:ln>
        </p:spPr>
      </p:sp>
      <p:sp>
        <p:nvSpPr>
          <p:cNvPr id="12" name="Text 10"/>
          <p:cNvSpPr txBox="1"/>
          <p:nvPr/>
        </p:nvSpPr>
        <p:spPr>
          <a:xfrm>
            <a:off x="548640" y="384048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3" name="Text 11"/>
          <p:cNvSpPr txBox="1"/>
          <p:nvPr/>
        </p:nvSpPr>
        <p:spPr>
          <a:xfrm>
            <a:off x="1234440" y="3767328"/>
            <a:ext cx="6035040" cy="658368"/>
          </a:xfrm>
          <a:prstGeom prst="rect">
            <a:avLst/>
          </a:prstGeom>
          <a:noFill/>
          <a:ln/>
        </p:spPr>
        <p:txBody>
          <a:bodyPr wrap="square" lIns="0" tIns="0" rIns="0" bIns="0" rtlCol="0" anchor="ctr"/>
          <a:lstStyle/>
          <a:p>
            <a:pPr indent="0" marL="0">
              <a:buNone/>
            </a:pPr>
            <a:r>
              <a:rPr lang="en-US" sz="1400" b="1" dirty="0">
                <a:solidFill>
                  <a:schemeClr val="tx2"/>
                </a:solidFill>
              </a:rPr>
              <a:t>Buying signals   </a:t>
            </a:r>
            <a:pPr indent="0" marL="0">
              <a:buNone/>
            </a:pPr>
            <a:r>
              <a:rPr lang="en-US" sz="1400" dirty="0">
                <a:solidFill>
                  <a:schemeClr val="tx1"/>
                </a:solidFill>
              </a:rPr>
              <a:t>Wants to buy soon (× 2.5) · Asked about price (× 1.6) · product in list</a:t>
            </a:r>
            <a:endParaRPr lang="en-US" sz="1400" dirty="0"/>
          </a:p>
        </p:txBody>
      </p:sp>
      <p:sp>
        <p:nvSpPr>
          <p:cNvPr id="14" name="Step 4"/>
          <p:cNvSpPr/>
          <p:nvPr/>
        </p:nvSpPr>
        <p:spPr>
          <a:xfrm>
            <a:off x="548640" y="4626864"/>
            <a:ext cx="502920" cy="502920"/>
          </a:xfrm>
          <a:prstGeom prst="ellipse">
            <a:avLst/>
          </a:prstGeom>
          <a:solidFill>
            <a:schemeClr val="accent1"/>
          </a:solidFill>
          <a:ln w="12700">
            <a:solidFill>
              <a:schemeClr val="accent1"/>
            </a:solidFill>
            <a:prstDash val="solid"/>
          </a:ln>
        </p:spPr>
      </p:sp>
      <p:sp>
        <p:nvSpPr>
          <p:cNvPr id="15" name="Text 13"/>
          <p:cNvSpPr txBox="1"/>
          <p:nvPr/>
        </p:nvSpPr>
        <p:spPr>
          <a:xfrm>
            <a:off x="548640" y="4626864"/>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6" name="Text 14"/>
          <p:cNvSpPr txBox="1"/>
          <p:nvPr/>
        </p:nvSpPr>
        <p:spPr>
          <a:xfrm>
            <a:off x="1234440" y="4553712"/>
            <a:ext cx="6035040" cy="658368"/>
          </a:xfrm>
          <a:prstGeom prst="rect">
            <a:avLst/>
          </a:prstGeom>
          <a:noFill/>
          <a:ln/>
        </p:spPr>
        <p:txBody>
          <a:bodyPr wrap="square" lIns="0" tIns="0" rIns="0" bIns="0" rtlCol="0" anchor="ctr"/>
          <a:lstStyle/>
          <a:p>
            <a:pPr indent="0" marL="0">
              <a:buNone/>
            </a:pPr>
            <a:r>
              <a:rPr lang="en-US" sz="1400" b="1" dirty="0">
                <a:solidFill>
                  <a:schemeClr val="tx2"/>
                </a:solidFill>
              </a:rPr>
              <a:t>Combine in odds   </a:t>
            </a:r>
            <a:pPr indent="0" marL="0">
              <a:buNone/>
            </a:pPr>
            <a:r>
              <a:rPr lang="en-US" sz="1400" dirty="0">
                <a:solidFill>
                  <a:schemeClr val="tx1"/>
                </a:solidFill>
              </a:rPr>
              <a:t>76% → odds 3.17;  3.17 × 2.5 × 1.6 = 12.7 → 93%</a:t>
            </a:r>
            <a:endParaRPr lang="en-US" sz="1400" dirty="0"/>
          </a:p>
        </p:txBody>
      </p:sp>
      <p:sp>
        <p:nvSpPr>
          <p:cNvPr id="17" name="Step 5"/>
          <p:cNvSpPr/>
          <p:nvPr/>
        </p:nvSpPr>
        <p:spPr>
          <a:xfrm>
            <a:off x="548640" y="5413248"/>
            <a:ext cx="502920" cy="502920"/>
          </a:xfrm>
          <a:prstGeom prst="ellipse">
            <a:avLst/>
          </a:prstGeom>
          <a:solidFill>
            <a:schemeClr val="accent2"/>
          </a:solidFill>
          <a:ln w="12700">
            <a:solidFill>
              <a:schemeClr val="accent2"/>
            </a:solidFill>
            <a:prstDash val="solid"/>
          </a:ln>
        </p:spPr>
      </p:sp>
      <p:sp>
        <p:nvSpPr>
          <p:cNvPr id="18" name="Text 16"/>
          <p:cNvSpPr txBox="1"/>
          <p:nvPr/>
        </p:nvSpPr>
        <p:spPr>
          <a:xfrm>
            <a:off x="548640" y="5413248"/>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19" name="Text 17"/>
          <p:cNvSpPr txBox="1"/>
          <p:nvPr/>
        </p:nvSpPr>
        <p:spPr>
          <a:xfrm>
            <a:off x="1234440" y="5340096"/>
            <a:ext cx="6035040" cy="658368"/>
          </a:xfrm>
          <a:prstGeom prst="rect">
            <a:avLst/>
          </a:prstGeom>
          <a:noFill/>
          <a:ln/>
        </p:spPr>
        <p:txBody>
          <a:bodyPr wrap="square" lIns="0" tIns="0" rIns="0" bIns="0" rtlCol="0" anchor="ctr"/>
          <a:lstStyle/>
          <a:p>
            <a:pPr indent="0" marL="0">
              <a:buNone/>
            </a:pPr>
            <a:r>
              <a:rPr lang="en-US" sz="1400" b="1" dirty="0">
                <a:solidFill>
                  <a:schemeClr val="tx2"/>
                </a:solidFill>
              </a:rPr>
              <a:t>Priority &amp; action   </a:t>
            </a:r>
            <a:pPr indent="0" marL="0">
              <a:buNone/>
            </a:pPr>
            <a:r>
              <a:rPr lang="en-US" sz="1400" dirty="0">
                <a:solidFill>
                  <a:schemeClr val="tx1"/>
                </a:solidFill>
              </a:rPr>
              <a:t>93% ≥ 56% → HIGH; bot sends Creta price &amp; specs; draft ready</a:t>
            </a:r>
            <a:endParaRPr lang="en-US" sz="1400" dirty="0"/>
          </a:p>
        </p:txBody>
      </p:sp>
      <p:sp>
        <p:nvSpPr>
          <p:cNvPr id="20" name="Result card"/>
          <p:cNvSpPr/>
          <p:nvPr/>
        </p:nvSpPr>
        <p:spPr>
          <a:xfrm>
            <a:off x="7635240" y="2240280"/>
            <a:ext cx="4096512" cy="3749040"/>
          </a:xfrm>
          <a:prstGeom prst="roundRect">
            <a:avLst>
              <a:gd name="adj" fmla="val 1951"/>
            </a:avLst>
          </a:prstGeom>
          <a:solidFill>
            <a:schemeClr val="tx2"/>
          </a:solidFill>
          <a:ln w="12700">
            <a:solidFill>
              <a:schemeClr val="tx2"/>
            </a:solidFill>
            <a:prstDash val="solid"/>
          </a:ln>
        </p:spPr>
      </p:sp>
      <p:sp>
        <p:nvSpPr>
          <p:cNvPr id="21" name="Text 19"/>
          <p:cNvSpPr txBox="1"/>
          <p:nvPr/>
        </p:nvSpPr>
        <p:spPr>
          <a:xfrm>
            <a:off x="7863840" y="2377440"/>
            <a:ext cx="3657600" cy="365760"/>
          </a:xfrm>
          <a:prstGeom prst="rect">
            <a:avLst/>
          </a:prstGeom>
          <a:noFill/>
          <a:ln/>
        </p:spPr>
        <p:txBody>
          <a:bodyPr wrap="square" lIns="0" tIns="0" rIns="0" bIns="0" rtlCol="0" anchor="ctr"/>
          <a:lstStyle/>
          <a:p>
            <a:pPr algn="ctr" indent="0" marL="0">
              <a:buNone/>
            </a:pPr>
            <a:r>
              <a:rPr lang="en-US" sz="1400" dirty="0">
                <a:solidFill>
                  <a:srgbClr val="DBE6F3"/>
                </a:solidFill>
              </a:rPr>
              <a:t>Result on the dashboard</a:t>
            </a:r>
            <a:endParaRPr lang="en-US" sz="1400" dirty="0"/>
          </a:p>
        </p:txBody>
      </p:sp>
      <p:sp>
        <p:nvSpPr>
          <p:cNvPr id="22" name="Text 20"/>
          <p:cNvSpPr txBox="1"/>
          <p:nvPr/>
        </p:nvSpPr>
        <p:spPr>
          <a:xfrm>
            <a:off x="7863840" y="2788920"/>
            <a:ext cx="3657600" cy="1005840"/>
          </a:xfrm>
          <a:prstGeom prst="rect">
            <a:avLst/>
          </a:prstGeom>
          <a:noFill/>
          <a:ln/>
        </p:spPr>
        <p:txBody>
          <a:bodyPr wrap="square" lIns="0" tIns="0" rIns="0" bIns="0" rtlCol="0" anchor="ctr"/>
          <a:lstStyle/>
          <a:p>
            <a:pPr algn="ctr" indent="0" marL="0">
              <a:buNone/>
            </a:pPr>
            <a:r>
              <a:rPr lang="en-US" sz="6000" b="1" dirty="0">
                <a:solidFill>
                  <a:schemeClr val="bg1"/>
                </a:solidFill>
                <a:latin typeface="Arial" pitchFamily="34" charset="0"/>
                <a:ea typeface="Arial" pitchFamily="34" charset="-122"/>
                <a:cs typeface="Arial" pitchFamily="34" charset="-120"/>
              </a:rPr>
              <a:t>93%</a:t>
            </a:r>
            <a:endParaRPr lang="en-US" sz="6000" dirty="0"/>
          </a:p>
        </p:txBody>
      </p:sp>
      <p:sp>
        <p:nvSpPr>
          <p:cNvPr id="23" name="Text 21"/>
          <p:cNvSpPr txBox="1"/>
          <p:nvPr/>
        </p:nvSpPr>
        <p:spPr>
          <a:xfrm>
            <a:off x="7863840" y="3794760"/>
            <a:ext cx="3657600" cy="411480"/>
          </a:xfrm>
          <a:prstGeom prst="rect">
            <a:avLst/>
          </a:prstGeom>
          <a:noFill/>
          <a:ln/>
        </p:spPr>
        <p:txBody>
          <a:bodyPr wrap="square" lIns="0" tIns="0" rIns="0" bIns="0" rtlCol="0" anchor="ctr"/>
          <a:lstStyle/>
          <a:p>
            <a:pPr algn="ctr" indent="0" marL="0">
              <a:buNone/>
            </a:pPr>
            <a:r>
              <a:rPr lang="en-US" sz="1800" b="1" dirty="0">
                <a:solidFill>
                  <a:schemeClr val="accent4"/>
                </a:solidFill>
              </a:rPr>
              <a:t>HIGH priority</a:t>
            </a:r>
            <a:endParaRPr lang="en-US" sz="1800" dirty="0"/>
          </a:p>
        </p:txBody>
      </p:sp>
      <p:sp>
        <p:nvSpPr>
          <p:cNvPr id="24" name="Text 22"/>
          <p:cNvSpPr txBox="1"/>
          <p:nvPr/>
        </p:nvSpPr>
        <p:spPr>
          <a:xfrm>
            <a:off x="7863840" y="4297680"/>
            <a:ext cx="3657600" cy="365760"/>
          </a:xfrm>
          <a:prstGeom prst="rect">
            <a:avLst/>
          </a:prstGeom>
          <a:noFill/>
          <a:ln/>
        </p:spPr>
        <p:txBody>
          <a:bodyPr wrap="square" lIns="0" tIns="0" rIns="0" bIns="0" rtlCol="0" anchor="ctr"/>
          <a:lstStyle/>
          <a:p>
            <a:pPr algn="ctr" indent="0" marL="0">
              <a:buNone/>
            </a:pPr>
            <a:r>
              <a:rPr lang="en-US" sz="1350" dirty="0">
                <a:solidFill>
                  <a:schemeClr val="bg1"/>
                </a:solidFill>
              </a:rPr>
              <a:t>Profile 76%  +17% from the message</a:t>
            </a:r>
            <a:endParaRPr lang="en-US" sz="1350" dirty="0"/>
          </a:p>
        </p:txBody>
      </p:sp>
      <p:sp>
        <p:nvSpPr>
          <p:cNvPr id="25" name="Text 23"/>
          <p:cNvSpPr txBox="1"/>
          <p:nvPr/>
        </p:nvSpPr>
        <p:spPr>
          <a:xfrm>
            <a:off x="7909560" y="4800600"/>
            <a:ext cx="3566160" cy="1005840"/>
          </a:xfrm>
          <a:prstGeom prst="rect">
            <a:avLst/>
          </a:prstGeom>
          <a:noFill/>
          <a:ln/>
        </p:spPr>
        <p:txBody>
          <a:bodyPr wrap="square" lIns="0" tIns="0" rIns="0" bIns="0" rtlCol="0" anchor="ctr"/>
          <a:lstStyle/>
          <a:p>
            <a:pPr algn="ctr" indent="0" marL="0">
              <a:buNone/>
            </a:pPr>
            <a:r>
              <a:rPr lang="en-US" sz="1250" dirty="0">
                <a:solidFill>
                  <a:srgbClr val="DBE6F3"/>
                </a:solidFill>
              </a:rPr>
              <a:t>The same customer saying only "Hi" → 52% (MEDIUM). "Not interested" → LOW.</a:t>
            </a:r>
            <a:endParaRPr lang="en-US" sz="1250" dirty="0"/>
          </a:p>
        </p:txBody>
      </p:sp>
      <p:sp>
        <p:nvSpPr>
          <p:cNvPr id="25" name="Slide Number Placeholder 0"/>
          <p:cNvSpPr>
            <a:spLocks noGrp="1"/>
          </p:cNvSpPr>
          <p:nvPr>
            <p:ph type="sldNum" sz="quarter" idx="4294967295"/>
          </p:nvPr>
        </p:nvSpPr>
        <p:spPr>
          <a:xfrm>
            <a:off x="1127455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F5A68"/>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685800"/>
          </a:xfrm>
          <a:prstGeom prst="rect">
            <a:avLst/>
          </a:prstGeom>
          <a:noFill/>
          <a:ln/>
        </p:spPr>
        <p:txBody>
          <a:bodyPr wrap="square" lIns="0" tIns="0" rIns="0" bIns="0" rtlCol="0" anchor="ctr"/>
          <a:lstStyle/>
          <a:p>
            <a:pPr algn="ctr" indent="0" marL="0">
              <a:buNone/>
            </a:pPr>
            <a:r>
              <a:rPr lang="en-US" sz="3200" b="1" dirty="0">
                <a:solidFill>
                  <a:srgbClr val="222B38"/>
                </a:solidFill>
                <a:latin typeface="Times New Roman" pitchFamily="34" charset="0"/>
                <a:ea typeface="Times New Roman" pitchFamily="34" charset="-122"/>
                <a:cs typeface="Times New Roman" pitchFamily="34" charset="-120"/>
              </a:rPr>
              <a:t>ML MODEL &amp; RESULTS</a:t>
            </a:r>
            <a:endParaRPr lang="en-US" sz="3200" dirty="0"/>
          </a:p>
        </p:txBody>
      </p:sp>
      <p:sp>
        <p:nvSpPr>
          <p:cNvPr id="3" name="Text 1"/>
          <p:cNvSpPr txBox="1"/>
          <p:nvPr/>
        </p:nvSpPr>
        <p:spPr>
          <a:xfrm>
            <a:off x="457200" y="1051560"/>
            <a:ext cx="11274552" cy="365760"/>
          </a:xfrm>
          <a:prstGeom prst="rect">
            <a:avLst/>
          </a:prstGeom>
          <a:noFill/>
          <a:ln/>
        </p:spPr>
        <p:txBody>
          <a:bodyPr wrap="square" lIns="0" tIns="0" rIns="0" bIns="0" rtlCol="0" anchor="ctr"/>
          <a:lstStyle/>
          <a:p>
            <a:pPr algn="ctr" indent="0" marL="0">
              <a:buNone/>
            </a:pPr>
            <a:r>
              <a:rPr lang="en-US" sz="1400" i="1" dirty="0">
                <a:solidFill>
                  <a:srgbClr val="4F5A68"/>
                </a:solidFill>
              </a:rPr>
              <a:t>Calibrated, monotonic gradient boosting · tested on 1,848 leads never used for training</a:t>
            </a:r>
            <a:endParaRPr lang="en-US" sz="1400" dirty="0"/>
          </a:p>
        </p:txBody>
      </p:sp>
      <p:sp>
        <p:nvSpPr>
          <p:cNvPr id="4" name="Accuracy"/>
          <p:cNvSpPr/>
          <p:nvPr/>
        </p:nvSpPr>
        <p:spPr>
          <a:xfrm>
            <a:off x="457200" y="1600200"/>
            <a:ext cx="2651760" cy="1600200"/>
          </a:xfrm>
          <a:prstGeom prst="roundRect">
            <a:avLst>
              <a:gd name="adj" fmla="val 3429"/>
            </a:avLst>
          </a:prstGeom>
          <a:solidFill>
            <a:schemeClr val="bg2"/>
          </a:solidFill>
          <a:ln w="12700">
            <a:solidFill>
              <a:srgbClr val="9DB7D9"/>
            </a:solidFill>
            <a:prstDash val="solid"/>
          </a:ln>
        </p:spPr>
      </p:sp>
      <p:sp>
        <p:nvSpPr>
          <p:cNvPr id="5" name="Text 3"/>
          <p:cNvSpPr txBox="1"/>
          <p:nvPr/>
        </p:nvSpPr>
        <p:spPr>
          <a:xfrm>
            <a:off x="457200" y="1691640"/>
            <a:ext cx="2651760" cy="731520"/>
          </a:xfrm>
          <a:prstGeom prst="rect">
            <a:avLst/>
          </a:prstGeom>
          <a:noFill/>
          <a:ln/>
        </p:spPr>
        <p:txBody>
          <a:bodyPr wrap="square" lIns="0" tIns="0" rIns="0" bIns="0" rtlCol="0" anchor="ctr"/>
          <a:lstStyle/>
          <a:p>
            <a:pPr algn="ctr" indent="0" marL="0">
              <a:buNone/>
            </a:pPr>
            <a:r>
              <a:rPr lang="en-US" sz="3800" b="1" dirty="0">
                <a:solidFill>
                  <a:schemeClr val="accent1"/>
                </a:solidFill>
                <a:latin typeface="Arial" pitchFamily="34" charset="0"/>
                <a:ea typeface="Arial" pitchFamily="34" charset="-122"/>
                <a:cs typeface="Arial" pitchFamily="34" charset="-120"/>
              </a:rPr>
              <a:t>81.5%</a:t>
            </a:r>
            <a:endParaRPr lang="en-US" sz="3800" dirty="0"/>
          </a:p>
        </p:txBody>
      </p:sp>
      <p:sp>
        <p:nvSpPr>
          <p:cNvPr id="6" name="Text 4"/>
          <p:cNvSpPr txBox="1"/>
          <p:nvPr/>
        </p:nvSpPr>
        <p:spPr>
          <a:xfrm>
            <a:off x="548640" y="2423160"/>
            <a:ext cx="2468880" cy="685800"/>
          </a:xfrm>
          <a:prstGeom prst="rect">
            <a:avLst/>
          </a:prstGeom>
          <a:noFill/>
          <a:ln/>
        </p:spPr>
        <p:txBody>
          <a:bodyPr wrap="square" lIns="0" tIns="0" rIns="0" bIns="0" rtlCol="0" anchor="ctr"/>
          <a:lstStyle/>
          <a:p>
            <a:pPr algn="ctr" indent="0" marL="0">
              <a:buNone/>
            </a:pPr>
            <a:r>
              <a:rPr lang="en-US" sz="1400" b="1" dirty="0">
                <a:solidFill>
                  <a:schemeClr val="tx1"/>
                </a:solidFill>
              </a:rPr>
              <a:t>Accuracy</a:t>
            </a:r>
            <a:endParaRPr lang="en-US" sz="1400" dirty="0"/>
          </a:p>
          <a:p>
            <a:pPr algn="ctr" indent="0" marL="0">
              <a:buNone/>
            </a:pPr>
            <a:r>
              <a:rPr lang="en-US" sz="1150" dirty="0">
                <a:solidFill>
                  <a:srgbClr val="4F5A68"/>
                </a:solidFill>
              </a:rPr>
              <a:t>correct buy / not-buy calls</a:t>
            </a:r>
            <a:endParaRPr lang="en-US" sz="1400" dirty="0"/>
          </a:p>
        </p:txBody>
      </p:sp>
      <p:sp>
        <p:nvSpPr>
          <p:cNvPr id="7" name="Recall"/>
          <p:cNvSpPr/>
          <p:nvPr/>
        </p:nvSpPr>
        <p:spPr>
          <a:xfrm>
            <a:off x="3291840" y="1600200"/>
            <a:ext cx="2651760" cy="1600200"/>
          </a:xfrm>
          <a:prstGeom prst="roundRect">
            <a:avLst>
              <a:gd name="adj" fmla="val 3429"/>
            </a:avLst>
          </a:prstGeom>
          <a:solidFill>
            <a:schemeClr val="accent5"/>
          </a:solidFill>
          <a:ln w="12700">
            <a:solidFill>
              <a:srgbClr val="9CCBAE"/>
            </a:solidFill>
            <a:prstDash val="solid"/>
          </a:ln>
        </p:spPr>
      </p:sp>
      <p:sp>
        <p:nvSpPr>
          <p:cNvPr id="8" name="Text 6"/>
          <p:cNvSpPr txBox="1"/>
          <p:nvPr/>
        </p:nvSpPr>
        <p:spPr>
          <a:xfrm>
            <a:off x="3291840" y="1691640"/>
            <a:ext cx="2651760" cy="731520"/>
          </a:xfrm>
          <a:prstGeom prst="rect">
            <a:avLst/>
          </a:prstGeom>
          <a:noFill/>
          <a:ln/>
        </p:spPr>
        <p:txBody>
          <a:bodyPr wrap="square" lIns="0" tIns="0" rIns="0" bIns="0" rtlCol="0" anchor="ctr"/>
          <a:lstStyle/>
          <a:p>
            <a:pPr algn="ctr" indent="0" marL="0">
              <a:buNone/>
            </a:pPr>
            <a:r>
              <a:rPr lang="en-US" sz="3800" b="1" dirty="0">
                <a:solidFill>
                  <a:schemeClr val="accent2"/>
                </a:solidFill>
                <a:latin typeface="Arial" pitchFamily="34" charset="0"/>
                <a:ea typeface="Arial" pitchFamily="34" charset="-122"/>
                <a:cs typeface="Arial" pitchFamily="34" charset="-120"/>
              </a:rPr>
              <a:t>83.7%</a:t>
            </a:r>
            <a:endParaRPr lang="en-US" sz="3800" dirty="0"/>
          </a:p>
        </p:txBody>
      </p:sp>
      <p:sp>
        <p:nvSpPr>
          <p:cNvPr id="9" name="Text 7"/>
          <p:cNvSpPr txBox="1"/>
          <p:nvPr/>
        </p:nvSpPr>
        <p:spPr>
          <a:xfrm>
            <a:off x="3383280" y="2423160"/>
            <a:ext cx="2468880" cy="685800"/>
          </a:xfrm>
          <a:prstGeom prst="rect">
            <a:avLst/>
          </a:prstGeom>
          <a:noFill/>
          <a:ln/>
        </p:spPr>
        <p:txBody>
          <a:bodyPr wrap="square" lIns="0" tIns="0" rIns="0" bIns="0" rtlCol="0" anchor="ctr"/>
          <a:lstStyle/>
          <a:p>
            <a:pPr algn="ctr" indent="0" marL="0">
              <a:buNone/>
            </a:pPr>
            <a:r>
              <a:rPr lang="en-US" sz="1400" b="1" dirty="0">
                <a:solidFill>
                  <a:schemeClr val="tx1"/>
                </a:solidFill>
              </a:rPr>
              <a:t>Recall</a:t>
            </a:r>
            <a:endParaRPr lang="en-US" sz="1400" dirty="0"/>
          </a:p>
          <a:p>
            <a:pPr algn="ctr" indent="0" marL="0">
              <a:buNone/>
            </a:pPr>
            <a:r>
              <a:rPr lang="en-US" sz="1150" dirty="0">
                <a:solidFill>
                  <a:srgbClr val="4F5A68"/>
                </a:solidFill>
              </a:rPr>
              <a:t>of real buyers were flagged</a:t>
            </a:r>
            <a:endParaRPr lang="en-US" sz="1400" dirty="0"/>
          </a:p>
        </p:txBody>
      </p:sp>
      <p:sp>
        <p:nvSpPr>
          <p:cNvPr id="10" name="HIGH were right"/>
          <p:cNvSpPr/>
          <p:nvPr/>
        </p:nvSpPr>
        <p:spPr>
          <a:xfrm>
            <a:off x="6126480" y="1600200"/>
            <a:ext cx="2651760" cy="1600200"/>
          </a:xfrm>
          <a:prstGeom prst="roundRect">
            <a:avLst>
              <a:gd name="adj" fmla="val 3429"/>
            </a:avLst>
          </a:prstGeom>
          <a:solidFill>
            <a:schemeClr val="accent6"/>
          </a:solidFill>
          <a:ln w="12700">
            <a:solidFill>
              <a:srgbClr val="EBB98F"/>
            </a:solidFill>
            <a:prstDash val="solid"/>
          </a:ln>
        </p:spPr>
      </p:sp>
      <p:sp>
        <p:nvSpPr>
          <p:cNvPr id="11" name="Text 9"/>
          <p:cNvSpPr txBox="1"/>
          <p:nvPr/>
        </p:nvSpPr>
        <p:spPr>
          <a:xfrm>
            <a:off x="6126480" y="1691640"/>
            <a:ext cx="2651760" cy="731520"/>
          </a:xfrm>
          <a:prstGeom prst="rect">
            <a:avLst/>
          </a:prstGeom>
          <a:noFill/>
          <a:ln/>
        </p:spPr>
        <p:txBody>
          <a:bodyPr wrap="square" lIns="0" tIns="0" rIns="0" bIns="0" rtlCol="0" anchor="ctr"/>
          <a:lstStyle/>
          <a:p>
            <a:pPr algn="ctr" indent="0" marL="0">
              <a:buNone/>
            </a:pPr>
            <a:r>
              <a:rPr lang="en-US" sz="3800" b="1" dirty="0">
                <a:solidFill>
                  <a:schemeClr val="accent3"/>
                </a:solidFill>
                <a:latin typeface="Arial" pitchFamily="34" charset="0"/>
                <a:ea typeface="Arial" pitchFamily="34" charset="-122"/>
                <a:cs typeface="Arial" pitchFamily="34" charset="-120"/>
              </a:rPr>
              <a:t>79.5%</a:t>
            </a:r>
            <a:endParaRPr lang="en-US" sz="3800" dirty="0"/>
          </a:p>
        </p:txBody>
      </p:sp>
      <p:sp>
        <p:nvSpPr>
          <p:cNvPr id="12" name="Text 10"/>
          <p:cNvSpPr txBox="1"/>
          <p:nvPr/>
        </p:nvSpPr>
        <p:spPr>
          <a:xfrm>
            <a:off x="6217920" y="2423160"/>
            <a:ext cx="2468880" cy="685800"/>
          </a:xfrm>
          <a:prstGeom prst="rect">
            <a:avLst/>
          </a:prstGeom>
          <a:noFill/>
          <a:ln/>
        </p:spPr>
        <p:txBody>
          <a:bodyPr wrap="square" lIns="0" tIns="0" rIns="0" bIns="0" rtlCol="0" anchor="ctr"/>
          <a:lstStyle/>
          <a:p>
            <a:pPr algn="ctr" indent="0" marL="0">
              <a:buNone/>
            </a:pPr>
            <a:r>
              <a:rPr lang="en-US" sz="1400" b="1" dirty="0">
                <a:solidFill>
                  <a:schemeClr val="tx1"/>
                </a:solidFill>
              </a:rPr>
              <a:t>HIGH were right</a:t>
            </a:r>
            <a:endParaRPr lang="en-US" sz="1400" dirty="0"/>
          </a:p>
          <a:p>
            <a:pPr algn="ctr" indent="0" marL="0">
              <a:buNone/>
            </a:pPr>
            <a:r>
              <a:rPr lang="en-US" sz="1150" dirty="0">
                <a:solidFill>
                  <a:srgbClr val="4F5A68"/>
                </a:solidFill>
              </a:rPr>
              <a:t>HIGH leads that really bought</a:t>
            </a:r>
            <a:endParaRPr lang="en-US" sz="1400" dirty="0"/>
          </a:p>
        </p:txBody>
      </p:sp>
      <p:sp>
        <p:nvSpPr>
          <p:cNvPr id="13" name="F1-score"/>
          <p:cNvSpPr/>
          <p:nvPr/>
        </p:nvSpPr>
        <p:spPr>
          <a:xfrm>
            <a:off x="8961120" y="1600200"/>
            <a:ext cx="2651760" cy="1600200"/>
          </a:xfrm>
          <a:prstGeom prst="roundRect">
            <a:avLst>
              <a:gd name="adj" fmla="val 3429"/>
            </a:avLst>
          </a:prstGeom>
          <a:solidFill>
            <a:srgbClr val="F3F5F8"/>
          </a:solidFill>
          <a:ln w="12700">
            <a:solidFill>
              <a:srgbClr val="B7C2D0"/>
            </a:solidFill>
            <a:prstDash val="solid"/>
          </a:ln>
        </p:spPr>
      </p:sp>
      <p:sp>
        <p:nvSpPr>
          <p:cNvPr id="14" name="Text 12"/>
          <p:cNvSpPr txBox="1"/>
          <p:nvPr/>
        </p:nvSpPr>
        <p:spPr>
          <a:xfrm>
            <a:off x="8961120" y="1691640"/>
            <a:ext cx="2651760" cy="731520"/>
          </a:xfrm>
          <a:prstGeom prst="rect">
            <a:avLst/>
          </a:prstGeom>
          <a:noFill/>
          <a:ln/>
        </p:spPr>
        <p:txBody>
          <a:bodyPr wrap="square" lIns="0" tIns="0" rIns="0" bIns="0" rtlCol="0" anchor="ctr"/>
          <a:lstStyle/>
          <a:p>
            <a:pPr algn="ctr" indent="0" marL="0">
              <a:buNone/>
            </a:pPr>
            <a:r>
              <a:rPr lang="en-US" sz="3800" b="1" dirty="0">
                <a:solidFill>
                  <a:schemeClr val="tx2"/>
                </a:solidFill>
                <a:latin typeface="Arial" pitchFamily="34" charset="0"/>
                <a:ea typeface="Arial" pitchFamily="34" charset="-122"/>
                <a:cs typeface="Arial" pitchFamily="34" charset="-120"/>
              </a:rPr>
              <a:t>0.778</a:t>
            </a:r>
            <a:endParaRPr lang="en-US" sz="3800" dirty="0"/>
          </a:p>
        </p:txBody>
      </p:sp>
      <p:sp>
        <p:nvSpPr>
          <p:cNvPr id="15" name="Text 13"/>
          <p:cNvSpPr txBox="1"/>
          <p:nvPr/>
        </p:nvSpPr>
        <p:spPr>
          <a:xfrm>
            <a:off x="9052560" y="2423160"/>
            <a:ext cx="2468880" cy="685800"/>
          </a:xfrm>
          <a:prstGeom prst="rect">
            <a:avLst/>
          </a:prstGeom>
          <a:noFill/>
          <a:ln/>
        </p:spPr>
        <p:txBody>
          <a:bodyPr wrap="square" lIns="0" tIns="0" rIns="0" bIns="0" rtlCol="0" anchor="ctr"/>
          <a:lstStyle/>
          <a:p>
            <a:pPr algn="ctr" indent="0" marL="0">
              <a:buNone/>
            </a:pPr>
            <a:r>
              <a:rPr lang="en-US" sz="1400" b="1" dirty="0">
                <a:solidFill>
                  <a:schemeClr val="tx1"/>
                </a:solidFill>
              </a:rPr>
              <a:t>F1-score</a:t>
            </a:r>
            <a:endParaRPr lang="en-US" sz="1400" dirty="0"/>
          </a:p>
          <a:p>
            <a:pPr algn="ctr" indent="0" marL="0">
              <a:buNone/>
            </a:pPr>
            <a:r>
              <a:rPr lang="en-US" sz="1150" dirty="0">
                <a:solidFill>
                  <a:srgbClr val="4F5A68"/>
                </a:solidFill>
              </a:rPr>
              <a:t>balance of precision &amp; recall</a:t>
            </a:r>
            <a:endParaRPr lang="en-US" sz="1400" dirty="0"/>
          </a:p>
        </p:txBody>
      </p:sp>
      <p:graphicFrame>
        <p:nvGraphicFramePr>
          <p:cNvPr id="16" name="Importance chart" descr=""/>
          <p:cNvGraphicFramePr/>
          <p:nvPr/>
        </p:nvGraphicFramePr>
        <p:xfrm>
          <a:off x="457200" y="3429000"/>
          <a:ext cx="6035040" cy="2926080"/>
        </p:xfrm>
        <a:graphic xmlns:a="http://schemas.openxmlformats.org/drawingml/2006/main">
          <a:graphicData uri="http://schemas.openxmlformats.org/drawingml/2006/chart">
            <c:chart xmlns:c="http://schemas.openxmlformats.org/drawingml/2006/chart" r:id="rId1"/>
          </a:graphicData>
        </a:graphic>
      </p:graphicFrame>
      <p:sp>
        <p:nvSpPr>
          <p:cNvPr id="17" name="Choices box"/>
          <p:cNvSpPr/>
          <p:nvPr/>
        </p:nvSpPr>
        <p:spPr>
          <a:xfrm>
            <a:off x="6766560" y="3474720"/>
            <a:ext cx="4965192" cy="2834640"/>
          </a:xfrm>
          <a:prstGeom prst="roundRect">
            <a:avLst>
              <a:gd name="adj" fmla="val 1935"/>
            </a:avLst>
          </a:prstGeom>
          <a:solidFill>
            <a:srgbClr val="FFFFFF"/>
          </a:solidFill>
          <a:ln w="12700">
            <a:solidFill>
              <a:srgbClr val="B7C2D0"/>
            </a:solidFill>
            <a:prstDash val="solid"/>
          </a:ln>
        </p:spPr>
      </p:sp>
      <p:sp>
        <p:nvSpPr>
          <p:cNvPr id="18" name="Text 15"/>
          <p:cNvSpPr txBox="1"/>
          <p:nvPr/>
        </p:nvSpPr>
        <p:spPr>
          <a:xfrm>
            <a:off x="6995160" y="3566160"/>
            <a:ext cx="4572000" cy="365760"/>
          </a:xfrm>
          <a:prstGeom prst="rect">
            <a:avLst/>
          </a:prstGeom>
          <a:noFill/>
          <a:ln/>
        </p:spPr>
        <p:txBody>
          <a:bodyPr wrap="square" lIns="0" tIns="0" rIns="0" bIns="0" rtlCol="0" anchor="ctr"/>
          <a:lstStyle/>
          <a:p>
            <a:pPr indent="0" marL="0">
              <a:buNone/>
            </a:pPr>
            <a:r>
              <a:rPr lang="en-US" sz="1450" b="1" dirty="0">
                <a:solidFill>
                  <a:schemeClr val="tx2"/>
                </a:solidFill>
              </a:rPr>
              <a:t>Design choices that keep it honest</a:t>
            </a:r>
            <a:endParaRPr lang="en-US" sz="1450" dirty="0"/>
          </a:p>
        </p:txBody>
      </p:sp>
      <p:sp>
        <p:nvSpPr>
          <p:cNvPr id="19" name="Text 16"/>
          <p:cNvSpPr txBox="1"/>
          <p:nvPr/>
        </p:nvSpPr>
        <p:spPr>
          <a:xfrm>
            <a:off x="6995160" y="3977640"/>
            <a:ext cx="4572000" cy="22402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Leakage removed: Tags, Lead Quality (written after the sale)</a:t>
            </a:r>
            <a:endParaRPr lang="en-US" sz="1300" dirty="0"/>
          </a:p>
          <a:p>
            <a:pPr marL="342900" indent="-342900">
              <a:spcAft>
                <a:spcPts val="600"/>
              </a:spcAft>
              <a:buSzPct val="100000"/>
              <a:buChar char="•"/>
            </a:pPr>
            <a:r>
              <a:rPr lang="en-US" sz="1300" dirty="0">
                <a:solidFill>
                  <a:schemeClr val="tx1"/>
                </a:solidFill>
              </a:rPr>
              <a:t>Only 6 inputs a real form can fill</a:t>
            </a:r>
            <a:endParaRPr lang="en-US" sz="1300" dirty="0"/>
          </a:p>
          <a:p>
            <a:pPr marL="342900" indent="-342900">
              <a:spcAft>
                <a:spcPts val="600"/>
              </a:spcAft>
              <a:buSzPct val="100000"/>
              <a:buChar char="•"/>
            </a:pPr>
            <a:r>
              <a:rPr lang="en-US" sz="1300" dirty="0">
                <a:solidFill>
                  <a:schemeClr val="tx1"/>
                </a:solidFill>
              </a:rPr>
              <a:t>More time / visits never lowers the score</a:t>
            </a:r>
            <a:endParaRPr lang="en-US" sz="1300" dirty="0"/>
          </a:p>
          <a:p>
            <a:pPr marL="342900" indent="-342900">
              <a:spcAft>
                <a:spcPts val="600"/>
              </a:spcAft>
              <a:buSzPct val="100000"/>
              <a:buChar char="•"/>
            </a:pPr>
            <a:r>
              <a:rPr lang="en-US" sz="1300" dirty="0">
                <a:solidFill>
                  <a:schemeClr val="tx1"/>
                </a:solidFill>
              </a:rPr>
              <a:t>Calibrated: "60%" ≈ 60 of 100 such leads buy</a:t>
            </a:r>
            <a:endParaRPr lang="en-US" sz="1300" dirty="0"/>
          </a:p>
          <a:p>
            <a:pPr marL="342900" indent="-342900">
              <a:spcAft>
                <a:spcPts val="600"/>
              </a:spcAft>
              <a:buSzPct val="100000"/>
              <a:buChar char="•"/>
            </a:pPr>
            <a:r>
              <a:rPr lang="en-US" sz="1300" dirty="0">
                <a:solidFill>
                  <a:schemeClr val="tx1"/>
                </a:solidFill>
              </a:rPr>
              <a:t>Cut-offs learned: MEDIUM 40%, HIGH 56%</a:t>
            </a:r>
            <a:endParaRPr lang="en-US" sz="1300" dirty="0"/>
          </a:p>
        </p:txBody>
      </p:sp>
      <p:sp>
        <p:nvSpPr>
          <p:cNvPr id="25" name="Slide Number Placeholder 0"/>
          <p:cNvSpPr>
            <a:spLocks noGrp="1"/>
          </p:cNvSpPr>
          <p:nvPr>
            <p:ph type="sldNum" sz="quarter" idx="4294967295"/>
          </p:nvPr>
        </p:nvSpPr>
        <p:spPr>
          <a:xfrm>
            <a:off x="1127455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F5A68"/>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685800"/>
          </a:xfrm>
          <a:prstGeom prst="rect">
            <a:avLst/>
          </a:prstGeom>
          <a:noFill/>
          <a:ln/>
        </p:spPr>
        <p:txBody>
          <a:bodyPr wrap="square" lIns="0" tIns="0" rIns="0" bIns="0" rtlCol="0" anchor="ctr"/>
          <a:lstStyle/>
          <a:p>
            <a:pPr algn="ctr" indent="0" marL="0">
              <a:buNone/>
            </a:pPr>
            <a:r>
              <a:rPr lang="en-US" sz="3200" b="1" dirty="0">
                <a:solidFill>
                  <a:srgbClr val="222B38"/>
                </a:solidFill>
                <a:latin typeface="Times New Roman" pitchFamily="34" charset="0"/>
                <a:ea typeface="Times New Roman" pitchFamily="34" charset="-122"/>
                <a:cs typeface="Times New Roman" pitchFamily="34" charset="-120"/>
              </a:rPr>
              <a:t>UI DESIGN</a:t>
            </a:r>
            <a:endParaRPr lang="en-US" sz="3200" dirty="0"/>
          </a:p>
        </p:txBody>
      </p:sp>
      <p:sp>
        <p:nvSpPr>
          <p:cNvPr id="3" name="Screenshot frame"/>
          <p:cNvSpPr/>
          <p:nvPr/>
        </p:nvSpPr>
        <p:spPr>
          <a:xfrm>
            <a:off x="429768" y="1161288"/>
            <a:ext cx="4809744" cy="3858768"/>
          </a:xfrm>
          <a:prstGeom prst="rect">
            <a:avLst/>
          </a:prstGeom>
          <a:solidFill>
            <a:srgbClr val="FFFFFF"/>
          </a:solidFill>
          <a:ln w="9525">
            <a:solidFill>
              <a:srgbClr val="B7C2D0"/>
            </a:solidFill>
            <a:prstDash val="solid"/>
          </a:ln>
          <a:effectLst>
            <a:outerShdw sx="100000" sy="100000" kx="0" ky="0" algn="bl" rotWithShape="0" blurRad="76200" dist="25400" dir="5400000">
              <a:srgbClr val="9AA6B5">
                <a:alpha val="40000"/>
              </a:srgbClr>
            </a:outerShdw>
          </a:effectLst>
        </p:spPr>
      </p:sp>
      <p:pic>
        <p:nvPicPr>
          <p:cNvPr id="4" name="Image 0" descr="Onboarding step 2: products and services form">    </p:cNvPr>
          <p:cNvPicPr>
            <a:picLocks noChangeAspect="1"/>
          </p:cNvPicPr>
          <p:nvPr/>
        </p:nvPicPr>
        <p:blipFill>
          <a:blip r:embed="rId1"/>
          <a:stretch>
            <a:fillRect/>
          </a:stretch>
        </p:blipFill>
        <p:spPr>
          <a:xfrm>
            <a:off x="457200" y="1188720"/>
            <a:ext cx="4754880" cy="3803904"/>
          </a:xfrm>
          <a:prstGeom prst="rect">
            <a:avLst/>
          </a:prstGeom>
        </p:spPr>
      </p:pic>
      <p:sp>
        <p:nvSpPr>
          <p:cNvPr id="5" name="Text 2"/>
          <p:cNvSpPr txBox="1"/>
          <p:nvPr/>
        </p:nvSpPr>
        <p:spPr>
          <a:xfrm>
            <a:off x="457200" y="5084064"/>
            <a:ext cx="4754880" cy="292608"/>
          </a:xfrm>
          <a:prstGeom prst="rect">
            <a:avLst/>
          </a:prstGeom>
          <a:noFill/>
          <a:ln/>
        </p:spPr>
        <p:txBody>
          <a:bodyPr wrap="square" lIns="0" tIns="0" rIns="0" bIns="0" rtlCol="0" anchor="ctr"/>
          <a:lstStyle/>
          <a:p>
            <a:pPr algn="ctr" indent="0" marL="0">
              <a:buNone/>
            </a:pPr>
            <a:r>
              <a:rPr lang="en-US" sz="1200" i="1" dirty="0">
                <a:solidFill>
                  <a:srgbClr val="4F5A68"/>
                </a:solidFill>
              </a:rPr>
              <a:t>First visit: 4-step business setup (products shown)</a:t>
            </a:r>
            <a:endParaRPr lang="en-US" sz="1200" dirty="0"/>
          </a:p>
        </p:txBody>
      </p:sp>
      <p:sp>
        <p:nvSpPr>
          <p:cNvPr id="6" name="Screenshot frame"/>
          <p:cNvSpPr/>
          <p:nvPr/>
        </p:nvSpPr>
        <p:spPr>
          <a:xfrm>
            <a:off x="5413248" y="1161288"/>
            <a:ext cx="6345936" cy="3812032"/>
          </a:xfrm>
          <a:prstGeom prst="rect">
            <a:avLst/>
          </a:prstGeom>
          <a:solidFill>
            <a:srgbClr val="FFFFFF"/>
          </a:solidFill>
          <a:ln w="9525">
            <a:solidFill>
              <a:srgbClr val="B7C2D0"/>
            </a:solidFill>
            <a:prstDash val="solid"/>
          </a:ln>
          <a:effectLst>
            <a:outerShdw sx="100000" sy="100000" kx="0" ky="0" algn="bl" rotWithShape="0" blurRad="76200" dist="25400" dir="5400000">
              <a:srgbClr val="9AA6B5">
                <a:alpha val="40000"/>
              </a:srgbClr>
            </a:outerShdw>
          </a:effectLst>
        </p:spPr>
      </p:sp>
      <p:pic>
        <p:nvPicPr>
          <p:cNvPr id="7" name="Image 1" descr="My Business page with editable sections">    </p:cNvPr>
          <p:cNvPicPr>
            <a:picLocks noChangeAspect="1"/>
          </p:cNvPicPr>
          <p:nvPr/>
        </p:nvPicPr>
        <p:blipFill>
          <a:blip r:embed="rId2"/>
          <a:stretch>
            <a:fillRect/>
          </a:stretch>
        </p:blipFill>
        <p:spPr>
          <a:xfrm>
            <a:off x="5440680" y="1188720"/>
            <a:ext cx="6291072" cy="3757168"/>
          </a:xfrm>
          <a:prstGeom prst="rect">
            <a:avLst/>
          </a:prstGeom>
        </p:spPr>
      </p:pic>
      <p:sp>
        <p:nvSpPr>
          <p:cNvPr id="8" name="Text 4"/>
          <p:cNvSpPr txBox="1"/>
          <p:nvPr/>
        </p:nvSpPr>
        <p:spPr>
          <a:xfrm>
            <a:off x="5440680" y="5037328"/>
            <a:ext cx="6291072" cy="292608"/>
          </a:xfrm>
          <a:prstGeom prst="rect">
            <a:avLst/>
          </a:prstGeom>
          <a:noFill/>
          <a:ln/>
        </p:spPr>
        <p:txBody>
          <a:bodyPr wrap="square" lIns="0" tIns="0" rIns="0" bIns="0" rtlCol="0" anchor="ctr"/>
          <a:lstStyle/>
          <a:p>
            <a:pPr algn="ctr" indent="0" marL="0">
              <a:buNone/>
            </a:pPr>
            <a:r>
              <a:rPr lang="en-US" sz="1200" i="1" dirty="0">
                <a:solidFill>
                  <a:srgbClr val="4F5A68"/>
                </a:solidFill>
              </a:rPr>
              <a:t>My Business: read-only overview, Edit per section, name &amp; type locked</a:t>
            </a:r>
            <a:endParaRPr lang="en-US" sz="1200" dirty="0"/>
          </a:p>
        </p:txBody>
      </p:sp>
      <p:sp>
        <p:nvSpPr>
          <p:cNvPr id="9" name="UI notes"/>
          <p:cNvSpPr/>
          <p:nvPr/>
        </p:nvSpPr>
        <p:spPr>
          <a:xfrm>
            <a:off x="5440680" y="5440680"/>
            <a:ext cx="6291072" cy="822960"/>
          </a:xfrm>
          <a:prstGeom prst="roundRect">
            <a:avLst>
              <a:gd name="adj" fmla="val 6667"/>
            </a:avLst>
          </a:prstGeom>
          <a:solidFill>
            <a:schemeClr val="bg2"/>
          </a:solidFill>
          <a:ln w="12700">
            <a:solidFill>
              <a:srgbClr val="9DB7D9"/>
            </a:solidFill>
            <a:prstDash val="solid"/>
          </a:ln>
        </p:spPr>
      </p:sp>
      <p:sp>
        <p:nvSpPr>
          <p:cNvPr id="10" name="Text 6"/>
          <p:cNvSpPr txBox="1"/>
          <p:nvPr/>
        </p:nvSpPr>
        <p:spPr>
          <a:xfrm>
            <a:off x="5623560" y="5440680"/>
            <a:ext cx="5943600" cy="822960"/>
          </a:xfrm>
          <a:prstGeom prst="rect">
            <a:avLst/>
          </a:prstGeom>
          <a:noFill/>
          <a:ln/>
        </p:spPr>
        <p:txBody>
          <a:bodyPr wrap="square" lIns="0" tIns="0" rIns="0" bIns="0" rtlCol="0" anchor="ctr"/>
          <a:lstStyle/>
          <a:p>
            <a:pPr indent="0" marL="0">
              <a:buNone/>
            </a:pPr>
            <a:r>
              <a:rPr lang="en-US" sz="1300" dirty="0">
                <a:solidFill>
                  <a:schemeClr val="tx1"/>
                </a:solidFill>
              </a:rPr>
              <a:t>React + Tailwind CSS · same validation as the backend · works on phone screens · every number comes from the API</a:t>
            </a:r>
            <a:endParaRPr lang="en-US" sz="1300" dirty="0"/>
          </a:p>
        </p:txBody>
      </p:sp>
      <p:sp>
        <p:nvSpPr>
          <p:cNvPr id="25" name="Slide Number Placeholder 0"/>
          <p:cNvSpPr>
            <a:spLocks noGrp="1"/>
          </p:cNvSpPr>
          <p:nvPr>
            <p:ph type="sldNum" sz="quarter" idx="4294967295"/>
          </p:nvPr>
        </p:nvSpPr>
        <p:spPr>
          <a:xfrm>
            <a:off x="1127455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F5A68"/>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685800"/>
          </a:xfrm>
          <a:prstGeom prst="rect">
            <a:avLst/>
          </a:prstGeom>
          <a:noFill/>
          <a:ln/>
        </p:spPr>
        <p:txBody>
          <a:bodyPr wrap="square" lIns="0" tIns="0" rIns="0" bIns="0" rtlCol="0" anchor="ctr"/>
          <a:lstStyle/>
          <a:p>
            <a:pPr algn="ctr" indent="0" marL="0">
              <a:buNone/>
            </a:pPr>
            <a:r>
              <a:rPr lang="en-US" sz="3200" b="1" dirty="0">
                <a:solidFill>
                  <a:srgbClr val="222B38"/>
                </a:solidFill>
                <a:latin typeface="Times New Roman" pitchFamily="34" charset="0"/>
                <a:ea typeface="Times New Roman" pitchFamily="34" charset="-122"/>
                <a:cs typeface="Times New Roman" pitchFamily="34" charset="-120"/>
              </a:rPr>
              <a:t>IMPLEMENTATION TOOLS</a:t>
            </a:r>
            <a:endParaRPr lang="en-US" sz="3200" dirty="0"/>
          </a:p>
        </p:txBody>
      </p:sp>
      <p:sp>
        <p:nvSpPr>
          <p:cNvPr id="3" name="Text 1"/>
          <p:cNvSpPr txBox="1"/>
          <p:nvPr/>
        </p:nvSpPr>
        <p:spPr>
          <a:xfrm>
            <a:off x="548640" y="1188720"/>
            <a:ext cx="5486400" cy="320040"/>
          </a:xfrm>
          <a:prstGeom prst="rect">
            <a:avLst/>
          </a:prstGeom>
          <a:noFill/>
          <a:ln/>
        </p:spPr>
        <p:txBody>
          <a:bodyPr wrap="square" lIns="0" tIns="0" rIns="0" bIns="0" rtlCol="0" anchor="ctr"/>
          <a:lstStyle/>
          <a:p>
            <a:pPr indent="0" marL="0">
              <a:buNone/>
            </a:pPr>
            <a:r>
              <a:rPr lang="en-US" sz="1600" b="1" dirty="0">
                <a:solidFill>
                  <a:schemeClr val="tx2"/>
                </a:solidFill>
              </a:rPr>
              <a:t>Languages &amp; libraries</a:t>
            </a:r>
            <a:endParaRPr lang="en-US" sz="1600" dirty="0"/>
          </a:p>
        </p:txBody>
      </p:sp>
      <p:pic>
        <p:nvPicPr>
          <p:cNvPr id="4" name="Image 0" descr="Python 3.12 logo">    </p:cNvPr>
          <p:cNvPicPr>
            <a:picLocks noChangeAspect="1"/>
          </p:cNvPicPr>
          <p:nvPr/>
        </p:nvPicPr>
        <p:blipFill>
          <a:blip r:embed="rId1"/>
          <a:stretch>
            <a:fillRect/>
          </a:stretch>
        </p:blipFill>
        <p:spPr>
          <a:xfrm>
            <a:off x="1078992" y="1645920"/>
            <a:ext cx="548640" cy="548640"/>
          </a:xfrm>
          <a:prstGeom prst="rect">
            <a:avLst/>
          </a:prstGeom>
        </p:spPr>
      </p:pic>
      <p:sp>
        <p:nvSpPr>
          <p:cNvPr id="5" name="Text 2"/>
          <p:cNvSpPr txBox="1"/>
          <p:nvPr/>
        </p:nvSpPr>
        <p:spPr>
          <a:xfrm>
            <a:off x="502920" y="2267712"/>
            <a:ext cx="1700784" cy="594360"/>
          </a:xfrm>
          <a:prstGeom prst="rect">
            <a:avLst/>
          </a:prstGeom>
          <a:noFill/>
          <a:ln/>
        </p:spPr>
        <p:txBody>
          <a:bodyPr wrap="square" lIns="0" tIns="0" rIns="0" bIns="0" rtlCol="0" anchor="t"/>
          <a:lstStyle/>
          <a:p>
            <a:pPr algn="ctr" indent="0" marL="0">
              <a:buNone/>
            </a:pPr>
            <a:r>
              <a:rPr lang="en-US" sz="1300" b="1" dirty="0">
                <a:solidFill>
                  <a:schemeClr val="tx1"/>
                </a:solidFill>
              </a:rPr>
              <a:t>Python 3.12</a:t>
            </a:r>
            <a:endParaRPr lang="en-US" sz="1400" dirty="0"/>
          </a:p>
          <a:p>
            <a:pPr algn="ctr" indent="0" marL="0">
              <a:buNone/>
            </a:pPr>
            <a:r>
              <a:rPr lang="en-US" sz="1150" dirty="0">
                <a:solidFill>
                  <a:srgbClr val="4F5A68"/>
                </a:solidFill>
              </a:rPr>
              <a:t>core language</a:t>
            </a:r>
            <a:endParaRPr lang="en-US" sz="1400" dirty="0"/>
          </a:p>
        </p:txBody>
      </p:sp>
      <p:pic>
        <p:nvPicPr>
          <p:cNvPr id="6" name="Image 1" descr="FastAPI logo">    </p:cNvPr>
          <p:cNvPicPr>
            <a:picLocks noChangeAspect="1"/>
          </p:cNvPicPr>
          <p:nvPr/>
        </p:nvPicPr>
        <p:blipFill>
          <a:blip r:embed="rId2"/>
          <a:stretch>
            <a:fillRect/>
          </a:stretch>
        </p:blipFill>
        <p:spPr>
          <a:xfrm>
            <a:off x="2770632" y="1645920"/>
            <a:ext cx="548640" cy="548640"/>
          </a:xfrm>
          <a:prstGeom prst="rect">
            <a:avLst/>
          </a:prstGeom>
        </p:spPr>
      </p:pic>
      <p:sp>
        <p:nvSpPr>
          <p:cNvPr id="7" name="Text 3"/>
          <p:cNvSpPr txBox="1"/>
          <p:nvPr/>
        </p:nvSpPr>
        <p:spPr>
          <a:xfrm>
            <a:off x="2194560" y="2267712"/>
            <a:ext cx="1700784" cy="594360"/>
          </a:xfrm>
          <a:prstGeom prst="rect">
            <a:avLst/>
          </a:prstGeom>
          <a:noFill/>
          <a:ln/>
        </p:spPr>
        <p:txBody>
          <a:bodyPr wrap="square" lIns="0" tIns="0" rIns="0" bIns="0" rtlCol="0" anchor="t"/>
          <a:lstStyle/>
          <a:p>
            <a:pPr algn="ctr" indent="0" marL="0">
              <a:buNone/>
            </a:pPr>
            <a:r>
              <a:rPr lang="en-US" sz="1300" b="1" dirty="0">
                <a:solidFill>
                  <a:schemeClr val="tx1"/>
                </a:solidFill>
              </a:rPr>
              <a:t>FastAPI</a:t>
            </a:r>
            <a:endParaRPr lang="en-US" sz="1400" dirty="0"/>
          </a:p>
          <a:p>
            <a:pPr algn="ctr" indent="0" marL="0">
              <a:buNone/>
            </a:pPr>
            <a:r>
              <a:rPr lang="en-US" sz="1150" dirty="0">
                <a:solidFill>
                  <a:srgbClr val="4F5A68"/>
                </a:solidFill>
              </a:rPr>
              <a:t>REST API + webhooks</a:t>
            </a:r>
            <a:endParaRPr lang="en-US" sz="1400" dirty="0"/>
          </a:p>
        </p:txBody>
      </p:sp>
      <p:pic>
        <p:nvPicPr>
          <p:cNvPr id="8" name="Image 2" descr="scikit-learn logo">    </p:cNvPr>
          <p:cNvPicPr>
            <a:picLocks noChangeAspect="1"/>
          </p:cNvPicPr>
          <p:nvPr/>
        </p:nvPicPr>
        <p:blipFill>
          <a:blip r:embed="rId3"/>
          <a:stretch>
            <a:fillRect/>
          </a:stretch>
        </p:blipFill>
        <p:spPr>
          <a:xfrm>
            <a:off x="4462272" y="1645920"/>
            <a:ext cx="548640" cy="548640"/>
          </a:xfrm>
          <a:prstGeom prst="rect">
            <a:avLst/>
          </a:prstGeom>
        </p:spPr>
      </p:pic>
      <p:sp>
        <p:nvSpPr>
          <p:cNvPr id="9" name="Text 4"/>
          <p:cNvSpPr txBox="1"/>
          <p:nvPr/>
        </p:nvSpPr>
        <p:spPr>
          <a:xfrm>
            <a:off x="3886200" y="2267712"/>
            <a:ext cx="1700784" cy="594360"/>
          </a:xfrm>
          <a:prstGeom prst="rect">
            <a:avLst/>
          </a:prstGeom>
          <a:noFill/>
          <a:ln/>
        </p:spPr>
        <p:txBody>
          <a:bodyPr wrap="square" lIns="0" tIns="0" rIns="0" bIns="0" rtlCol="0" anchor="t"/>
          <a:lstStyle/>
          <a:p>
            <a:pPr algn="ctr" indent="0" marL="0">
              <a:buNone/>
            </a:pPr>
            <a:r>
              <a:rPr lang="en-US" sz="1300" b="1" dirty="0">
                <a:solidFill>
                  <a:schemeClr val="tx1"/>
                </a:solidFill>
              </a:rPr>
              <a:t>scikit-learn</a:t>
            </a:r>
            <a:endParaRPr lang="en-US" sz="1400" dirty="0"/>
          </a:p>
          <a:p>
            <a:pPr algn="ctr" indent="0" marL="0">
              <a:buNone/>
            </a:pPr>
            <a:r>
              <a:rPr lang="en-US" sz="1150" dirty="0">
                <a:solidFill>
                  <a:srgbClr val="4F5A68"/>
                </a:solidFill>
              </a:rPr>
              <a:t>model &amp; evaluation</a:t>
            </a:r>
            <a:endParaRPr lang="en-US" sz="1400" dirty="0"/>
          </a:p>
        </p:txBody>
      </p:sp>
      <p:pic>
        <p:nvPicPr>
          <p:cNvPr id="10" name="Image 3" descr="pandas logo">    </p:cNvPr>
          <p:cNvPicPr>
            <a:picLocks noChangeAspect="1"/>
          </p:cNvPicPr>
          <p:nvPr/>
        </p:nvPicPr>
        <p:blipFill>
          <a:blip r:embed="rId4"/>
          <a:stretch>
            <a:fillRect/>
          </a:stretch>
        </p:blipFill>
        <p:spPr>
          <a:xfrm>
            <a:off x="6153912" y="1645920"/>
            <a:ext cx="548640" cy="548640"/>
          </a:xfrm>
          <a:prstGeom prst="rect">
            <a:avLst/>
          </a:prstGeom>
        </p:spPr>
      </p:pic>
      <p:sp>
        <p:nvSpPr>
          <p:cNvPr id="11" name="Text 5"/>
          <p:cNvSpPr txBox="1"/>
          <p:nvPr/>
        </p:nvSpPr>
        <p:spPr>
          <a:xfrm>
            <a:off x="5577840" y="2267712"/>
            <a:ext cx="1700784" cy="594360"/>
          </a:xfrm>
          <a:prstGeom prst="rect">
            <a:avLst/>
          </a:prstGeom>
          <a:noFill/>
          <a:ln/>
        </p:spPr>
        <p:txBody>
          <a:bodyPr wrap="square" lIns="0" tIns="0" rIns="0" bIns="0" rtlCol="0" anchor="t"/>
          <a:lstStyle/>
          <a:p>
            <a:pPr algn="ctr" indent="0" marL="0">
              <a:buNone/>
            </a:pPr>
            <a:r>
              <a:rPr lang="en-US" sz="1300" b="1" dirty="0">
                <a:solidFill>
                  <a:schemeClr val="tx1"/>
                </a:solidFill>
              </a:rPr>
              <a:t>pandas</a:t>
            </a:r>
            <a:endParaRPr lang="en-US" sz="1400" dirty="0"/>
          </a:p>
          <a:p>
            <a:pPr algn="ctr" indent="0" marL="0">
              <a:buNone/>
            </a:pPr>
            <a:r>
              <a:rPr lang="en-US" sz="1150" dirty="0">
                <a:solidFill>
                  <a:srgbClr val="4F5A68"/>
                </a:solidFill>
              </a:rPr>
              <a:t>data cleaning</a:t>
            </a:r>
            <a:endParaRPr lang="en-US" sz="1400" dirty="0"/>
          </a:p>
        </p:txBody>
      </p:sp>
      <p:pic>
        <p:nvPicPr>
          <p:cNvPr id="12" name="Image 4" descr="NumPy logo">    </p:cNvPr>
          <p:cNvPicPr>
            <a:picLocks noChangeAspect="1"/>
          </p:cNvPicPr>
          <p:nvPr/>
        </p:nvPicPr>
        <p:blipFill>
          <a:blip r:embed="rId5"/>
          <a:stretch>
            <a:fillRect/>
          </a:stretch>
        </p:blipFill>
        <p:spPr>
          <a:xfrm>
            <a:off x="1078992" y="3154680"/>
            <a:ext cx="548640" cy="548640"/>
          </a:xfrm>
          <a:prstGeom prst="rect">
            <a:avLst/>
          </a:prstGeom>
        </p:spPr>
      </p:pic>
      <p:sp>
        <p:nvSpPr>
          <p:cNvPr id="13" name="Text 6"/>
          <p:cNvSpPr txBox="1"/>
          <p:nvPr/>
        </p:nvSpPr>
        <p:spPr>
          <a:xfrm>
            <a:off x="502920" y="3776472"/>
            <a:ext cx="1700784" cy="594360"/>
          </a:xfrm>
          <a:prstGeom prst="rect">
            <a:avLst/>
          </a:prstGeom>
          <a:noFill/>
          <a:ln/>
        </p:spPr>
        <p:txBody>
          <a:bodyPr wrap="square" lIns="0" tIns="0" rIns="0" bIns="0" rtlCol="0" anchor="t"/>
          <a:lstStyle/>
          <a:p>
            <a:pPr algn="ctr" indent="0" marL="0">
              <a:buNone/>
            </a:pPr>
            <a:r>
              <a:rPr lang="en-US" sz="1300" b="1" dirty="0">
                <a:solidFill>
                  <a:schemeClr val="tx1"/>
                </a:solidFill>
              </a:rPr>
              <a:t>NumPy</a:t>
            </a:r>
            <a:endParaRPr lang="en-US" sz="1400" dirty="0"/>
          </a:p>
          <a:p>
            <a:pPr algn="ctr" indent="0" marL="0">
              <a:buNone/>
            </a:pPr>
            <a:r>
              <a:rPr lang="en-US" sz="1150" dirty="0">
                <a:solidFill>
                  <a:srgbClr val="4F5A68"/>
                </a:solidFill>
              </a:rPr>
              <a:t>numerical work</a:t>
            </a:r>
            <a:endParaRPr lang="en-US" sz="1400" dirty="0"/>
          </a:p>
        </p:txBody>
      </p:sp>
      <p:pic>
        <p:nvPicPr>
          <p:cNvPr id="14" name="Image 5" descr="Pydantic logo">    </p:cNvPr>
          <p:cNvPicPr>
            <a:picLocks noChangeAspect="1"/>
          </p:cNvPicPr>
          <p:nvPr/>
        </p:nvPicPr>
        <p:blipFill>
          <a:blip r:embed="rId6"/>
          <a:stretch>
            <a:fillRect/>
          </a:stretch>
        </p:blipFill>
        <p:spPr>
          <a:xfrm>
            <a:off x="2770632" y="3154680"/>
            <a:ext cx="548640" cy="548640"/>
          </a:xfrm>
          <a:prstGeom prst="rect">
            <a:avLst/>
          </a:prstGeom>
        </p:spPr>
      </p:pic>
      <p:sp>
        <p:nvSpPr>
          <p:cNvPr id="15" name="Text 7"/>
          <p:cNvSpPr txBox="1"/>
          <p:nvPr/>
        </p:nvSpPr>
        <p:spPr>
          <a:xfrm>
            <a:off x="2194560" y="3776472"/>
            <a:ext cx="1700784" cy="594360"/>
          </a:xfrm>
          <a:prstGeom prst="rect">
            <a:avLst/>
          </a:prstGeom>
          <a:noFill/>
          <a:ln/>
        </p:spPr>
        <p:txBody>
          <a:bodyPr wrap="square" lIns="0" tIns="0" rIns="0" bIns="0" rtlCol="0" anchor="t"/>
          <a:lstStyle/>
          <a:p>
            <a:pPr algn="ctr" indent="0" marL="0">
              <a:buNone/>
            </a:pPr>
            <a:r>
              <a:rPr lang="en-US" sz="1300" b="1" dirty="0">
                <a:solidFill>
                  <a:schemeClr val="tx1"/>
                </a:solidFill>
              </a:rPr>
              <a:t>Pydantic</a:t>
            </a:r>
            <a:endParaRPr lang="en-US" sz="1400" dirty="0"/>
          </a:p>
          <a:p>
            <a:pPr algn="ctr" indent="0" marL="0">
              <a:buNone/>
            </a:pPr>
            <a:r>
              <a:rPr lang="en-US" sz="1150" dirty="0">
                <a:solidFill>
                  <a:srgbClr val="4F5A68"/>
                </a:solidFill>
              </a:rPr>
              <a:t>input validation</a:t>
            </a:r>
            <a:endParaRPr lang="en-US" sz="1400" dirty="0"/>
          </a:p>
        </p:txBody>
      </p:sp>
      <p:pic>
        <p:nvPicPr>
          <p:cNvPr id="16" name="Image 6" descr="React 19 logo">    </p:cNvPr>
          <p:cNvPicPr>
            <a:picLocks noChangeAspect="1"/>
          </p:cNvPicPr>
          <p:nvPr/>
        </p:nvPicPr>
        <p:blipFill>
          <a:blip r:embed="rId7"/>
          <a:stretch>
            <a:fillRect/>
          </a:stretch>
        </p:blipFill>
        <p:spPr>
          <a:xfrm>
            <a:off x="4462272" y="3154680"/>
            <a:ext cx="548640" cy="548640"/>
          </a:xfrm>
          <a:prstGeom prst="rect">
            <a:avLst/>
          </a:prstGeom>
        </p:spPr>
      </p:pic>
      <p:sp>
        <p:nvSpPr>
          <p:cNvPr id="17" name="Text 8"/>
          <p:cNvSpPr txBox="1"/>
          <p:nvPr/>
        </p:nvSpPr>
        <p:spPr>
          <a:xfrm>
            <a:off x="3886200" y="3776472"/>
            <a:ext cx="1700784" cy="594360"/>
          </a:xfrm>
          <a:prstGeom prst="rect">
            <a:avLst/>
          </a:prstGeom>
          <a:noFill/>
          <a:ln/>
        </p:spPr>
        <p:txBody>
          <a:bodyPr wrap="square" lIns="0" tIns="0" rIns="0" bIns="0" rtlCol="0" anchor="t"/>
          <a:lstStyle/>
          <a:p>
            <a:pPr algn="ctr" indent="0" marL="0">
              <a:buNone/>
            </a:pPr>
            <a:r>
              <a:rPr lang="en-US" sz="1300" b="1" dirty="0">
                <a:solidFill>
                  <a:schemeClr val="tx1"/>
                </a:solidFill>
              </a:rPr>
              <a:t>React 19</a:t>
            </a:r>
            <a:endParaRPr lang="en-US" sz="1400" dirty="0"/>
          </a:p>
          <a:p>
            <a:pPr algn="ctr" indent="0" marL="0">
              <a:buNone/>
            </a:pPr>
            <a:r>
              <a:rPr lang="en-US" sz="1150" dirty="0">
                <a:solidFill>
                  <a:srgbClr val="4F5A68"/>
                </a:solidFill>
              </a:rPr>
              <a:t>dashboard</a:t>
            </a:r>
            <a:endParaRPr lang="en-US" sz="1400" dirty="0"/>
          </a:p>
        </p:txBody>
      </p:sp>
      <p:pic>
        <p:nvPicPr>
          <p:cNvPr id="18" name="Image 7" descr="Tailwind CSS logo">    </p:cNvPr>
          <p:cNvPicPr>
            <a:picLocks noChangeAspect="1"/>
          </p:cNvPicPr>
          <p:nvPr/>
        </p:nvPicPr>
        <p:blipFill>
          <a:blip r:embed="rId8"/>
          <a:stretch>
            <a:fillRect/>
          </a:stretch>
        </p:blipFill>
        <p:spPr>
          <a:xfrm>
            <a:off x="6153912" y="3154680"/>
            <a:ext cx="548640" cy="548640"/>
          </a:xfrm>
          <a:prstGeom prst="rect">
            <a:avLst/>
          </a:prstGeom>
        </p:spPr>
      </p:pic>
      <p:sp>
        <p:nvSpPr>
          <p:cNvPr id="19" name="Text 9"/>
          <p:cNvSpPr txBox="1"/>
          <p:nvPr/>
        </p:nvSpPr>
        <p:spPr>
          <a:xfrm>
            <a:off x="5577840" y="3776472"/>
            <a:ext cx="1700784" cy="594360"/>
          </a:xfrm>
          <a:prstGeom prst="rect">
            <a:avLst/>
          </a:prstGeom>
          <a:noFill/>
          <a:ln/>
        </p:spPr>
        <p:txBody>
          <a:bodyPr wrap="square" lIns="0" tIns="0" rIns="0" bIns="0" rtlCol="0" anchor="t"/>
          <a:lstStyle/>
          <a:p>
            <a:pPr algn="ctr" indent="0" marL="0">
              <a:buNone/>
            </a:pPr>
            <a:r>
              <a:rPr lang="en-US" sz="1300" b="1" dirty="0">
                <a:solidFill>
                  <a:schemeClr val="tx1"/>
                </a:solidFill>
              </a:rPr>
              <a:t>Tailwind CSS</a:t>
            </a:r>
            <a:endParaRPr lang="en-US" sz="1400" dirty="0"/>
          </a:p>
          <a:p>
            <a:pPr algn="ctr" indent="0" marL="0">
              <a:buNone/>
            </a:pPr>
            <a:r>
              <a:rPr lang="en-US" sz="1150" dirty="0">
                <a:solidFill>
                  <a:srgbClr val="4F5A68"/>
                </a:solidFill>
              </a:rPr>
              <a:t>styling</a:t>
            </a:r>
            <a:endParaRPr lang="en-US" sz="1400" dirty="0"/>
          </a:p>
        </p:txBody>
      </p:sp>
      <p:pic>
        <p:nvPicPr>
          <p:cNvPr id="20" name="Image 8" descr="Vite logo">    </p:cNvPr>
          <p:cNvPicPr>
            <a:picLocks noChangeAspect="1"/>
          </p:cNvPicPr>
          <p:nvPr/>
        </p:nvPicPr>
        <p:blipFill>
          <a:blip r:embed="rId9"/>
          <a:stretch>
            <a:fillRect/>
          </a:stretch>
        </p:blipFill>
        <p:spPr>
          <a:xfrm>
            <a:off x="1078992" y="4663440"/>
            <a:ext cx="548640" cy="548640"/>
          </a:xfrm>
          <a:prstGeom prst="rect">
            <a:avLst/>
          </a:prstGeom>
        </p:spPr>
      </p:pic>
      <p:sp>
        <p:nvSpPr>
          <p:cNvPr id="21" name="Text 10"/>
          <p:cNvSpPr txBox="1"/>
          <p:nvPr/>
        </p:nvSpPr>
        <p:spPr>
          <a:xfrm>
            <a:off x="502920" y="5285232"/>
            <a:ext cx="1700784" cy="594360"/>
          </a:xfrm>
          <a:prstGeom prst="rect">
            <a:avLst/>
          </a:prstGeom>
          <a:noFill/>
          <a:ln/>
        </p:spPr>
        <p:txBody>
          <a:bodyPr wrap="square" lIns="0" tIns="0" rIns="0" bIns="0" rtlCol="0" anchor="t"/>
          <a:lstStyle/>
          <a:p>
            <a:pPr algn="ctr" indent="0" marL="0">
              <a:buNone/>
            </a:pPr>
            <a:r>
              <a:rPr lang="en-US" sz="1300" b="1" dirty="0">
                <a:solidFill>
                  <a:schemeClr val="tx1"/>
                </a:solidFill>
              </a:rPr>
              <a:t>Vite</a:t>
            </a:r>
            <a:endParaRPr lang="en-US" sz="1400" dirty="0"/>
          </a:p>
          <a:p>
            <a:pPr algn="ctr" indent="0" marL="0">
              <a:buNone/>
            </a:pPr>
            <a:r>
              <a:rPr lang="en-US" sz="1150" dirty="0">
                <a:solidFill>
                  <a:srgbClr val="4F5A68"/>
                </a:solidFill>
              </a:rPr>
              <a:t>frontend build</a:t>
            </a:r>
            <a:endParaRPr lang="en-US" sz="1400" dirty="0"/>
          </a:p>
        </p:txBody>
      </p:sp>
      <p:pic>
        <p:nvPicPr>
          <p:cNvPr id="22" name="Image 9" descr="SQLite logo">    </p:cNvPr>
          <p:cNvPicPr>
            <a:picLocks noChangeAspect="1"/>
          </p:cNvPicPr>
          <p:nvPr/>
        </p:nvPicPr>
        <p:blipFill>
          <a:blip r:embed="rId10"/>
          <a:stretch>
            <a:fillRect/>
          </a:stretch>
        </p:blipFill>
        <p:spPr>
          <a:xfrm>
            <a:off x="2770632" y="4663440"/>
            <a:ext cx="548640" cy="548640"/>
          </a:xfrm>
          <a:prstGeom prst="rect">
            <a:avLst/>
          </a:prstGeom>
        </p:spPr>
      </p:pic>
      <p:sp>
        <p:nvSpPr>
          <p:cNvPr id="23" name="Text 11"/>
          <p:cNvSpPr txBox="1"/>
          <p:nvPr/>
        </p:nvSpPr>
        <p:spPr>
          <a:xfrm>
            <a:off x="2194560" y="5285232"/>
            <a:ext cx="1700784" cy="594360"/>
          </a:xfrm>
          <a:prstGeom prst="rect">
            <a:avLst/>
          </a:prstGeom>
          <a:noFill/>
          <a:ln/>
        </p:spPr>
        <p:txBody>
          <a:bodyPr wrap="square" lIns="0" tIns="0" rIns="0" bIns="0" rtlCol="0" anchor="t"/>
          <a:lstStyle/>
          <a:p>
            <a:pPr algn="ctr" indent="0" marL="0">
              <a:buNone/>
            </a:pPr>
            <a:r>
              <a:rPr lang="en-US" sz="1300" b="1" dirty="0">
                <a:solidFill>
                  <a:schemeClr val="tx1"/>
                </a:solidFill>
              </a:rPr>
              <a:t>SQLite</a:t>
            </a:r>
            <a:endParaRPr lang="en-US" sz="1400" dirty="0"/>
          </a:p>
          <a:p>
            <a:pPr algn="ctr" indent="0" marL="0">
              <a:buNone/>
            </a:pPr>
            <a:r>
              <a:rPr lang="en-US" sz="1150" dirty="0">
                <a:solidFill>
                  <a:srgbClr val="4F5A68"/>
                </a:solidFill>
              </a:rPr>
              <a:t>database</a:t>
            </a:r>
            <a:endParaRPr lang="en-US" sz="1400" dirty="0"/>
          </a:p>
        </p:txBody>
      </p:sp>
      <p:pic>
        <p:nvPicPr>
          <p:cNvPr id="24" name="Image 10" descr="Git &amp; GitHub logo">    </p:cNvPr>
          <p:cNvPicPr>
            <a:picLocks noChangeAspect="1"/>
          </p:cNvPicPr>
          <p:nvPr/>
        </p:nvPicPr>
        <p:blipFill>
          <a:blip r:embed="rId11"/>
          <a:stretch>
            <a:fillRect/>
          </a:stretch>
        </p:blipFill>
        <p:spPr>
          <a:xfrm>
            <a:off x="4462272" y="4663440"/>
            <a:ext cx="548640" cy="548640"/>
          </a:xfrm>
          <a:prstGeom prst="rect">
            <a:avLst/>
          </a:prstGeom>
        </p:spPr>
      </p:pic>
      <p:sp>
        <p:nvSpPr>
          <p:cNvPr id="25" name="Text 12"/>
          <p:cNvSpPr txBox="1"/>
          <p:nvPr/>
        </p:nvSpPr>
        <p:spPr>
          <a:xfrm>
            <a:off x="3886200" y="5285232"/>
            <a:ext cx="1700784" cy="594360"/>
          </a:xfrm>
          <a:prstGeom prst="rect">
            <a:avLst/>
          </a:prstGeom>
          <a:noFill/>
          <a:ln/>
        </p:spPr>
        <p:txBody>
          <a:bodyPr wrap="square" lIns="0" tIns="0" rIns="0" bIns="0" rtlCol="0" anchor="t"/>
          <a:lstStyle/>
          <a:p>
            <a:pPr algn="ctr" indent="0" marL="0">
              <a:buNone/>
            </a:pPr>
            <a:r>
              <a:rPr lang="en-US" sz="1300" b="1" dirty="0">
                <a:solidFill>
                  <a:schemeClr val="tx1"/>
                </a:solidFill>
              </a:rPr>
              <a:t>Git &amp; GitHub</a:t>
            </a:r>
            <a:endParaRPr lang="en-US" sz="1400" dirty="0"/>
          </a:p>
          <a:p>
            <a:pPr algn="ctr" indent="0" marL="0">
              <a:buNone/>
            </a:pPr>
            <a:r>
              <a:rPr lang="en-US" sz="1150" dirty="0">
                <a:solidFill>
                  <a:srgbClr val="4F5A68"/>
                </a:solidFill>
              </a:rPr>
              <a:t>version control</a:t>
            </a:r>
            <a:endParaRPr lang="en-US" sz="1400" dirty="0"/>
          </a:p>
        </p:txBody>
      </p:sp>
      <p:pic>
        <p:nvPicPr>
          <p:cNvPr id="26" name="Image 11" descr="VS Code logo">    </p:cNvPr>
          <p:cNvPicPr>
            <a:picLocks noChangeAspect="1"/>
          </p:cNvPicPr>
          <p:nvPr/>
        </p:nvPicPr>
        <p:blipFill>
          <a:blip r:embed="rId12"/>
          <a:stretch>
            <a:fillRect/>
          </a:stretch>
        </p:blipFill>
        <p:spPr>
          <a:xfrm>
            <a:off x="6153912" y="4663440"/>
            <a:ext cx="548640" cy="548640"/>
          </a:xfrm>
          <a:prstGeom prst="rect">
            <a:avLst/>
          </a:prstGeom>
        </p:spPr>
      </p:pic>
      <p:sp>
        <p:nvSpPr>
          <p:cNvPr id="27" name="Text 13"/>
          <p:cNvSpPr txBox="1"/>
          <p:nvPr/>
        </p:nvSpPr>
        <p:spPr>
          <a:xfrm>
            <a:off x="5577840" y="5285232"/>
            <a:ext cx="1700784" cy="594360"/>
          </a:xfrm>
          <a:prstGeom prst="rect">
            <a:avLst/>
          </a:prstGeom>
          <a:noFill/>
          <a:ln/>
        </p:spPr>
        <p:txBody>
          <a:bodyPr wrap="square" lIns="0" tIns="0" rIns="0" bIns="0" rtlCol="0" anchor="t"/>
          <a:lstStyle/>
          <a:p>
            <a:pPr algn="ctr" indent="0" marL="0">
              <a:buNone/>
            </a:pPr>
            <a:r>
              <a:rPr lang="en-US" sz="1300" b="1" dirty="0">
                <a:solidFill>
                  <a:schemeClr val="tx1"/>
                </a:solidFill>
              </a:rPr>
              <a:t>VS Code</a:t>
            </a:r>
            <a:endParaRPr lang="en-US" sz="1400" dirty="0"/>
          </a:p>
          <a:p>
            <a:pPr algn="ctr" indent="0" marL="0">
              <a:buNone/>
            </a:pPr>
            <a:r>
              <a:rPr lang="en-US" sz="1150" dirty="0">
                <a:solidFill>
                  <a:srgbClr val="4F5A68"/>
                </a:solidFill>
              </a:rPr>
              <a:t>editor</a:t>
            </a:r>
            <a:endParaRPr lang="en-US" sz="1400" dirty="0"/>
          </a:p>
        </p:txBody>
      </p:sp>
      <p:sp>
        <p:nvSpPr>
          <p:cNvPr id="28" name="Divider"/>
          <p:cNvSpPr/>
          <p:nvPr/>
        </p:nvSpPr>
        <p:spPr>
          <a:xfrm>
            <a:off x="7452360" y="1280160"/>
            <a:ext cx="0" cy="4846320"/>
          </a:xfrm>
          <a:prstGeom prst="line">
            <a:avLst/>
          </a:prstGeom>
          <a:noFill/>
          <a:ln w="12700">
            <a:solidFill>
              <a:srgbClr val="E1E7EF"/>
            </a:solidFill>
            <a:prstDash val="solid"/>
          </a:ln>
        </p:spPr>
      </p:sp>
      <p:sp>
        <p:nvSpPr>
          <p:cNvPr id="29" name="Text 15"/>
          <p:cNvSpPr txBox="1"/>
          <p:nvPr/>
        </p:nvSpPr>
        <p:spPr>
          <a:xfrm>
            <a:off x="7863840" y="1188720"/>
            <a:ext cx="3657600" cy="320040"/>
          </a:xfrm>
          <a:prstGeom prst="rect">
            <a:avLst/>
          </a:prstGeom>
          <a:noFill/>
          <a:ln/>
        </p:spPr>
        <p:txBody>
          <a:bodyPr wrap="square" lIns="0" tIns="0" rIns="0" bIns="0" rtlCol="0" anchor="ctr"/>
          <a:lstStyle/>
          <a:p>
            <a:pPr indent="0" marL="0">
              <a:buNone/>
            </a:pPr>
            <a:r>
              <a:rPr lang="en-US" sz="1600" b="1" dirty="0">
                <a:solidFill>
                  <a:schemeClr val="tx2"/>
                </a:solidFill>
              </a:rPr>
              <a:t>Services &amp; testing</a:t>
            </a:r>
            <a:endParaRPr lang="en-US" sz="1600" dirty="0"/>
          </a:p>
        </p:txBody>
      </p:sp>
      <p:pic>
        <p:nvPicPr>
          <p:cNvPr id="30" name="Image 12" descr="Twilio WhatsApp Sandbox icon">    </p:cNvPr>
          <p:cNvPicPr>
            <a:picLocks noChangeAspect="1"/>
          </p:cNvPicPr>
          <p:nvPr/>
        </p:nvPicPr>
        <p:blipFill>
          <a:blip r:embed="rId13"/>
          <a:stretch>
            <a:fillRect/>
          </a:stretch>
        </p:blipFill>
        <p:spPr>
          <a:xfrm>
            <a:off x="7909560" y="1783080"/>
            <a:ext cx="502920" cy="502920"/>
          </a:xfrm>
          <a:prstGeom prst="rect">
            <a:avLst/>
          </a:prstGeom>
        </p:spPr>
      </p:pic>
      <p:sp>
        <p:nvSpPr>
          <p:cNvPr id="31" name="Text 16"/>
          <p:cNvSpPr txBox="1"/>
          <p:nvPr/>
        </p:nvSpPr>
        <p:spPr>
          <a:xfrm>
            <a:off x="8595360" y="1691640"/>
            <a:ext cx="3154680" cy="731520"/>
          </a:xfrm>
          <a:prstGeom prst="rect">
            <a:avLst/>
          </a:prstGeom>
          <a:noFill/>
          <a:ln/>
        </p:spPr>
        <p:txBody>
          <a:bodyPr wrap="square" lIns="0" tIns="0" rIns="0" bIns="0" rtlCol="0" anchor="ctr"/>
          <a:lstStyle/>
          <a:p>
            <a:pPr indent="0" marL="0">
              <a:buNone/>
            </a:pPr>
            <a:r>
              <a:rPr lang="en-US" sz="1400" b="1" dirty="0">
                <a:solidFill>
                  <a:schemeClr val="tx1"/>
                </a:solidFill>
              </a:rPr>
              <a:t>Twilio WhatsApp Sandbox</a:t>
            </a:r>
            <a:endParaRPr lang="en-US" sz="1400" dirty="0"/>
          </a:p>
          <a:p>
            <a:pPr indent="0" marL="0">
              <a:buNone/>
            </a:pPr>
            <a:r>
              <a:rPr lang="en-US" sz="1200" dirty="0">
                <a:solidFill>
                  <a:srgbClr val="4F5A68"/>
                </a:solidFill>
              </a:rPr>
              <a:t>send / receive WhatsApp</a:t>
            </a:r>
            <a:endParaRPr lang="en-US" sz="1400" dirty="0"/>
          </a:p>
        </p:txBody>
      </p:sp>
      <p:pic>
        <p:nvPicPr>
          <p:cNvPr id="32" name="Image 13" descr="cloudflared tunnel icon">    </p:cNvPr>
          <p:cNvPicPr>
            <a:picLocks noChangeAspect="1"/>
          </p:cNvPicPr>
          <p:nvPr/>
        </p:nvPicPr>
        <p:blipFill>
          <a:blip r:embed="rId14"/>
          <a:stretch>
            <a:fillRect/>
          </a:stretch>
        </p:blipFill>
        <p:spPr>
          <a:xfrm>
            <a:off x="7909560" y="2880360"/>
            <a:ext cx="502920" cy="502920"/>
          </a:xfrm>
          <a:prstGeom prst="rect">
            <a:avLst/>
          </a:prstGeom>
        </p:spPr>
      </p:pic>
      <p:sp>
        <p:nvSpPr>
          <p:cNvPr id="33" name="Text 17"/>
          <p:cNvSpPr txBox="1"/>
          <p:nvPr/>
        </p:nvSpPr>
        <p:spPr>
          <a:xfrm>
            <a:off x="8595360" y="2788920"/>
            <a:ext cx="3154680" cy="731520"/>
          </a:xfrm>
          <a:prstGeom prst="rect">
            <a:avLst/>
          </a:prstGeom>
          <a:noFill/>
          <a:ln/>
        </p:spPr>
        <p:txBody>
          <a:bodyPr wrap="square" lIns="0" tIns="0" rIns="0" bIns="0" rtlCol="0" anchor="ctr"/>
          <a:lstStyle/>
          <a:p>
            <a:pPr indent="0" marL="0">
              <a:buNone/>
            </a:pPr>
            <a:r>
              <a:rPr lang="en-US" sz="1400" b="1" dirty="0">
                <a:solidFill>
                  <a:schemeClr val="tx1"/>
                </a:solidFill>
              </a:rPr>
              <a:t>cloudflared tunnel</a:t>
            </a:r>
            <a:endParaRPr lang="en-US" sz="1400" dirty="0"/>
          </a:p>
          <a:p>
            <a:pPr indent="0" marL="0">
              <a:buNone/>
            </a:pPr>
            <a:r>
              <a:rPr lang="en-US" sz="1200" dirty="0">
                <a:solidFill>
                  <a:srgbClr val="4F5A68"/>
                </a:solidFill>
              </a:rPr>
              <a:t>public link for webhooks</a:t>
            </a:r>
            <a:endParaRPr lang="en-US" sz="1400" dirty="0"/>
          </a:p>
        </p:txBody>
      </p:sp>
      <p:pic>
        <p:nvPicPr>
          <p:cNvPr id="34" name="Image 14" descr="joblib · Uvicorn icon">    </p:cNvPr>
          <p:cNvPicPr>
            <a:picLocks noChangeAspect="1"/>
          </p:cNvPicPr>
          <p:nvPr/>
        </p:nvPicPr>
        <p:blipFill>
          <a:blip r:embed="rId15"/>
          <a:stretch>
            <a:fillRect/>
          </a:stretch>
        </p:blipFill>
        <p:spPr>
          <a:xfrm>
            <a:off x="7909560" y="3977640"/>
            <a:ext cx="502920" cy="502920"/>
          </a:xfrm>
          <a:prstGeom prst="rect">
            <a:avLst/>
          </a:prstGeom>
        </p:spPr>
      </p:pic>
      <p:sp>
        <p:nvSpPr>
          <p:cNvPr id="35" name="Text 18"/>
          <p:cNvSpPr txBox="1"/>
          <p:nvPr/>
        </p:nvSpPr>
        <p:spPr>
          <a:xfrm>
            <a:off x="8595360" y="3886200"/>
            <a:ext cx="3154680" cy="731520"/>
          </a:xfrm>
          <a:prstGeom prst="rect">
            <a:avLst/>
          </a:prstGeom>
          <a:noFill/>
          <a:ln/>
        </p:spPr>
        <p:txBody>
          <a:bodyPr wrap="square" lIns="0" tIns="0" rIns="0" bIns="0" rtlCol="0" anchor="ctr"/>
          <a:lstStyle/>
          <a:p>
            <a:pPr indent="0" marL="0">
              <a:buNone/>
            </a:pPr>
            <a:r>
              <a:rPr lang="en-US" sz="1400" b="1" dirty="0">
                <a:solidFill>
                  <a:schemeClr val="tx1"/>
                </a:solidFill>
              </a:rPr>
              <a:t>joblib · Uvicorn</a:t>
            </a:r>
            <a:endParaRPr lang="en-US" sz="1400" dirty="0"/>
          </a:p>
          <a:p>
            <a:pPr indent="0" marL="0">
              <a:buNone/>
            </a:pPr>
            <a:r>
              <a:rPr lang="en-US" sz="1200" dirty="0">
                <a:solidFill>
                  <a:srgbClr val="4F5A68"/>
                </a:solidFill>
              </a:rPr>
              <a:t>model file · server</a:t>
            </a:r>
            <a:endParaRPr lang="en-US" sz="1400" dirty="0"/>
          </a:p>
        </p:txBody>
      </p:sp>
      <p:pic>
        <p:nvPicPr>
          <p:cNvPr id="36" name="Image 15" descr="test_system.py · Playwright icon">    </p:cNvPr>
          <p:cNvPicPr>
            <a:picLocks noChangeAspect="1"/>
          </p:cNvPicPr>
          <p:nvPr/>
        </p:nvPicPr>
        <p:blipFill>
          <a:blip r:embed="rId16"/>
          <a:stretch>
            <a:fillRect/>
          </a:stretch>
        </p:blipFill>
        <p:spPr>
          <a:xfrm>
            <a:off x="7909560" y="5074920"/>
            <a:ext cx="502920" cy="502920"/>
          </a:xfrm>
          <a:prstGeom prst="rect">
            <a:avLst/>
          </a:prstGeom>
        </p:spPr>
      </p:pic>
      <p:sp>
        <p:nvSpPr>
          <p:cNvPr id="37" name="Text 19"/>
          <p:cNvSpPr txBox="1"/>
          <p:nvPr/>
        </p:nvSpPr>
        <p:spPr>
          <a:xfrm>
            <a:off x="8595360" y="4983480"/>
            <a:ext cx="3154680" cy="731520"/>
          </a:xfrm>
          <a:prstGeom prst="rect">
            <a:avLst/>
          </a:prstGeom>
          <a:noFill/>
          <a:ln/>
        </p:spPr>
        <p:txBody>
          <a:bodyPr wrap="square" lIns="0" tIns="0" rIns="0" bIns="0" rtlCol="0" anchor="ctr"/>
          <a:lstStyle/>
          <a:p>
            <a:pPr indent="0" marL="0">
              <a:buNone/>
            </a:pPr>
            <a:r>
              <a:rPr lang="en-US" sz="1400" b="1" dirty="0">
                <a:solidFill>
                  <a:schemeClr val="tx1"/>
                </a:solidFill>
              </a:rPr>
              <a:t>test_system.py · Playwright</a:t>
            </a:r>
            <a:endParaRPr lang="en-US" sz="1400" dirty="0"/>
          </a:p>
          <a:p>
            <a:pPr indent="0" marL="0">
              <a:buNone/>
            </a:pPr>
            <a:r>
              <a:rPr lang="en-US" sz="1200" dirty="0">
                <a:solidFill>
                  <a:srgbClr val="4F5A68"/>
                </a:solidFill>
              </a:rPr>
              <a:t>automatic &amp; browser tests</a:t>
            </a:r>
            <a:endParaRPr lang="en-US" sz="1400" dirty="0"/>
          </a:p>
        </p:txBody>
      </p:sp>
      <p:sp>
        <p:nvSpPr>
          <p:cNvPr id="25" name="Slide Number Placeholder 0"/>
          <p:cNvSpPr>
            <a:spLocks noGrp="1"/>
          </p:cNvSpPr>
          <p:nvPr>
            <p:ph type="sldNum" sz="quarter" idx="4294967295"/>
          </p:nvPr>
        </p:nvSpPr>
        <p:spPr>
          <a:xfrm>
            <a:off x="1127455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F5A68"/>
                </a:solidFill>
                <a:latin typeface="Arial"/>
                <a:ea typeface="Arial"/>
                <a:cs typeface="Aria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685800"/>
          </a:xfrm>
          <a:prstGeom prst="rect">
            <a:avLst/>
          </a:prstGeom>
          <a:noFill/>
          <a:ln/>
        </p:spPr>
        <p:txBody>
          <a:bodyPr wrap="square" lIns="0" tIns="0" rIns="0" bIns="0" rtlCol="0" anchor="ctr"/>
          <a:lstStyle/>
          <a:p>
            <a:pPr algn="ctr" indent="0" marL="0">
              <a:buNone/>
            </a:pPr>
            <a:r>
              <a:rPr lang="en-US" sz="3200" b="1" dirty="0">
                <a:solidFill>
                  <a:srgbClr val="222B38"/>
                </a:solidFill>
                <a:latin typeface="Times New Roman" pitchFamily="34" charset="0"/>
                <a:ea typeface="Times New Roman" pitchFamily="34" charset="-122"/>
                <a:cs typeface="Times New Roman" pitchFamily="34" charset="-120"/>
              </a:rPr>
              <a:t>CODE SNIPPETS</a:t>
            </a:r>
            <a:endParaRPr lang="en-US" sz="3200" dirty="0"/>
          </a:p>
        </p:txBody>
      </p:sp>
      <p:sp>
        <p:nvSpPr>
          <p:cNvPr id="3" name="Screenshot frame"/>
          <p:cNvSpPr/>
          <p:nvPr/>
        </p:nvSpPr>
        <p:spPr>
          <a:xfrm>
            <a:off x="429768" y="1207008"/>
            <a:ext cx="5586984" cy="2222552"/>
          </a:xfrm>
          <a:prstGeom prst="rect">
            <a:avLst/>
          </a:prstGeom>
          <a:solidFill>
            <a:srgbClr val="FFFFFF"/>
          </a:solidFill>
          <a:ln w="9525">
            <a:solidFill>
              <a:srgbClr val="B7C2D0"/>
            </a:solidFill>
            <a:prstDash val="solid"/>
          </a:ln>
          <a:effectLst>
            <a:outerShdw sx="100000" sy="100000" kx="0" ky="0" algn="bl" rotWithShape="0" blurRad="76200" dist="25400" dir="5400000">
              <a:srgbClr val="9AA6B5">
                <a:alpha val="40000"/>
              </a:srgbClr>
            </a:outerShdw>
          </a:effectLst>
        </p:spPr>
      </p:sp>
      <p:pic>
        <p:nvPicPr>
          <p:cNvPr id="4" name="Image 0" descr="Training code: monotonic gradient boosting with calibration">    </p:cNvPr>
          <p:cNvPicPr>
            <a:picLocks noChangeAspect="1"/>
          </p:cNvPicPr>
          <p:nvPr/>
        </p:nvPicPr>
        <p:blipFill>
          <a:blip r:embed="rId1"/>
          <a:stretch>
            <a:fillRect/>
          </a:stretch>
        </p:blipFill>
        <p:spPr>
          <a:xfrm>
            <a:off x="457200" y="1234440"/>
            <a:ext cx="5532120" cy="2167688"/>
          </a:xfrm>
          <a:prstGeom prst="rect">
            <a:avLst/>
          </a:prstGeom>
        </p:spPr>
      </p:pic>
      <p:sp>
        <p:nvSpPr>
          <p:cNvPr id="5" name="Text 2"/>
          <p:cNvSpPr txBox="1"/>
          <p:nvPr/>
        </p:nvSpPr>
        <p:spPr>
          <a:xfrm>
            <a:off x="457200" y="3511856"/>
            <a:ext cx="5532120" cy="292608"/>
          </a:xfrm>
          <a:prstGeom prst="rect">
            <a:avLst/>
          </a:prstGeom>
          <a:noFill/>
          <a:ln/>
        </p:spPr>
        <p:txBody>
          <a:bodyPr wrap="square" lIns="0" tIns="0" rIns="0" bIns="0" rtlCol="0" anchor="ctr"/>
          <a:lstStyle/>
          <a:p>
            <a:pPr algn="ctr" indent="0" marL="0">
              <a:buNone/>
            </a:pPr>
            <a:r>
              <a:rPr lang="en-US" sz="1200" i="1" dirty="0">
                <a:solidFill>
                  <a:srgbClr val="4F5A68"/>
                </a:solidFill>
              </a:rPr>
              <a:t>train_model.py – two models compared; calibrated; more time never lowers the score</a:t>
            </a:r>
            <a:endParaRPr lang="en-US" sz="1200" dirty="0"/>
          </a:p>
        </p:txBody>
      </p:sp>
      <p:sp>
        <p:nvSpPr>
          <p:cNvPr id="6" name="Screenshot frame"/>
          <p:cNvSpPr/>
          <p:nvPr/>
        </p:nvSpPr>
        <p:spPr>
          <a:xfrm>
            <a:off x="6172200" y="1207008"/>
            <a:ext cx="5586984" cy="2222552"/>
          </a:xfrm>
          <a:prstGeom prst="rect">
            <a:avLst/>
          </a:prstGeom>
          <a:solidFill>
            <a:srgbClr val="FFFFFF"/>
          </a:solidFill>
          <a:ln w="9525">
            <a:solidFill>
              <a:srgbClr val="B7C2D0"/>
            </a:solidFill>
            <a:prstDash val="solid"/>
          </a:ln>
          <a:effectLst>
            <a:outerShdw sx="100000" sy="100000" kx="0" ky="0" algn="bl" rotWithShape="0" blurRad="76200" dist="25400" dir="5400000">
              <a:srgbClr val="9AA6B5">
                <a:alpha val="40000"/>
              </a:srgbClr>
            </a:outerShdw>
          </a:effectLst>
        </p:spPr>
      </p:sp>
      <p:pic>
        <p:nvPicPr>
          <p:cNvPr id="7" name="Image 1" descr="Scoring code: combine profile chance and signals in odds">    </p:cNvPr>
          <p:cNvPicPr>
            <a:picLocks noChangeAspect="1"/>
          </p:cNvPicPr>
          <p:nvPr/>
        </p:nvPicPr>
        <p:blipFill>
          <a:blip r:embed="rId2"/>
          <a:stretch>
            <a:fillRect/>
          </a:stretch>
        </p:blipFill>
        <p:spPr>
          <a:xfrm>
            <a:off x="6199632" y="1234440"/>
            <a:ext cx="5532120" cy="2167688"/>
          </a:xfrm>
          <a:prstGeom prst="rect">
            <a:avLst/>
          </a:prstGeom>
        </p:spPr>
      </p:pic>
      <p:sp>
        <p:nvSpPr>
          <p:cNvPr id="8" name="Text 4"/>
          <p:cNvSpPr txBox="1"/>
          <p:nvPr/>
        </p:nvSpPr>
        <p:spPr>
          <a:xfrm>
            <a:off x="6199632" y="3511856"/>
            <a:ext cx="5532120" cy="292608"/>
          </a:xfrm>
          <a:prstGeom prst="rect">
            <a:avLst/>
          </a:prstGeom>
          <a:noFill/>
          <a:ln/>
        </p:spPr>
        <p:txBody>
          <a:bodyPr wrap="square" lIns="0" tIns="0" rIns="0" bIns="0" rtlCol="0" anchor="ctr"/>
          <a:lstStyle/>
          <a:p>
            <a:pPr algn="ctr" indent="0" marL="0">
              <a:buNone/>
            </a:pPr>
            <a:r>
              <a:rPr lang="en-US" sz="1200" i="1" dirty="0">
                <a:solidFill>
                  <a:srgbClr val="4F5A68"/>
                </a:solidFill>
              </a:rPr>
              <a:t>agents.py – profile chance × signal weights (in odds) → final chance and priority</a:t>
            </a:r>
            <a:endParaRPr lang="en-US" sz="1200" dirty="0"/>
          </a:p>
        </p:txBody>
      </p:sp>
      <p:sp>
        <p:nvSpPr>
          <p:cNvPr id="9" name="Code facts"/>
          <p:cNvSpPr/>
          <p:nvPr/>
        </p:nvSpPr>
        <p:spPr>
          <a:xfrm>
            <a:off x="457200" y="4343400"/>
            <a:ext cx="11274552" cy="1828800"/>
          </a:xfrm>
          <a:prstGeom prst="roundRect">
            <a:avLst>
              <a:gd name="adj" fmla="val 3000"/>
            </a:avLst>
          </a:prstGeom>
          <a:solidFill>
            <a:srgbClr val="F3F5F8"/>
          </a:solidFill>
          <a:ln w="12700">
            <a:solidFill>
              <a:srgbClr val="B7C2D0"/>
            </a:solidFill>
            <a:prstDash val="solid"/>
          </a:ln>
        </p:spPr>
      </p:sp>
      <p:sp>
        <p:nvSpPr>
          <p:cNvPr id="10" name="Text 6"/>
          <p:cNvSpPr txBox="1"/>
          <p:nvPr/>
        </p:nvSpPr>
        <p:spPr>
          <a:xfrm>
            <a:off x="640080" y="4526280"/>
            <a:ext cx="2606040" cy="777240"/>
          </a:xfrm>
          <a:prstGeom prst="rect">
            <a:avLst/>
          </a:prstGeom>
          <a:noFill/>
          <a:ln/>
        </p:spPr>
        <p:txBody>
          <a:bodyPr wrap="square" lIns="0" tIns="0" rIns="0" bIns="0" rtlCol="0" anchor="ctr"/>
          <a:lstStyle/>
          <a:p>
            <a:pPr algn="ctr" indent="0" marL="0">
              <a:buNone/>
            </a:pPr>
            <a:r>
              <a:rPr lang="en-US" sz="3400" b="1" dirty="0">
                <a:solidFill>
                  <a:schemeClr val="tx2"/>
                </a:solidFill>
                <a:latin typeface="Arial" pitchFamily="34" charset="0"/>
                <a:ea typeface="Arial" pitchFamily="34" charset="-122"/>
                <a:cs typeface="Arial" pitchFamily="34" charset="-120"/>
              </a:rPr>
              <a:t>2,500+</a:t>
            </a:r>
            <a:endParaRPr lang="en-US" sz="3400" dirty="0"/>
          </a:p>
        </p:txBody>
      </p:sp>
      <p:sp>
        <p:nvSpPr>
          <p:cNvPr id="11" name="Text 7"/>
          <p:cNvSpPr txBox="1"/>
          <p:nvPr/>
        </p:nvSpPr>
        <p:spPr>
          <a:xfrm>
            <a:off x="640080" y="5349240"/>
            <a:ext cx="2606040" cy="411480"/>
          </a:xfrm>
          <a:prstGeom prst="rect">
            <a:avLst/>
          </a:prstGeom>
          <a:noFill/>
          <a:ln/>
        </p:spPr>
        <p:txBody>
          <a:bodyPr wrap="square" lIns="0" tIns="0" rIns="0" bIns="0" rtlCol="0" anchor="ctr"/>
          <a:lstStyle/>
          <a:p>
            <a:pPr algn="ctr" indent="0" marL="0">
              <a:buNone/>
            </a:pPr>
            <a:r>
              <a:rPr lang="en-US" sz="1400" dirty="0">
                <a:solidFill>
                  <a:srgbClr val="4F5A68"/>
                </a:solidFill>
              </a:rPr>
              <a:t>lines of Python</a:t>
            </a:r>
            <a:endParaRPr lang="en-US" sz="1400" dirty="0"/>
          </a:p>
        </p:txBody>
      </p:sp>
      <p:sp>
        <p:nvSpPr>
          <p:cNvPr id="12" name="Text 8"/>
          <p:cNvSpPr txBox="1"/>
          <p:nvPr/>
        </p:nvSpPr>
        <p:spPr>
          <a:xfrm>
            <a:off x="3429000" y="4526280"/>
            <a:ext cx="2606040" cy="777240"/>
          </a:xfrm>
          <a:prstGeom prst="rect">
            <a:avLst/>
          </a:prstGeom>
          <a:noFill/>
          <a:ln/>
        </p:spPr>
        <p:txBody>
          <a:bodyPr wrap="square" lIns="0" tIns="0" rIns="0" bIns="0" rtlCol="0" anchor="ctr"/>
          <a:lstStyle/>
          <a:p>
            <a:pPr algn="ctr" indent="0" marL="0">
              <a:buNone/>
            </a:pPr>
            <a:r>
              <a:rPr lang="en-US" sz="3400" b="1" dirty="0">
                <a:solidFill>
                  <a:schemeClr val="tx2"/>
                </a:solidFill>
                <a:latin typeface="Arial" pitchFamily="34" charset="0"/>
                <a:ea typeface="Arial" pitchFamily="34" charset="-122"/>
                <a:cs typeface="Arial" pitchFamily="34" charset="-120"/>
              </a:rPr>
              <a:t>27</a:t>
            </a:r>
            <a:endParaRPr lang="en-US" sz="3400" dirty="0"/>
          </a:p>
        </p:txBody>
      </p:sp>
      <p:sp>
        <p:nvSpPr>
          <p:cNvPr id="13" name="Text 9"/>
          <p:cNvSpPr txBox="1"/>
          <p:nvPr/>
        </p:nvSpPr>
        <p:spPr>
          <a:xfrm>
            <a:off x="3429000" y="5349240"/>
            <a:ext cx="2606040" cy="411480"/>
          </a:xfrm>
          <a:prstGeom prst="rect">
            <a:avLst/>
          </a:prstGeom>
          <a:noFill/>
          <a:ln/>
        </p:spPr>
        <p:txBody>
          <a:bodyPr wrap="square" lIns="0" tIns="0" rIns="0" bIns="0" rtlCol="0" anchor="ctr"/>
          <a:lstStyle/>
          <a:p>
            <a:pPr algn="ctr" indent="0" marL="0">
              <a:buNone/>
            </a:pPr>
            <a:r>
              <a:rPr lang="en-US" sz="1400" dirty="0">
                <a:solidFill>
                  <a:srgbClr val="4F5A68"/>
                </a:solidFill>
              </a:rPr>
              <a:t>API endpoints</a:t>
            </a:r>
            <a:endParaRPr lang="en-US" sz="1400" dirty="0"/>
          </a:p>
        </p:txBody>
      </p:sp>
      <p:sp>
        <p:nvSpPr>
          <p:cNvPr id="14" name="Text 10"/>
          <p:cNvSpPr txBox="1"/>
          <p:nvPr/>
        </p:nvSpPr>
        <p:spPr>
          <a:xfrm>
            <a:off x="6217920" y="4526280"/>
            <a:ext cx="2606040" cy="777240"/>
          </a:xfrm>
          <a:prstGeom prst="rect">
            <a:avLst/>
          </a:prstGeom>
          <a:noFill/>
          <a:ln/>
        </p:spPr>
        <p:txBody>
          <a:bodyPr wrap="square" lIns="0" tIns="0" rIns="0" bIns="0" rtlCol="0" anchor="ctr"/>
          <a:lstStyle/>
          <a:p>
            <a:pPr algn="ctr" indent="0" marL="0">
              <a:buNone/>
            </a:pPr>
            <a:r>
              <a:rPr lang="en-US" sz="3400" b="1" dirty="0">
                <a:solidFill>
                  <a:schemeClr val="tx2"/>
                </a:solidFill>
                <a:latin typeface="Arial" pitchFamily="34" charset="0"/>
                <a:ea typeface="Arial" pitchFamily="34" charset="-122"/>
                <a:cs typeface="Arial" pitchFamily="34" charset="-120"/>
              </a:rPr>
              <a:t>8</a:t>
            </a:r>
            <a:endParaRPr lang="en-US" sz="3400" dirty="0"/>
          </a:p>
        </p:txBody>
      </p:sp>
      <p:sp>
        <p:nvSpPr>
          <p:cNvPr id="15" name="Text 11"/>
          <p:cNvSpPr txBox="1"/>
          <p:nvPr/>
        </p:nvSpPr>
        <p:spPr>
          <a:xfrm>
            <a:off x="6217920" y="5349240"/>
            <a:ext cx="2606040" cy="411480"/>
          </a:xfrm>
          <a:prstGeom prst="rect">
            <a:avLst/>
          </a:prstGeom>
          <a:noFill/>
          <a:ln/>
        </p:spPr>
        <p:txBody>
          <a:bodyPr wrap="square" lIns="0" tIns="0" rIns="0" bIns="0" rtlCol="0" anchor="ctr"/>
          <a:lstStyle/>
          <a:p>
            <a:pPr algn="ctr" indent="0" marL="0">
              <a:buNone/>
            </a:pPr>
            <a:r>
              <a:rPr lang="en-US" sz="1400" dirty="0">
                <a:solidFill>
                  <a:srgbClr val="4F5A68"/>
                </a:solidFill>
              </a:rPr>
              <a:t>React pages</a:t>
            </a:r>
            <a:endParaRPr lang="en-US" sz="1400" dirty="0"/>
          </a:p>
        </p:txBody>
      </p:sp>
      <p:sp>
        <p:nvSpPr>
          <p:cNvPr id="16" name="Text 12"/>
          <p:cNvSpPr txBox="1"/>
          <p:nvPr/>
        </p:nvSpPr>
        <p:spPr>
          <a:xfrm>
            <a:off x="9006840" y="4526280"/>
            <a:ext cx="2606040" cy="777240"/>
          </a:xfrm>
          <a:prstGeom prst="rect">
            <a:avLst/>
          </a:prstGeom>
          <a:noFill/>
          <a:ln/>
        </p:spPr>
        <p:txBody>
          <a:bodyPr wrap="square" lIns="0" tIns="0" rIns="0" bIns="0" rtlCol="0" anchor="ctr"/>
          <a:lstStyle/>
          <a:p>
            <a:pPr algn="ctr" indent="0" marL="0">
              <a:buNone/>
            </a:pPr>
            <a:r>
              <a:rPr lang="en-US" sz="3400" b="1" dirty="0">
                <a:solidFill>
                  <a:schemeClr val="tx2"/>
                </a:solidFill>
                <a:latin typeface="Arial" pitchFamily="34" charset="0"/>
                <a:ea typeface="Arial" pitchFamily="34" charset="-122"/>
                <a:cs typeface="Arial" pitchFamily="34" charset="-120"/>
              </a:rPr>
              <a:t>4</a:t>
            </a:r>
            <a:endParaRPr lang="en-US" sz="3400" dirty="0"/>
          </a:p>
        </p:txBody>
      </p:sp>
      <p:sp>
        <p:nvSpPr>
          <p:cNvPr id="17" name="Text 13"/>
          <p:cNvSpPr txBox="1"/>
          <p:nvPr/>
        </p:nvSpPr>
        <p:spPr>
          <a:xfrm>
            <a:off x="9006840" y="5349240"/>
            <a:ext cx="2606040" cy="411480"/>
          </a:xfrm>
          <a:prstGeom prst="rect">
            <a:avLst/>
          </a:prstGeom>
          <a:noFill/>
          <a:ln/>
        </p:spPr>
        <p:txBody>
          <a:bodyPr wrap="square" lIns="0" tIns="0" rIns="0" bIns="0" rtlCol="0" anchor="ctr"/>
          <a:lstStyle/>
          <a:p>
            <a:pPr algn="ctr" indent="0" marL="0">
              <a:buNone/>
            </a:pPr>
            <a:r>
              <a:rPr lang="en-US" sz="1400" dirty="0">
                <a:solidFill>
                  <a:srgbClr val="4F5A68"/>
                </a:solidFill>
              </a:rPr>
              <a:t>lead channels</a:t>
            </a:r>
            <a:endParaRPr lang="en-US" sz="1400" dirty="0"/>
          </a:p>
        </p:txBody>
      </p:sp>
      <p:sp>
        <p:nvSpPr>
          <p:cNvPr id="25" name="Slide Number Placeholder 0"/>
          <p:cNvSpPr>
            <a:spLocks noGrp="1"/>
          </p:cNvSpPr>
          <p:nvPr>
            <p:ph type="sldNum" sz="quarter" idx="4294967295"/>
          </p:nvPr>
        </p:nvSpPr>
        <p:spPr>
          <a:xfrm>
            <a:off x="1127455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F5A68"/>
                </a:solidFill>
                <a:latin typeface="Arial"/>
                <a:ea typeface="Arial"/>
                <a:cs typeface="Aria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685800"/>
          </a:xfrm>
          <a:prstGeom prst="rect">
            <a:avLst/>
          </a:prstGeom>
          <a:noFill/>
          <a:ln/>
        </p:spPr>
        <p:txBody>
          <a:bodyPr wrap="square" lIns="0" tIns="0" rIns="0" bIns="0" rtlCol="0" anchor="ctr"/>
          <a:lstStyle/>
          <a:p>
            <a:pPr algn="ctr" indent="0" marL="0">
              <a:buNone/>
            </a:pPr>
            <a:r>
              <a:rPr lang="en-US" sz="3200" b="1" dirty="0">
                <a:solidFill>
                  <a:srgbClr val="222B38"/>
                </a:solidFill>
                <a:latin typeface="Times New Roman" pitchFamily="34" charset="0"/>
                <a:ea typeface="Times New Roman" pitchFamily="34" charset="-122"/>
                <a:cs typeface="Times New Roman" pitchFamily="34" charset="-120"/>
              </a:rPr>
              <a:t>OUTPUT: LEAD DASHBOARD</a:t>
            </a:r>
            <a:endParaRPr lang="en-US" sz="3200" dirty="0"/>
          </a:p>
        </p:txBody>
      </p:sp>
      <p:sp>
        <p:nvSpPr>
          <p:cNvPr id="3" name="Screenshot frame"/>
          <p:cNvSpPr/>
          <p:nvPr/>
        </p:nvSpPr>
        <p:spPr>
          <a:xfrm>
            <a:off x="429768" y="1161288"/>
            <a:ext cx="5586984" cy="3358769"/>
          </a:xfrm>
          <a:prstGeom prst="rect">
            <a:avLst/>
          </a:prstGeom>
          <a:solidFill>
            <a:srgbClr val="FFFFFF"/>
          </a:solidFill>
          <a:ln w="9525">
            <a:solidFill>
              <a:srgbClr val="B7C2D0"/>
            </a:solidFill>
            <a:prstDash val="solid"/>
          </a:ln>
          <a:effectLst>
            <a:outerShdw sx="100000" sy="100000" kx="0" ky="0" algn="bl" rotWithShape="0" blurRad="76200" dist="25400" dir="5400000">
              <a:srgbClr val="9AA6B5">
                <a:alpha val="40000"/>
              </a:srgbClr>
            </a:outerShdw>
          </a:effectLst>
        </p:spPr>
      </p:sp>
      <p:pic>
        <p:nvPicPr>
          <p:cNvPr id="4" name="Image 0" descr="Dashboard with leads sorted by priority">    </p:cNvPr>
          <p:cNvPicPr>
            <a:picLocks noChangeAspect="1"/>
          </p:cNvPicPr>
          <p:nvPr/>
        </p:nvPicPr>
        <p:blipFill>
          <a:blip r:embed="rId1"/>
          <a:stretch>
            <a:fillRect/>
          </a:stretch>
        </p:blipFill>
        <p:spPr>
          <a:xfrm>
            <a:off x="457200" y="1188720"/>
            <a:ext cx="5532120" cy="3303905"/>
          </a:xfrm>
          <a:prstGeom prst="rect">
            <a:avLst/>
          </a:prstGeom>
        </p:spPr>
      </p:pic>
      <p:sp>
        <p:nvSpPr>
          <p:cNvPr id="5" name="Text 2"/>
          <p:cNvSpPr txBox="1"/>
          <p:nvPr/>
        </p:nvSpPr>
        <p:spPr>
          <a:xfrm>
            <a:off x="457200" y="4584065"/>
            <a:ext cx="5532120" cy="292608"/>
          </a:xfrm>
          <a:prstGeom prst="rect">
            <a:avLst/>
          </a:prstGeom>
          <a:noFill/>
          <a:ln/>
        </p:spPr>
        <p:txBody>
          <a:bodyPr wrap="square" lIns="0" tIns="0" rIns="0" bIns="0" rtlCol="0" anchor="ctr"/>
          <a:lstStyle/>
          <a:p>
            <a:pPr algn="ctr" indent="0" marL="0">
              <a:buNone/>
            </a:pPr>
            <a:r>
              <a:rPr lang="en-US" sz="1200" i="1" dirty="0">
                <a:solidFill>
                  <a:srgbClr val="4F5A68"/>
                </a:solidFill>
              </a:rPr>
              <a:t>Leads sorted HIGH first, with chance, tags and reason</a:t>
            </a:r>
            <a:endParaRPr lang="en-US" sz="1200" dirty="0"/>
          </a:p>
        </p:txBody>
      </p:sp>
      <p:sp>
        <p:nvSpPr>
          <p:cNvPr id="6" name="Screenshot frame"/>
          <p:cNvSpPr/>
          <p:nvPr/>
        </p:nvSpPr>
        <p:spPr>
          <a:xfrm>
            <a:off x="6172200" y="1161288"/>
            <a:ext cx="5586984" cy="3358769"/>
          </a:xfrm>
          <a:prstGeom prst="rect">
            <a:avLst/>
          </a:prstGeom>
          <a:solidFill>
            <a:srgbClr val="FFFFFF"/>
          </a:solidFill>
          <a:ln w="9525">
            <a:solidFill>
              <a:srgbClr val="B7C2D0"/>
            </a:solidFill>
            <a:prstDash val="solid"/>
          </a:ln>
          <a:effectLst>
            <a:outerShdw sx="100000" sy="100000" kx="0" ky="0" algn="bl" rotWithShape="0" blurRad="76200" dist="25400" dir="5400000">
              <a:srgbClr val="9AA6B5">
                <a:alpha val="40000"/>
              </a:srgbClr>
            </a:outerShdw>
          </a:effectLst>
        </p:spPr>
      </p:sp>
      <p:pic>
        <p:nvPicPr>
          <p:cNvPr id="7" name="Image 1" descr="Lead details with score breakdown and follow-up draft">    </p:cNvPr>
          <p:cNvPicPr>
            <a:picLocks noChangeAspect="1"/>
          </p:cNvPicPr>
          <p:nvPr/>
        </p:nvPicPr>
        <p:blipFill>
          <a:blip r:embed="rId2"/>
          <a:stretch>
            <a:fillRect/>
          </a:stretch>
        </p:blipFill>
        <p:spPr>
          <a:xfrm>
            <a:off x="6199632" y="1188720"/>
            <a:ext cx="5532120" cy="3303905"/>
          </a:xfrm>
          <a:prstGeom prst="rect">
            <a:avLst/>
          </a:prstGeom>
        </p:spPr>
      </p:pic>
      <p:sp>
        <p:nvSpPr>
          <p:cNvPr id="8" name="Text 4"/>
          <p:cNvSpPr txBox="1"/>
          <p:nvPr/>
        </p:nvSpPr>
        <p:spPr>
          <a:xfrm>
            <a:off x="6199632" y="4584065"/>
            <a:ext cx="5532120" cy="292608"/>
          </a:xfrm>
          <a:prstGeom prst="rect">
            <a:avLst/>
          </a:prstGeom>
          <a:noFill/>
          <a:ln/>
        </p:spPr>
        <p:txBody>
          <a:bodyPr wrap="square" lIns="0" tIns="0" rIns="0" bIns="0" rtlCol="0" anchor="ctr"/>
          <a:lstStyle/>
          <a:p>
            <a:pPr algn="ctr" indent="0" marL="0">
              <a:buNone/>
            </a:pPr>
            <a:r>
              <a:rPr lang="en-US" sz="1200" i="1" dirty="0">
                <a:solidFill>
                  <a:srgbClr val="4F5A68"/>
                </a:solidFill>
              </a:rPr>
              <a:t>Lead details: profile 76% + 17% from the message = 93%, editable draft</a:t>
            </a:r>
            <a:endParaRPr lang="en-US" sz="1200" dirty="0"/>
          </a:p>
        </p:txBody>
      </p:sp>
      <p:sp>
        <p:nvSpPr>
          <p:cNvPr id="9" name="Output notes"/>
          <p:cNvSpPr/>
          <p:nvPr/>
        </p:nvSpPr>
        <p:spPr>
          <a:xfrm>
            <a:off x="457200" y="4937760"/>
            <a:ext cx="11274552" cy="1234440"/>
          </a:xfrm>
          <a:prstGeom prst="roundRect">
            <a:avLst>
              <a:gd name="adj" fmla="val 4444"/>
            </a:avLst>
          </a:prstGeom>
          <a:solidFill>
            <a:schemeClr val="bg2"/>
          </a:solidFill>
          <a:ln w="12700">
            <a:solidFill>
              <a:srgbClr val="9DB7D9"/>
            </a:solidFill>
            <a:prstDash val="solid"/>
          </a:ln>
        </p:spPr>
      </p:sp>
      <p:sp>
        <p:nvSpPr>
          <p:cNvPr id="10" name="Text 6"/>
          <p:cNvSpPr txBox="1"/>
          <p:nvPr/>
        </p:nvSpPr>
        <p:spPr>
          <a:xfrm>
            <a:off x="685800" y="4937760"/>
            <a:ext cx="10835640" cy="1234440"/>
          </a:xfrm>
          <a:prstGeom prst="rect">
            <a:avLst/>
          </a:prstGeom>
          <a:noFill/>
          <a:ln/>
        </p:spPr>
        <p:txBody>
          <a:bodyPr wrap="square" lIns="0" tIns="0" rIns="0" bIns="0" rtlCol="0" anchor="ctr"/>
          <a:lstStyle/>
          <a:p>
            <a:pPr indent="0" marL="0">
              <a:buNone/>
            </a:pPr>
            <a:r>
              <a:rPr lang="en-US" sz="1350" b="1" dirty="0">
                <a:solidFill>
                  <a:schemeClr val="tx2"/>
                </a:solidFill>
              </a:rPr>
              <a:t>Sample run with 11 leads from all channels: </a:t>
            </a:r>
            <a:pPr indent="0" marL="0">
              <a:buNone/>
            </a:pPr>
            <a:r>
              <a:rPr lang="en-US" sz="1350" dirty="0">
                <a:solidFill>
                  <a:schemeClr val="tx1"/>
                </a:solidFill>
              </a:rPr>
              <a:t>a referral after a phone call scored 96%, a WhatsApp buyer asking price and booking 93%, "just looking" on the website 4%, a customer who only said "ok" 12%, and "do you have bikes?" at a car dealer was tagged Not in our product list.</a:t>
            </a:r>
            <a:endParaRPr lang="en-US" sz="1350" dirty="0"/>
          </a:p>
        </p:txBody>
      </p:sp>
      <p:sp>
        <p:nvSpPr>
          <p:cNvPr id="25" name="Slide Number Placeholder 0"/>
          <p:cNvSpPr>
            <a:spLocks noGrp="1"/>
          </p:cNvSpPr>
          <p:nvPr>
            <p:ph type="sldNum" sz="quarter" idx="4294967295"/>
          </p:nvPr>
        </p:nvSpPr>
        <p:spPr>
          <a:xfrm>
            <a:off x="1127455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F5A68"/>
                </a:solidFill>
                <a:latin typeface="Arial"/>
                <a:ea typeface="Arial"/>
                <a:cs typeface="Aria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685800"/>
          </a:xfrm>
          <a:prstGeom prst="rect">
            <a:avLst/>
          </a:prstGeom>
          <a:noFill/>
          <a:ln/>
        </p:spPr>
        <p:txBody>
          <a:bodyPr wrap="square" lIns="0" tIns="0" rIns="0" bIns="0" rtlCol="0" anchor="ctr"/>
          <a:lstStyle/>
          <a:p>
            <a:pPr algn="ctr" indent="0" marL="0">
              <a:buNone/>
            </a:pPr>
            <a:r>
              <a:rPr lang="en-US" sz="3200" b="1" dirty="0">
                <a:solidFill>
                  <a:srgbClr val="222B38"/>
                </a:solidFill>
                <a:latin typeface="Times New Roman" pitchFamily="34" charset="0"/>
                <a:ea typeface="Times New Roman" pitchFamily="34" charset="-122"/>
                <a:cs typeface="Times New Roman" pitchFamily="34" charset="-120"/>
              </a:rPr>
              <a:t>OUTPUT: WHATSAPP ASSISTANT &amp; CHANNELS</a:t>
            </a:r>
            <a:endParaRPr lang="en-US" sz="3200" dirty="0"/>
          </a:p>
        </p:txBody>
      </p:sp>
      <p:sp>
        <p:nvSpPr>
          <p:cNvPr id="3" name="Screenshot frame"/>
          <p:cNvSpPr/>
          <p:nvPr/>
        </p:nvSpPr>
        <p:spPr>
          <a:xfrm>
            <a:off x="692632" y="1161288"/>
            <a:ext cx="5564176" cy="4626864"/>
          </a:xfrm>
          <a:prstGeom prst="rect">
            <a:avLst/>
          </a:prstGeom>
          <a:solidFill>
            <a:srgbClr val="FFFFFF"/>
          </a:solidFill>
          <a:ln w="9525">
            <a:solidFill>
              <a:srgbClr val="B7C2D0"/>
            </a:solidFill>
            <a:prstDash val="solid"/>
          </a:ln>
          <a:effectLst>
            <a:outerShdw sx="100000" sy="100000" kx="0" ky="0" algn="bl" rotWithShape="0" blurRad="76200" dist="25400" dir="5400000">
              <a:srgbClr val="9AA6B5">
                <a:alpha val="40000"/>
              </a:srgbClr>
            </a:outerShdw>
          </a:effectLst>
        </p:spPr>
      </p:sp>
      <p:pic>
        <p:nvPicPr>
          <p:cNvPr id="4" name="Image 0" descr="WhatsApp conversation with the assistant">    </p:cNvPr>
          <p:cNvPicPr>
            <a:picLocks noChangeAspect="1"/>
          </p:cNvPicPr>
          <p:nvPr/>
        </p:nvPicPr>
        <p:blipFill>
          <a:blip r:embed="rId1"/>
          <a:stretch>
            <a:fillRect/>
          </a:stretch>
        </p:blipFill>
        <p:spPr>
          <a:xfrm>
            <a:off x="720064" y="1188720"/>
            <a:ext cx="5509312" cy="4572000"/>
          </a:xfrm>
          <a:prstGeom prst="rect">
            <a:avLst/>
          </a:prstGeom>
        </p:spPr>
      </p:pic>
      <p:sp>
        <p:nvSpPr>
          <p:cNvPr id="5" name="Text 2"/>
          <p:cNvSpPr txBox="1"/>
          <p:nvPr/>
        </p:nvSpPr>
        <p:spPr>
          <a:xfrm>
            <a:off x="457200" y="5852160"/>
            <a:ext cx="6035040" cy="292608"/>
          </a:xfrm>
          <a:prstGeom prst="rect">
            <a:avLst/>
          </a:prstGeom>
          <a:noFill/>
          <a:ln/>
        </p:spPr>
        <p:txBody>
          <a:bodyPr wrap="square" lIns="0" tIns="0" rIns="0" bIns="0" rtlCol="0" anchor="ctr"/>
          <a:lstStyle/>
          <a:p>
            <a:pPr algn="ctr" indent="0" marL="0">
              <a:buNone/>
            </a:pPr>
            <a:r>
              <a:rPr lang="en-US" sz="1200" i="1" dirty="0">
                <a:solidFill>
                  <a:srgbClr val="4F5A68"/>
                </a:solidFill>
              </a:rPr>
              <a:t>Real replies from our backend: questions, then price, specs, stock, delivery</a:t>
            </a:r>
            <a:endParaRPr lang="en-US" sz="1200" dirty="0"/>
          </a:p>
        </p:txBody>
      </p:sp>
      <p:sp>
        <p:nvSpPr>
          <p:cNvPr id="6" name="Screenshot frame"/>
          <p:cNvSpPr/>
          <p:nvPr/>
        </p:nvSpPr>
        <p:spPr>
          <a:xfrm>
            <a:off x="6693408" y="1161288"/>
            <a:ext cx="5065776" cy="3047492"/>
          </a:xfrm>
          <a:prstGeom prst="rect">
            <a:avLst/>
          </a:prstGeom>
          <a:solidFill>
            <a:srgbClr val="FFFFFF"/>
          </a:solidFill>
          <a:ln w="9525">
            <a:solidFill>
              <a:srgbClr val="B7C2D0"/>
            </a:solidFill>
            <a:prstDash val="solid"/>
          </a:ln>
          <a:effectLst>
            <a:outerShdw sx="100000" sy="100000" kx="0" ky="0" algn="bl" rotWithShape="0" blurRad="76200" dist="25400" dir="5400000">
              <a:srgbClr val="9AA6B5">
                <a:alpha val="40000"/>
              </a:srgbClr>
            </a:outerShdw>
          </a:effectLst>
        </p:spPr>
      </p:sp>
      <p:pic>
        <p:nvPicPr>
          <p:cNvPr id="7" name="Image 1" descr="Connect page for WhatsApp, website and email">    </p:cNvPr>
          <p:cNvPicPr>
            <a:picLocks noChangeAspect="1"/>
          </p:cNvPicPr>
          <p:nvPr/>
        </p:nvPicPr>
        <p:blipFill>
          <a:blip r:embed="rId2"/>
          <a:stretch>
            <a:fillRect/>
          </a:stretch>
        </p:blipFill>
        <p:spPr>
          <a:xfrm>
            <a:off x="6720840" y="1188720"/>
            <a:ext cx="5010912" cy="2992628"/>
          </a:xfrm>
          <a:prstGeom prst="rect">
            <a:avLst/>
          </a:prstGeom>
        </p:spPr>
      </p:pic>
      <p:sp>
        <p:nvSpPr>
          <p:cNvPr id="8" name="Text 4"/>
          <p:cNvSpPr txBox="1"/>
          <p:nvPr/>
        </p:nvSpPr>
        <p:spPr>
          <a:xfrm>
            <a:off x="6720840" y="4272788"/>
            <a:ext cx="5010912" cy="292608"/>
          </a:xfrm>
          <a:prstGeom prst="rect">
            <a:avLst/>
          </a:prstGeom>
          <a:noFill/>
          <a:ln/>
        </p:spPr>
        <p:txBody>
          <a:bodyPr wrap="square" lIns="0" tIns="0" rIns="0" bIns="0" rtlCol="0" anchor="ctr"/>
          <a:lstStyle/>
          <a:p>
            <a:pPr algn="ctr" indent="0" marL="0">
              <a:buNone/>
            </a:pPr>
            <a:r>
              <a:rPr lang="en-US" sz="1200" i="1" dirty="0">
                <a:solidFill>
                  <a:srgbClr val="4F5A68"/>
                </a:solidFill>
              </a:rPr>
              <a:t>Connect page: status, lead counts and addresses for each channel</a:t>
            </a:r>
            <a:endParaRPr lang="en-US" sz="1200" dirty="0"/>
          </a:p>
        </p:txBody>
      </p:sp>
      <p:sp>
        <p:nvSpPr>
          <p:cNvPr id="9" name="Bot notes"/>
          <p:cNvSpPr/>
          <p:nvPr/>
        </p:nvSpPr>
        <p:spPr>
          <a:xfrm>
            <a:off x="6720840" y="4754880"/>
            <a:ext cx="5010912" cy="1417320"/>
          </a:xfrm>
          <a:prstGeom prst="roundRect">
            <a:avLst>
              <a:gd name="adj" fmla="val 3871"/>
            </a:avLst>
          </a:prstGeom>
          <a:solidFill>
            <a:schemeClr val="accent5"/>
          </a:solidFill>
          <a:ln w="12700">
            <a:solidFill>
              <a:srgbClr val="9CCBAE"/>
            </a:solidFill>
            <a:prstDash val="solid"/>
          </a:ln>
        </p:spPr>
      </p:sp>
      <p:sp>
        <p:nvSpPr>
          <p:cNvPr id="10" name="Text 6"/>
          <p:cNvSpPr txBox="1"/>
          <p:nvPr/>
        </p:nvSpPr>
        <p:spPr>
          <a:xfrm>
            <a:off x="6903720" y="4846320"/>
            <a:ext cx="4709160" cy="1234440"/>
          </a:xfrm>
          <a:prstGeom prst="rect">
            <a:avLst/>
          </a:prstGeom>
          <a:noFill/>
          <a:ln/>
        </p:spPr>
        <p:txBody>
          <a:bodyPr wrap="square" lIns="0" tIns="0" rIns="0" bIns="0" rtlCol="0" anchor="ctr"/>
          <a:lstStyle/>
          <a:p>
            <a:pPr marL="342900" indent="-342900">
              <a:spcAft>
                <a:spcPts val="400"/>
              </a:spcAft>
              <a:buSzPct val="100000"/>
              <a:buChar char="•"/>
            </a:pPr>
            <a:r>
              <a:rPr lang="en-US" sz="1300" dirty="0">
                <a:solidFill>
                  <a:schemeClr val="tx1"/>
                </a:solidFill>
              </a:rPr>
              <a:t>Product list shows names only; price only when asked</a:t>
            </a:r>
            <a:endParaRPr lang="en-US" sz="1300" dirty="0"/>
          </a:p>
          <a:p>
            <a:pPr marL="342900" indent="-342900">
              <a:spcAft>
                <a:spcPts val="400"/>
              </a:spcAft>
              <a:buSzPct val="100000"/>
              <a:buChar char="•"/>
            </a:pPr>
            <a:r>
              <a:rPr lang="en-US" sz="1300" dirty="0">
                <a:solidFill>
                  <a:schemeClr val="tx1"/>
                </a:solidFill>
              </a:rPr>
              <a:t>Understands typos; answers mid-flow questions</a:t>
            </a:r>
            <a:endParaRPr lang="en-US" sz="1300" dirty="0"/>
          </a:p>
          <a:p>
            <a:pPr marL="342900" indent="-342900">
              <a:spcAft>
                <a:spcPts val="400"/>
              </a:spcAft>
              <a:buSzPct val="100000"/>
              <a:buChar char="•"/>
            </a:pPr>
            <a:r>
              <a:rPr lang="en-US" sz="1300" dirty="0">
                <a:solidFill>
                  <a:schemeClr val="tx1"/>
                </a:solidFill>
              </a:rPr>
              <a:t>Discounts and special requests go to the team</a:t>
            </a:r>
            <a:endParaRPr lang="en-US" sz="1300" dirty="0"/>
          </a:p>
        </p:txBody>
      </p:sp>
      <p:sp>
        <p:nvSpPr>
          <p:cNvPr id="25" name="Slide Number Placeholder 0"/>
          <p:cNvSpPr>
            <a:spLocks noGrp="1"/>
          </p:cNvSpPr>
          <p:nvPr>
            <p:ph type="sldNum" sz="quarter" idx="4294967295"/>
          </p:nvPr>
        </p:nvSpPr>
        <p:spPr>
          <a:xfrm>
            <a:off x="1127455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F5A68"/>
                </a:solidFill>
                <a:latin typeface="Arial"/>
                <a:ea typeface="Arial"/>
                <a:cs typeface="Aria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685800"/>
          </a:xfrm>
          <a:prstGeom prst="rect">
            <a:avLst/>
          </a:prstGeom>
          <a:noFill/>
          <a:ln/>
        </p:spPr>
        <p:txBody>
          <a:bodyPr wrap="square" lIns="0" tIns="0" rIns="0" bIns="0" rtlCol="0" anchor="ctr"/>
          <a:lstStyle/>
          <a:p>
            <a:pPr algn="ctr" indent="0" marL="0">
              <a:buNone/>
            </a:pPr>
            <a:r>
              <a:rPr lang="en-US" sz="3200" b="1" dirty="0">
                <a:solidFill>
                  <a:srgbClr val="222B38"/>
                </a:solidFill>
                <a:latin typeface="Times New Roman" pitchFamily="34" charset="0"/>
                <a:ea typeface="Times New Roman" pitchFamily="34" charset="-122"/>
                <a:cs typeface="Times New Roman" pitchFamily="34" charset="-120"/>
              </a:rPr>
              <a:t>TESTING</a:t>
            </a:r>
            <a:endParaRPr lang="en-US" sz="3200" dirty="0"/>
          </a:p>
        </p:txBody>
      </p:sp>
      <p:graphicFrame>
        <p:nvGraphicFramePr>
          <p:cNvPr id="15" name="Test table"/>
          <p:cNvGraphicFramePr>
            <a:graphicFrameLocks noGrp="1"/>
          </p:cNvGraphicFramePr>
          <p:nvPr>
            <p:extLst>
              <p:ext uri="{D42A27DB-BD31-4B8C-83A1-F6EECF244321}">
                <p14:modId xmlns:p14="http://schemas.microsoft.com/office/powerpoint/2010/main" val="1579011935"/>
              </p:ext>
            </p:extLst>
          </p:nvPr>
        </p:nvGraphicFramePr>
        <p:xfrm>
          <a:off x="457200" y="1188720"/>
          <a:ext cx="7863840" cy="914400"/>
        </p:xfrm>
        <a:graphic>
          <a:graphicData uri="http://schemas.openxmlformats.org/drawingml/2006/table">
            <a:tbl>
              <a:tblPr/>
              <a:tblGrid>
                <a:gridCol w="2011680"/>
                <a:gridCol w="4663440"/>
                <a:gridCol w="1188720"/>
              </a:tblGrid>
              <a:tr h="566928">
                <a:tc>
                  <a:txBody>
                    <a:bodyPr/>
                    <a:lstStyle/>
                    <a:p>
                      <a:pPr indent="0" marL="0">
                        <a:buNone/>
                      </a:pPr>
                      <a:r>
                        <a:rPr lang="en-US" sz="1250" b="1" dirty="0">
                          <a:solidFill>
                            <a:srgbClr val="FFFFFF"/>
                          </a:solidFill>
                          <a:latin typeface="Arial" pitchFamily="34" charset="0"/>
                          <a:ea typeface="Arial" pitchFamily="34" charset="-122"/>
                          <a:cs typeface="Arial" pitchFamily="34" charset="-120"/>
                        </a:rPr>
                        <a:t>Test</a:t>
                      </a:r>
                      <a:endParaRPr lang="en-US" sz="1250" dirty="0">
                        <a:latin typeface="Arial" charset="0"/>
                        <a:ea typeface="Arial" charset="0"/>
                        <a:cs typeface="Arial" charset="0"/>
                      </a:endParaRPr>
                    </a:p>
                  </a:txBody>
                  <a:tcPr marL="73152" marR="73152" marT="73152" marB="73152"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13315C"/>
                    </a:solidFill>
                  </a:tcPr>
                </a:tc>
                <a:tc>
                  <a:txBody>
                    <a:bodyPr/>
                    <a:lstStyle/>
                    <a:p>
                      <a:pPr indent="0" marL="0">
                        <a:buNone/>
                      </a:pPr>
                      <a:r>
                        <a:rPr lang="en-US" sz="1250" b="1" dirty="0">
                          <a:solidFill>
                            <a:srgbClr val="FFFFFF"/>
                          </a:solidFill>
                          <a:latin typeface="Arial" pitchFamily="34" charset="0"/>
                          <a:ea typeface="Arial" pitchFamily="34" charset="-122"/>
                          <a:cs typeface="Arial" pitchFamily="34" charset="-120"/>
                        </a:rPr>
                        <a:t>What is checked</a:t>
                      </a:r>
                      <a:endParaRPr lang="en-US" sz="1250" dirty="0">
                        <a:latin typeface="Arial" charset="0"/>
                        <a:ea typeface="Arial" charset="0"/>
                        <a:cs typeface="Arial" charset="0"/>
                      </a:endParaRPr>
                    </a:p>
                  </a:txBody>
                  <a:tcPr marL="73152" marR="73152" marT="73152" marB="73152"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13315C"/>
                    </a:solidFill>
                  </a:tcPr>
                </a:tc>
                <a:tc>
                  <a:txBody>
                    <a:bodyPr/>
                    <a:lstStyle/>
                    <a:p>
                      <a:pPr indent="0" marL="0">
                        <a:buNone/>
                      </a:pPr>
                      <a:r>
                        <a:rPr lang="en-US" sz="1250" b="1" dirty="0">
                          <a:solidFill>
                            <a:srgbClr val="FFFFFF"/>
                          </a:solidFill>
                          <a:latin typeface="Arial" pitchFamily="34" charset="0"/>
                          <a:ea typeface="Arial" pitchFamily="34" charset="-122"/>
                          <a:cs typeface="Arial" pitchFamily="34" charset="-120"/>
                        </a:rPr>
                        <a:t>Result</a:t>
                      </a:r>
                      <a:endParaRPr lang="en-US" sz="1250" dirty="0">
                        <a:latin typeface="Arial" charset="0"/>
                        <a:ea typeface="Arial" charset="0"/>
                        <a:cs typeface="Arial" charset="0"/>
                      </a:endParaRPr>
                    </a:p>
                  </a:txBody>
                  <a:tcPr marL="73152" marR="73152" marT="73152" marB="73152"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solidFill>
                      <a:srgbClr val="13315C"/>
                    </a:solidFill>
                  </a:tcPr>
                </a:tc>
              </a:tr>
              <a:tr h="566928">
                <a:tc>
                  <a:txBody>
                    <a:bodyPr/>
                    <a:lstStyle/>
                    <a:p>
                      <a:pPr indent="0" marL="0">
                        <a:buNone/>
                      </a:pPr>
                      <a:r>
                        <a:rPr lang="en-US" sz="1250" b="1" dirty="0">
                          <a:solidFill>
                            <a:srgbClr val="222B38"/>
                          </a:solidFill>
                          <a:latin typeface="Arial" pitchFamily="34" charset="0"/>
                          <a:ea typeface="Arial" pitchFamily="34" charset="-122"/>
                          <a:cs typeface="Arial" pitchFamily="34" charset="-120"/>
                        </a:rPr>
                        <a:t>Conversation Agent</a:t>
                      </a:r>
                      <a:endParaRPr lang="en-US" sz="1250" dirty="0">
                        <a:latin typeface="Arial" charset="0"/>
                        <a:ea typeface="Arial" charset="0"/>
                        <a:cs typeface="Arial" charset="0"/>
                      </a:endParaRPr>
                    </a:p>
                  </a:txBody>
                  <a:tcPr marL="73152" marR="73152" marT="73152" marB="73152"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tcPr>
                </a:tc>
                <a:tc>
                  <a:txBody>
                    <a:bodyPr/>
                    <a:lstStyle/>
                    <a:p>
                      <a:pPr indent="0" marL="0">
                        <a:buNone/>
                      </a:pPr>
                      <a:r>
                        <a:rPr lang="en-US" sz="1250" dirty="0">
                          <a:solidFill>
                            <a:srgbClr val="222B38"/>
                          </a:solidFill>
                          <a:latin typeface="Arial" pitchFamily="34" charset="0"/>
                          <a:ea typeface="Arial" pitchFamily="34" charset="-122"/>
                          <a:cs typeface="Arial" pitchFamily="34" charset="-120"/>
                        </a:rPr>
                        <a:t>50+ customer messages and the signals they must / must not give</a:t>
                      </a:r>
                      <a:endParaRPr lang="en-US" sz="1250" dirty="0">
                        <a:latin typeface="Arial" charset="0"/>
                        <a:ea typeface="Arial" charset="0"/>
                        <a:cs typeface="Arial" charset="0"/>
                      </a:endParaRPr>
                    </a:p>
                  </a:txBody>
                  <a:tcPr marL="73152" marR="73152" marT="73152" marB="73152"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tcPr>
                </a:tc>
                <a:tc>
                  <a:txBody>
                    <a:bodyPr/>
                    <a:lstStyle/>
                    <a:p>
                      <a:pPr indent="0" marL="0">
                        <a:buNone/>
                      </a:pPr>
                      <a:r>
                        <a:rPr lang="en-US" sz="1250" b="1" dirty="0">
                          <a:solidFill>
                            <a:srgbClr val="1E7A46"/>
                          </a:solidFill>
                          <a:latin typeface="Arial" pitchFamily="34" charset="0"/>
                          <a:ea typeface="Arial" pitchFamily="34" charset="-122"/>
                          <a:cs typeface="Arial" pitchFamily="34" charset="-120"/>
                        </a:rPr>
                        <a:t>All correct</a:t>
                      </a:r>
                      <a:endParaRPr lang="en-US" sz="1250" dirty="0">
                        <a:latin typeface="Arial" charset="0"/>
                        <a:ea typeface="Arial" charset="0"/>
                        <a:cs typeface="Arial" charset="0"/>
                      </a:endParaRPr>
                    </a:p>
                  </a:txBody>
                  <a:tcPr marL="73152" marR="73152" marT="73152" marB="73152"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tcPr>
                </a:tc>
              </a:tr>
              <a:tr h="566928">
                <a:tc>
                  <a:txBody>
                    <a:bodyPr/>
                    <a:lstStyle/>
                    <a:p>
                      <a:pPr indent="0" marL="0">
                        <a:buNone/>
                      </a:pPr>
                      <a:r>
                        <a:rPr lang="en-US" sz="1250" b="1" dirty="0">
                          <a:solidFill>
                            <a:srgbClr val="222B38"/>
                          </a:solidFill>
                          <a:latin typeface="Arial" pitchFamily="34" charset="0"/>
                          <a:ea typeface="Arial" pitchFamily="34" charset="-122"/>
                          <a:cs typeface="Arial" pitchFamily="34" charset="-120"/>
                        </a:rPr>
                        <a:t>Lead scenarios</a:t>
                      </a:r>
                      <a:endParaRPr lang="en-US" sz="1250" dirty="0">
                        <a:latin typeface="Arial" charset="0"/>
                        <a:ea typeface="Arial" charset="0"/>
                        <a:cs typeface="Arial" charset="0"/>
                      </a:endParaRPr>
                    </a:p>
                  </a:txBody>
                  <a:tcPr marL="73152" marR="73152" marT="73152" marB="73152"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tcPr>
                </a:tc>
                <a:tc>
                  <a:txBody>
                    <a:bodyPr/>
                    <a:lstStyle/>
                    <a:p>
                      <a:pPr indent="0" marL="0">
                        <a:buNone/>
                      </a:pPr>
                      <a:r>
                        <a:rPr lang="en-US" sz="1250" dirty="0">
                          <a:solidFill>
                            <a:srgbClr val="222B38"/>
                          </a:solidFill>
                          <a:latin typeface="Arial" pitchFamily="34" charset="0"/>
                          <a:ea typeface="Arial" pitchFamily="34" charset="-122"/>
                          <a:cs typeface="Arial" pitchFamily="34" charset="-120"/>
                        </a:rPr>
                        <a:t>26 typical leads and the priority each should get</a:t>
                      </a:r>
                      <a:endParaRPr lang="en-US" sz="1250" dirty="0">
                        <a:latin typeface="Arial" charset="0"/>
                        <a:ea typeface="Arial" charset="0"/>
                        <a:cs typeface="Arial" charset="0"/>
                      </a:endParaRPr>
                    </a:p>
                  </a:txBody>
                  <a:tcPr marL="73152" marR="73152" marT="73152" marB="73152"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tcPr>
                </a:tc>
                <a:tc>
                  <a:txBody>
                    <a:bodyPr/>
                    <a:lstStyle/>
                    <a:p>
                      <a:pPr indent="0" marL="0">
                        <a:buNone/>
                      </a:pPr>
                      <a:r>
                        <a:rPr lang="en-US" sz="1250" b="1" dirty="0">
                          <a:solidFill>
                            <a:srgbClr val="1E7A46"/>
                          </a:solidFill>
                          <a:latin typeface="Arial" pitchFamily="34" charset="0"/>
                          <a:ea typeface="Arial" pitchFamily="34" charset="-122"/>
                          <a:cs typeface="Arial" pitchFamily="34" charset="-120"/>
                        </a:rPr>
                        <a:t>26 / 26</a:t>
                      </a:r>
                      <a:endParaRPr lang="en-US" sz="1250" dirty="0">
                        <a:latin typeface="Arial" charset="0"/>
                        <a:ea typeface="Arial" charset="0"/>
                        <a:cs typeface="Arial" charset="0"/>
                      </a:endParaRPr>
                    </a:p>
                  </a:txBody>
                  <a:tcPr marL="73152" marR="73152" marT="73152" marB="73152"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tcPr>
                </a:tc>
              </a:tr>
              <a:tr h="566928">
                <a:tc>
                  <a:txBody>
                    <a:bodyPr/>
                    <a:lstStyle/>
                    <a:p>
                      <a:pPr indent="0" marL="0">
                        <a:buNone/>
                      </a:pPr>
                      <a:r>
                        <a:rPr lang="en-US" sz="1250" b="1" dirty="0">
                          <a:solidFill>
                            <a:srgbClr val="222B38"/>
                          </a:solidFill>
                          <a:latin typeface="Arial" pitchFamily="34" charset="0"/>
                          <a:ea typeface="Arial" pitchFamily="34" charset="-122"/>
                          <a:cs typeface="Arial" pitchFamily="34" charset="-120"/>
                        </a:rPr>
                        <a:t>Consistency rules</a:t>
                      </a:r>
                      <a:endParaRPr lang="en-US" sz="1250" dirty="0">
                        <a:latin typeface="Arial" charset="0"/>
                        <a:ea typeface="Arial" charset="0"/>
                        <a:cs typeface="Arial" charset="0"/>
                      </a:endParaRPr>
                    </a:p>
                  </a:txBody>
                  <a:tcPr marL="73152" marR="73152" marT="73152" marB="73152"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tcPr>
                </a:tc>
                <a:tc>
                  <a:txBody>
                    <a:bodyPr/>
                    <a:lstStyle/>
                    <a:p>
                      <a:pPr indent="0" marL="0">
                        <a:buNone/>
                      </a:pPr>
                      <a:r>
                        <a:rPr lang="en-US" sz="1250" dirty="0">
                          <a:solidFill>
                            <a:srgbClr val="222B38"/>
                          </a:solidFill>
                          <a:latin typeface="Arial" pitchFamily="34" charset="0"/>
                          <a:ea typeface="Arial" pitchFamily="34" charset="-122"/>
                          <a:cs typeface="Arial" pitchFamily="34" charset="-120"/>
                        </a:rPr>
                        <a:t>more time or visits never lowers the score; working professional ≥ unemployed</a:t>
                      </a:r>
                      <a:endParaRPr lang="en-US" sz="1250" dirty="0">
                        <a:latin typeface="Arial" charset="0"/>
                        <a:ea typeface="Arial" charset="0"/>
                        <a:cs typeface="Arial" charset="0"/>
                      </a:endParaRPr>
                    </a:p>
                  </a:txBody>
                  <a:tcPr marL="73152" marR="73152" marT="73152" marB="73152"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tcPr>
                </a:tc>
                <a:tc>
                  <a:txBody>
                    <a:bodyPr/>
                    <a:lstStyle/>
                    <a:p>
                      <a:pPr indent="0" marL="0">
                        <a:buNone/>
                      </a:pPr>
                      <a:r>
                        <a:rPr lang="en-US" sz="1250" b="1" dirty="0">
                          <a:solidFill>
                            <a:srgbClr val="1E7A46"/>
                          </a:solidFill>
                          <a:latin typeface="Arial" pitchFamily="34" charset="0"/>
                          <a:ea typeface="Arial" pitchFamily="34" charset="-122"/>
                          <a:cs typeface="Arial" pitchFamily="34" charset="-120"/>
                        </a:rPr>
                        <a:t>All hold</a:t>
                      </a:r>
                      <a:endParaRPr lang="en-US" sz="1250" dirty="0">
                        <a:latin typeface="Arial" charset="0"/>
                        <a:ea typeface="Arial" charset="0"/>
                        <a:cs typeface="Arial" charset="0"/>
                      </a:endParaRPr>
                    </a:p>
                  </a:txBody>
                  <a:tcPr marL="73152" marR="73152" marT="73152" marB="73152"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tcPr>
                </a:tc>
              </a:tr>
              <a:tr h="566928">
                <a:tc>
                  <a:txBody>
                    <a:bodyPr/>
                    <a:lstStyle/>
                    <a:p>
                      <a:pPr indent="0" marL="0">
                        <a:buNone/>
                      </a:pPr>
                      <a:r>
                        <a:rPr lang="en-US" sz="1250" b="1" dirty="0">
                          <a:solidFill>
                            <a:srgbClr val="222B38"/>
                          </a:solidFill>
                          <a:latin typeface="Arial" pitchFamily="34" charset="0"/>
                          <a:ea typeface="Arial" pitchFamily="34" charset="-122"/>
                          <a:cs typeface="Arial" pitchFamily="34" charset="-120"/>
                        </a:rPr>
                        <a:t>Product-list rule</a:t>
                      </a:r>
                      <a:endParaRPr lang="en-US" sz="1250" dirty="0">
                        <a:latin typeface="Arial" charset="0"/>
                        <a:ea typeface="Arial" charset="0"/>
                        <a:cs typeface="Arial" charset="0"/>
                      </a:endParaRPr>
                    </a:p>
                  </a:txBody>
                  <a:tcPr marL="73152" marR="73152" marT="73152" marB="73152"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tcPr>
                </a:tc>
                <a:tc>
                  <a:txBody>
                    <a:bodyPr/>
                    <a:lstStyle/>
                    <a:p>
                      <a:pPr indent="0" marL="0">
                        <a:buNone/>
                      </a:pPr>
                      <a:r>
                        <a:rPr lang="en-US" sz="1250" dirty="0">
                          <a:solidFill>
                            <a:srgbClr val="222B38"/>
                          </a:solidFill>
                          <a:latin typeface="Arial" pitchFamily="34" charset="0"/>
                          <a:ea typeface="Arial" pitchFamily="34" charset="-122"/>
                          <a:cs typeface="Arial" pitchFamily="34" charset="-120"/>
                        </a:rPr>
                        <a:t>products not sold lower the score; normal questions do not</a:t>
                      </a:r>
                      <a:endParaRPr lang="en-US" sz="1250" dirty="0">
                        <a:latin typeface="Arial" charset="0"/>
                        <a:ea typeface="Arial" charset="0"/>
                        <a:cs typeface="Arial" charset="0"/>
                      </a:endParaRPr>
                    </a:p>
                  </a:txBody>
                  <a:tcPr marL="73152" marR="73152" marT="73152" marB="73152"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tcPr>
                </a:tc>
                <a:tc>
                  <a:txBody>
                    <a:bodyPr/>
                    <a:lstStyle/>
                    <a:p>
                      <a:pPr indent="0" marL="0">
                        <a:buNone/>
                      </a:pPr>
                      <a:r>
                        <a:rPr lang="en-US" sz="1250" b="1" dirty="0">
                          <a:solidFill>
                            <a:srgbClr val="1E7A46"/>
                          </a:solidFill>
                          <a:latin typeface="Arial" pitchFamily="34" charset="0"/>
                          <a:ea typeface="Arial" pitchFamily="34" charset="-122"/>
                          <a:cs typeface="Arial" pitchFamily="34" charset="-120"/>
                        </a:rPr>
                        <a:t>12 / 12</a:t>
                      </a:r>
                      <a:endParaRPr lang="en-US" sz="1250" dirty="0">
                        <a:latin typeface="Arial" charset="0"/>
                        <a:ea typeface="Arial" charset="0"/>
                        <a:cs typeface="Arial" charset="0"/>
                      </a:endParaRPr>
                    </a:p>
                  </a:txBody>
                  <a:tcPr marL="73152" marR="73152" marT="73152" marB="73152"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tcPr>
                </a:tc>
              </a:tr>
              <a:tr h="566928">
                <a:tc>
                  <a:txBody>
                    <a:bodyPr/>
                    <a:lstStyle/>
                    <a:p>
                      <a:pPr indent="0" marL="0">
                        <a:buNone/>
                      </a:pPr>
                      <a:r>
                        <a:rPr lang="en-US" sz="1250" b="1" dirty="0">
                          <a:solidFill>
                            <a:srgbClr val="222B38"/>
                          </a:solidFill>
                          <a:latin typeface="Arial" pitchFamily="34" charset="0"/>
                          <a:ea typeface="Arial" pitchFamily="34" charset="-122"/>
                          <a:cs typeface="Arial" pitchFamily="34" charset="-120"/>
                        </a:rPr>
                        <a:t>Webhooks &amp; security</a:t>
                      </a:r>
                      <a:endParaRPr lang="en-US" sz="1250" dirty="0">
                        <a:latin typeface="Arial" charset="0"/>
                        <a:ea typeface="Arial" charset="0"/>
                        <a:cs typeface="Arial" charset="0"/>
                      </a:endParaRPr>
                    </a:p>
                  </a:txBody>
                  <a:tcPr marL="73152" marR="73152" marT="73152" marB="73152"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tcPr>
                </a:tc>
                <a:tc>
                  <a:txBody>
                    <a:bodyPr/>
                    <a:lstStyle/>
                    <a:p>
                      <a:pPr indent="0" marL="0">
                        <a:buNone/>
                      </a:pPr>
                      <a:r>
                        <a:rPr lang="en-US" sz="1250" dirty="0">
                          <a:solidFill>
                            <a:srgbClr val="222B38"/>
                          </a:solidFill>
                          <a:latin typeface="Arial" pitchFamily="34" charset="0"/>
                          <a:ea typeface="Arial" pitchFamily="34" charset="-122"/>
                          <a:cs typeface="Arial" pitchFamily="34" charset="-120"/>
                        </a:rPr>
                        <a:t>Twilio signature valid → 200, fake → 403; email sender invalid → 422</a:t>
                      </a:r>
                      <a:endParaRPr lang="en-US" sz="1250" dirty="0">
                        <a:latin typeface="Arial" charset="0"/>
                        <a:ea typeface="Arial" charset="0"/>
                        <a:cs typeface="Arial" charset="0"/>
                      </a:endParaRPr>
                    </a:p>
                  </a:txBody>
                  <a:tcPr marL="73152" marR="73152" marT="73152" marB="73152"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tcPr>
                </a:tc>
                <a:tc>
                  <a:txBody>
                    <a:bodyPr/>
                    <a:lstStyle/>
                    <a:p>
                      <a:pPr indent="0" marL="0">
                        <a:buNone/>
                      </a:pPr>
                      <a:r>
                        <a:rPr lang="en-US" sz="1250" b="1" dirty="0">
                          <a:solidFill>
                            <a:srgbClr val="1E7A46"/>
                          </a:solidFill>
                          <a:latin typeface="Arial" pitchFamily="34" charset="0"/>
                          <a:ea typeface="Arial" pitchFamily="34" charset="-122"/>
                          <a:cs typeface="Arial" pitchFamily="34" charset="-120"/>
                        </a:rPr>
                        <a:t>Pass</a:t>
                      </a:r>
                      <a:endParaRPr lang="en-US" sz="1250" dirty="0">
                        <a:latin typeface="Arial" charset="0"/>
                        <a:ea typeface="Arial" charset="0"/>
                        <a:cs typeface="Arial" charset="0"/>
                      </a:endParaRPr>
                    </a:p>
                  </a:txBody>
                  <a:tcPr marL="73152" marR="73152" marT="73152" marB="73152"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tcPr>
                </a:tc>
              </a:tr>
              <a:tr h="566928">
                <a:tc>
                  <a:txBody>
                    <a:bodyPr/>
                    <a:lstStyle/>
                    <a:p>
                      <a:pPr indent="0" marL="0">
                        <a:buNone/>
                      </a:pPr>
                      <a:r>
                        <a:rPr lang="en-US" sz="1250" b="1" dirty="0">
                          <a:solidFill>
                            <a:srgbClr val="222B38"/>
                          </a:solidFill>
                          <a:latin typeface="Arial" pitchFamily="34" charset="0"/>
                          <a:ea typeface="Arial" pitchFamily="34" charset="-122"/>
                          <a:cs typeface="Arial" pitchFamily="34" charset="-120"/>
                        </a:rPr>
                        <a:t>Learning loop</a:t>
                      </a:r>
                      <a:endParaRPr lang="en-US" sz="1250" dirty="0">
                        <a:latin typeface="Arial" charset="0"/>
                        <a:ea typeface="Arial" charset="0"/>
                        <a:cs typeface="Arial" charset="0"/>
                      </a:endParaRPr>
                    </a:p>
                  </a:txBody>
                  <a:tcPr marL="73152" marR="73152" marT="73152" marB="73152"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tcPr>
                </a:tc>
                <a:tc>
                  <a:txBody>
                    <a:bodyPr/>
                    <a:lstStyle/>
                    <a:p>
                      <a:pPr indent="0" marL="0">
                        <a:buNone/>
                      </a:pPr>
                      <a:r>
                        <a:rPr lang="en-US" sz="1250" dirty="0">
                          <a:solidFill>
                            <a:srgbClr val="222B38"/>
                          </a:solidFill>
                          <a:latin typeface="Arial" pitchFamily="34" charset="0"/>
                          <a:ea typeface="Arial" pitchFamily="34" charset="-122"/>
                          <a:cs typeface="Arial" pitchFamily="34" charset="-120"/>
                        </a:rPr>
                        <a:t>auto-retrain after 10 outcomes; priority override survives re-scoring</a:t>
                      </a:r>
                      <a:endParaRPr lang="en-US" sz="1250" dirty="0">
                        <a:latin typeface="Arial" charset="0"/>
                        <a:ea typeface="Arial" charset="0"/>
                        <a:cs typeface="Arial" charset="0"/>
                      </a:endParaRPr>
                    </a:p>
                  </a:txBody>
                  <a:tcPr marL="73152" marR="73152" marT="73152" marB="73152"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tcPr>
                </a:tc>
                <a:tc>
                  <a:txBody>
                    <a:bodyPr/>
                    <a:lstStyle/>
                    <a:p>
                      <a:pPr indent="0" marL="0">
                        <a:buNone/>
                      </a:pPr>
                      <a:r>
                        <a:rPr lang="en-US" sz="1250" b="1" dirty="0">
                          <a:solidFill>
                            <a:srgbClr val="1E7A46"/>
                          </a:solidFill>
                          <a:latin typeface="Arial" pitchFamily="34" charset="0"/>
                          <a:ea typeface="Arial" pitchFamily="34" charset="-122"/>
                          <a:cs typeface="Arial" pitchFamily="34" charset="-120"/>
                        </a:rPr>
                        <a:t>Pass</a:t>
                      </a:r>
                      <a:endParaRPr lang="en-US" sz="1250" dirty="0">
                        <a:latin typeface="Arial" charset="0"/>
                        <a:ea typeface="Arial" charset="0"/>
                        <a:cs typeface="Arial" charset="0"/>
                      </a:endParaRPr>
                    </a:p>
                  </a:txBody>
                  <a:tcPr marL="73152" marR="73152" marT="73152" marB="73152"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tcPr>
                </a:tc>
              </a:tr>
              <a:tr h="566928">
                <a:tc>
                  <a:txBody>
                    <a:bodyPr/>
                    <a:lstStyle/>
                    <a:p>
                      <a:pPr indent="0" marL="0">
                        <a:buNone/>
                      </a:pPr>
                      <a:r>
                        <a:rPr lang="en-US" sz="1250" b="1" dirty="0">
                          <a:solidFill>
                            <a:srgbClr val="222B38"/>
                          </a:solidFill>
                          <a:latin typeface="Arial" pitchFamily="34" charset="0"/>
                          <a:ea typeface="Arial" pitchFamily="34" charset="-122"/>
                          <a:cs typeface="Arial" pitchFamily="34" charset="-120"/>
                        </a:rPr>
                        <a:t>Browser &amp; live tests</a:t>
                      </a:r>
                      <a:endParaRPr lang="en-US" sz="1250" dirty="0">
                        <a:latin typeface="Arial" charset="0"/>
                        <a:ea typeface="Arial" charset="0"/>
                        <a:cs typeface="Arial" charset="0"/>
                      </a:endParaRPr>
                    </a:p>
                  </a:txBody>
                  <a:tcPr marL="73152" marR="73152" marT="73152" marB="73152"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tcPr>
                </a:tc>
                <a:tc>
                  <a:txBody>
                    <a:bodyPr/>
                    <a:lstStyle/>
                    <a:p>
                      <a:pPr indent="0" marL="0">
                        <a:buNone/>
                      </a:pPr>
                      <a:r>
                        <a:rPr lang="en-US" sz="1250" dirty="0">
                          <a:solidFill>
                            <a:srgbClr val="222B38"/>
                          </a:solidFill>
                          <a:latin typeface="Arial" pitchFamily="34" charset="0"/>
                          <a:ea typeface="Arial" pitchFamily="34" charset="-122"/>
                          <a:cs typeface="Arial" pitchFamily="34" charset="-120"/>
                        </a:rPr>
                        <a:t>onboarding, editing, Connect page, phone layout; real WhatsApp phones</a:t>
                      </a:r>
                      <a:endParaRPr lang="en-US" sz="1250" dirty="0">
                        <a:latin typeface="Arial" charset="0"/>
                        <a:ea typeface="Arial" charset="0"/>
                        <a:cs typeface="Arial" charset="0"/>
                      </a:endParaRPr>
                    </a:p>
                  </a:txBody>
                  <a:tcPr marL="73152" marR="73152" marT="73152" marB="73152"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tcPr>
                </a:tc>
                <a:tc>
                  <a:txBody>
                    <a:bodyPr/>
                    <a:lstStyle/>
                    <a:p>
                      <a:pPr indent="0" marL="0">
                        <a:buNone/>
                      </a:pPr>
                      <a:r>
                        <a:rPr lang="en-US" sz="1250" b="1" dirty="0">
                          <a:solidFill>
                            <a:srgbClr val="1E7A46"/>
                          </a:solidFill>
                          <a:latin typeface="Arial" pitchFamily="34" charset="0"/>
                          <a:ea typeface="Arial" pitchFamily="34" charset="-122"/>
                          <a:cs typeface="Arial" pitchFamily="34" charset="-120"/>
                        </a:rPr>
                        <a:t>Pass</a:t>
                      </a:r>
                      <a:endParaRPr lang="en-US" sz="1250" dirty="0">
                        <a:latin typeface="Arial" charset="0"/>
                        <a:ea typeface="Arial" charset="0"/>
                        <a:cs typeface="Arial" charset="0"/>
                      </a:endParaRPr>
                    </a:p>
                  </a:txBody>
                  <a:tcPr marL="73152" marR="73152" marT="73152" marB="73152" anchor="ctr">
                    <a:lnL w="9525" cap="flat" cmpd="sng" algn="ctr">
                      <a:solidFill>
                        <a:srgbClr val="B7C2D0"/>
                      </a:solidFill>
                      <a:prstDash val="solid"/>
                      <a:round/>
                      <a:headEnd type="none" w="med" len="med"/>
                      <a:tailEnd type="none" w="med" len="med"/>
                    </a:lnL>
                    <a:lnR w="9525" cap="flat" cmpd="sng" algn="ctr">
                      <a:solidFill>
                        <a:srgbClr val="B7C2D0"/>
                      </a:solidFill>
                      <a:prstDash val="solid"/>
                      <a:round/>
                      <a:headEnd type="none" w="med" len="med"/>
                      <a:tailEnd type="none" w="med" len="med"/>
                    </a:lnR>
                    <a:lnT w="9525" cap="flat" cmpd="sng" algn="ctr">
                      <a:solidFill>
                        <a:srgbClr val="B7C2D0"/>
                      </a:solidFill>
                      <a:prstDash val="solid"/>
                      <a:round/>
                      <a:headEnd type="none" w="med" len="med"/>
                      <a:tailEnd type="none" w="med" len="med"/>
                    </a:lnT>
                    <a:lnB w="9525" cap="flat" cmpd="sng" algn="ctr">
                      <a:solidFill>
                        <a:srgbClr val="B7C2D0"/>
                      </a:solidFill>
                      <a:prstDash val="solid"/>
                      <a:round/>
                      <a:headEnd type="none" w="med" len="med"/>
                      <a:tailEnd type="none" w="med" len="med"/>
                    </a:lnB>
                  </a:tcPr>
                </a:tc>
              </a:tr>
            </a:tbl>
          </a:graphicData>
        </a:graphic>
      </p:graphicFrame>
      <p:sp>
        <p:nvSpPr>
          <p:cNvPr id="4" name="Result card"/>
          <p:cNvSpPr/>
          <p:nvPr/>
        </p:nvSpPr>
        <p:spPr>
          <a:xfrm>
            <a:off x="8595360" y="1188720"/>
            <a:ext cx="3136392" cy="2240280"/>
          </a:xfrm>
          <a:prstGeom prst="roundRect">
            <a:avLst>
              <a:gd name="adj" fmla="val 3265"/>
            </a:avLst>
          </a:prstGeom>
          <a:solidFill>
            <a:schemeClr val="tx2"/>
          </a:solidFill>
          <a:ln w="12700">
            <a:solidFill>
              <a:schemeClr val="tx2"/>
            </a:solidFill>
            <a:prstDash val="solid"/>
          </a:ln>
        </p:spPr>
      </p:sp>
      <p:sp>
        <p:nvSpPr>
          <p:cNvPr id="5" name="Icon circle"/>
          <p:cNvSpPr/>
          <p:nvPr/>
        </p:nvSpPr>
        <p:spPr>
          <a:xfrm>
            <a:off x="9838944" y="1371600"/>
            <a:ext cx="640080" cy="640080"/>
          </a:xfrm>
          <a:prstGeom prst="ellipse">
            <a:avLst/>
          </a:prstGeom>
          <a:solidFill>
            <a:schemeClr val="accent2"/>
          </a:solidFill>
          <a:ln w="12700">
            <a:solidFill>
              <a:schemeClr val="accent2"/>
            </a:solidFill>
            <a:prstDash val="solid"/>
          </a:ln>
        </p:spPr>
      </p:sp>
      <p:pic>
        <p:nvPicPr>
          <p:cNvPr id="6" name="Image 0" descr="CheckCircle icon">    </p:cNvPr>
          <p:cNvPicPr>
            <a:picLocks noChangeAspect="1"/>
          </p:cNvPicPr>
          <p:nvPr/>
        </p:nvPicPr>
        <p:blipFill>
          <a:blip r:embed="rId1"/>
          <a:stretch>
            <a:fillRect/>
          </a:stretch>
        </p:blipFill>
        <p:spPr>
          <a:xfrm>
            <a:off x="9998964" y="1531620"/>
            <a:ext cx="320040" cy="320040"/>
          </a:xfrm>
          <a:prstGeom prst="rect">
            <a:avLst/>
          </a:prstGeom>
        </p:spPr>
      </p:pic>
      <p:sp>
        <p:nvSpPr>
          <p:cNvPr id="7" name="Text 3"/>
          <p:cNvSpPr txBox="1"/>
          <p:nvPr/>
        </p:nvSpPr>
        <p:spPr>
          <a:xfrm>
            <a:off x="8686800" y="2103120"/>
            <a:ext cx="2953512" cy="457200"/>
          </a:xfrm>
          <a:prstGeom prst="rect">
            <a:avLst/>
          </a:prstGeom>
          <a:noFill/>
          <a:ln/>
        </p:spPr>
        <p:txBody>
          <a:bodyPr wrap="square" lIns="0" tIns="0" rIns="0" bIns="0" rtlCol="0" anchor="ctr"/>
          <a:lstStyle/>
          <a:p>
            <a:pPr algn="ctr" indent="0" marL="0">
              <a:buNone/>
            </a:pPr>
            <a:r>
              <a:rPr lang="en-US" sz="1800" b="1" dirty="0">
                <a:solidFill>
                  <a:schemeClr val="bg1"/>
                </a:solidFill>
              </a:rPr>
              <a:t>ALL TESTS PASSED</a:t>
            </a:r>
            <a:endParaRPr lang="en-US" sz="1800" dirty="0"/>
          </a:p>
        </p:txBody>
      </p:sp>
      <p:sp>
        <p:nvSpPr>
          <p:cNvPr id="8" name="Text 4"/>
          <p:cNvSpPr txBox="1"/>
          <p:nvPr/>
        </p:nvSpPr>
        <p:spPr>
          <a:xfrm>
            <a:off x="8686800" y="2606040"/>
            <a:ext cx="2953512" cy="365760"/>
          </a:xfrm>
          <a:prstGeom prst="rect">
            <a:avLst/>
          </a:prstGeom>
          <a:noFill/>
          <a:ln/>
        </p:spPr>
        <p:txBody>
          <a:bodyPr wrap="square" lIns="0" tIns="0" rIns="0" bIns="0" rtlCol="0" anchor="ctr"/>
          <a:lstStyle/>
          <a:p>
            <a:pPr algn="ctr" indent="0" marL="0">
              <a:buNone/>
            </a:pPr>
            <a:r>
              <a:rPr lang="en-US" sz="1200" dirty="0">
                <a:solidFill>
                  <a:srgbClr val="DBE6F3"/>
                </a:solidFill>
                <a:latin typeface="Courier New" pitchFamily="34" charset="0"/>
                <a:ea typeface="Courier New" pitchFamily="34" charset="-122"/>
                <a:cs typeface="Courier New" pitchFamily="34" charset="-120"/>
              </a:rPr>
              <a:t>python test_system.py</a:t>
            </a:r>
            <a:endParaRPr lang="en-US" sz="1200" dirty="0"/>
          </a:p>
        </p:txBody>
      </p:sp>
      <p:sp>
        <p:nvSpPr>
          <p:cNvPr id="9" name="Bugs found box"/>
          <p:cNvSpPr/>
          <p:nvPr/>
        </p:nvSpPr>
        <p:spPr>
          <a:xfrm>
            <a:off x="8595360" y="3657600"/>
            <a:ext cx="3136392" cy="2514600"/>
          </a:xfrm>
          <a:prstGeom prst="roundRect">
            <a:avLst>
              <a:gd name="adj" fmla="val 2182"/>
            </a:avLst>
          </a:prstGeom>
          <a:solidFill>
            <a:schemeClr val="accent6"/>
          </a:solidFill>
          <a:ln w="12700">
            <a:solidFill>
              <a:srgbClr val="EBB98F"/>
            </a:solidFill>
            <a:prstDash val="solid"/>
          </a:ln>
        </p:spPr>
      </p:sp>
      <p:sp>
        <p:nvSpPr>
          <p:cNvPr id="10" name="Text 6"/>
          <p:cNvSpPr txBox="1"/>
          <p:nvPr/>
        </p:nvSpPr>
        <p:spPr>
          <a:xfrm>
            <a:off x="8778240" y="3749040"/>
            <a:ext cx="2788920" cy="2331720"/>
          </a:xfrm>
          <a:prstGeom prst="rect">
            <a:avLst/>
          </a:prstGeom>
          <a:noFill/>
          <a:ln/>
        </p:spPr>
        <p:txBody>
          <a:bodyPr wrap="square" lIns="0" tIns="0" rIns="0" bIns="0" rtlCol="0" anchor="t"/>
          <a:lstStyle/>
          <a:p>
            <a:pPr indent="0" marL="0">
              <a:spcAft>
                <a:spcPts val="500"/>
              </a:spcAft>
              <a:buNone/>
            </a:pPr>
            <a:r>
              <a:rPr lang="en-US" sz="1250" b="1" dirty="0">
                <a:solidFill>
                  <a:schemeClr val="accent3"/>
                </a:solidFill>
              </a:rPr>
              <a:t>Bugs the tests caught</a:t>
            </a:r>
            <a:endParaRPr lang="en-US" sz="1250" dirty="0"/>
          </a:p>
          <a:p>
            <a:pPr marL="342900" indent="-342900">
              <a:spcAft>
                <a:spcPts val="500"/>
              </a:spcAft>
              <a:buSzPct val="100000"/>
              <a:buChar char="•"/>
            </a:pPr>
            <a:r>
              <a:rPr lang="en-US" sz="1250" dirty="0">
                <a:solidFill>
                  <a:schemeClr val="tx1"/>
                </a:solidFill>
              </a:rPr>
              <a:t>"Hi" saved as the customer's name</a:t>
            </a:r>
            <a:endParaRPr lang="en-US" sz="1250" dirty="0"/>
          </a:p>
          <a:p>
            <a:pPr marL="342900" indent="-342900">
              <a:spcAft>
                <a:spcPts val="500"/>
              </a:spcAft>
              <a:buSzPct val="100000"/>
              <a:buChar char="•"/>
            </a:pPr>
            <a:r>
              <a:rPr lang="en-US" sz="1250" dirty="0">
                <a:solidFill>
                  <a:schemeClr val="tx1"/>
                </a:solidFill>
              </a:rPr>
              <a:t>"book this week" wrongly flagged as a product we don't sell</a:t>
            </a:r>
            <a:endParaRPr lang="en-US" sz="1250" dirty="0"/>
          </a:p>
          <a:p>
            <a:pPr marL="342900" indent="-342900">
              <a:spcAft>
                <a:spcPts val="500"/>
              </a:spcAft>
              <a:buSzPct val="100000"/>
              <a:buChar char="•"/>
            </a:pPr>
            <a:r>
              <a:rPr lang="en-US" sz="1250" dirty="0">
                <a:solidFill>
                  <a:schemeClr val="tx1"/>
                </a:solidFill>
              </a:rPr>
              <a:t>score dropping when time on site rose</a:t>
            </a:r>
            <a:endParaRPr lang="en-US" sz="1250" dirty="0"/>
          </a:p>
        </p:txBody>
      </p:sp>
      <p:sp>
        <p:nvSpPr>
          <p:cNvPr id="25" name="Slide Number Placeholder 0"/>
          <p:cNvSpPr>
            <a:spLocks noGrp="1"/>
          </p:cNvSpPr>
          <p:nvPr>
            <p:ph type="sldNum" sz="quarter" idx="4294967295"/>
          </p:nvPr>
        </p:nvSpPr>
        <p:spPr>
          <a:xfrm>
            <a:off x="1127455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F5A68"/>
                </a:solidFill>
                <a:latin typeface="Arial"/>
                <a:ea typeface="Arial"/>
                <a:cs typeface="Aria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685800"/>
          </a:xfrm>
          <a:prstGeom prst="rect">
            <a:avLst/>
          </a:prstGeom>
          <a:noFill/>
          <a:ln/>
        </p:spPr>
        <p:txBody>
          <a:bodyPr wrap="square" lIns="0" tIns="0" rIns="0" bIns="0" rtlCol="0" anchor="ctr"/>
          <a:lstStyle/>
          <a:p>
            <a:pPr algn="ctr" indent="0" marL="0">
              <a:buNone/>
            </a:pPr>
            <a:r>
              <a:rPr lang="en-US" sz="3200" b="1" dirty="0">
                <a:solidFill>
                  <a:srgbClr val="222B38"/>
                </a:solidFill>
                <a:latin typeface="Times New Roman" pitchFamily="34" charset="0"/>
                <a:ea typeface="Times New Roman" pitchFamily="34" charset="-122"/>
                <a:cs typeface="Times New Roman" pitchFamily="34" charset="-120"/>
              </a:rPr>
              <a:t>CHALLENGES FACED</a:t>
            </a:r>
            <a:endParaRPr lang="en-US" sz="3200" dirty="0"/>
          </a:p>
        </p:txBody>
      </p:sp>
      <p:sp>
        <p:nvSpPr>
          <p:cNvPr id="3" name="Text 1"/>
          <p:cNvSpPr txBox="1"/>
          <p:nvPr/>
        </p:nvSpPr>
        <p:spPr>
          <a:xfrm>
            <a:off x="685800" y="1097280"/>
            <a:ext cx="5029200" cy="365760"/>
          </a:xfrm>
          <a:prstGeom prst="rect">
            <a:avLst/>
          </a:prstGeom>
          <a:noFill/>
          <a:ln/>
        </p:spPr>
        <p:txBody>
          <a:bodyPr wrap="square" lIns="0" tIns="0" rIns="0" bIns="0" rtlCol="0" anchor="ctr"/>
          <a:lstStyle/>
          <a:p>
            <a:pPr indent="0" marL="0">
              <a:buNone/>
            </a:pPr>
            <a:r>
              <a:rPr lang="en-US" sz="1500" b="1" dirty="0">
                <a:solidFill>
                  <a:schemeClr val="accent3"/>
                </a:solidFill>
              </a:rPr>
              <a:t>Challenge</a:t>
            </a:r>
            <a:endParaRPr lang="en-US" sz="1500" dirty="0"/>
          </a:p>
        </p:txBody>
      </p:sp>
      <p:sp>
        <p:nvSpPr>
          <p:cNvPr id="4" name="Text 2"/>
          <p:cNvSpPr txBox="1"/>
          <p:nvPr/>
        </p:nvSpPr>
        <p:spPr>
          <a:xfrm>
            <a:off x="6355080" y="1097280"/>
            <a:ext cx="5029200" cy="365760"/>
          </a:xfrm>
          <a:prstGeom prst="rect">
            <a:avLst/>
          </a:prstGeom>
          <a:noFill/>
          <a:ln/>
        </p:spPr>
        <p:txBody>
          <a:bodyPr wrap="square" lIns="0" tIns="0" rIns="0" bIns="0" rtlCol="0" anchor="ctr"/>
          <a:lstStyle/>
          <a:p>
            <a:pPr indent="0" marL="0">
              <a:buNone/>
            </a:pPr>
            <a:r>
              <a:rPr lang="en-US" sz="1500" b="1" dirty="0">
                <a:solidFill>
                  <a:schemeClr val="accent2"/>
                </a:solidFill>
              </a:rPr>
              <a:t>How we solved it</a:t>
            </a:r>
            <a:endParaRPr lang="en-US" sz="1500" dirty="0"/>
          </a:p>
        </p:txBody>
      </p:sp>
      <p:sp>
        <p:nvSpPr>
          <p:cNvPr id="5" name="Challenge 1"/>
          <p:cNvSpPr/>
          <p:nvPr/>
        </p:nvSpPr>
        <p:spPr>
          <a:xfrm>
            <a:off x="457200" y="1554480"/>
            <a:ext cx="5440680" cy="777240"/>
          </a:xfrm>
          <a:prstGeom prst="roundRect">
            <a:avLst>
              <a:gd name="adj" fmla="val 7059"/>
            </a:avLst>
          </a:prstGeom>
          <a:solidFill>
            <a:schemeClr val="accent6"/>
          </a:solidFill>
          <a:ln w="12700">
            <a:solidFill>
              <a:srgbClr val="EBB98F"/>
            </a:solidFill>
            <a:prstDash val="solid"/>
          </a:ln>
        </p:spPr>
      </p:sp>
      <p:sp>
        <p:nvSpPr>
          <p:cNvPr id="6" name="Text 4"/>
          <p:cNvSpPr txBox="1"/>
          <p:nvPr/>
        </p:nvSpPr>
        <p:spPr>
          <a:xfrm>
            <a:off x="640080" y="1554480"/>
            <a:ext cx="5120640" cy="777240"/>
          </a:xfrm>
          <a:prstGeom prst="rect">
            <a:avLst/>
          </a:prstGeom>
          <a:noFill/>
          <a:ln/>
        </p:spPr>
        <p:txBody>
          <a:bodyPr wrap="square" lIns="0" tIns="0" rIns="0" bIns="0" rtlCol="0" anchor="ctr"/>
          <a:lstStyle/>
          <a:p>
            <a:pPr indent="0" marL="0">
              <a:buNone/>
            </a:pPr>
            <a:r>
              <a:rPr lang="en-US" sz="1300" dirty="0">
                <a:solidFill>
                  <a:schemeClr val="tx1"/>
                </a:solidFill>
              </a:rPr>
              <a:t>Data leakage: Tags and Lead Quality gave &gt;90% "accuracy"</a:t>
            </a:r>
            <a:endParaRPr lang="en-US" sz="1300" dirty="0"/>
          </a:p>
        </p:txBody>
      </p:sp>
      <p:sp>
        <p:nvSpPr>
          <p:cNvPr id="7" name="Arrow"/>
          <p:cNvSpPr/>
          <p:nvPr/>
        </p:nvSpPr>
        <p:spPr>
          <a:xfrm>
            <a:off x="5943600" y="1943100"/>
            <a:ext cx="347472" cy="0"/>
          </a:xfrm>
          <a:prstGeom prst="line">
            <a:avLst/>
          </a:prstGeom>
          <a:noFill/>
          <a:ln w="25400">
            <a:solidFill>
              <a:srgbClr val="9AA6B5"/>
            </a:solidFill>
            <a:prstDash val="solid"/>
            <a:tailEnd type="triangle"/>
          </a:ln>
        </p:spPr>
      </p:sp>
      <p:sp>
        <p:nvSpPr>
          <p:cNvPr id="8" name="Solution 1"/>
          <p:cNvSpPr/>
          <p:nvPr/>
        </p:nvSpPr>
        <p:spPr>
          <a:xfrm>
            <a:off x="6355080" y="1554480"/>
            <a:ext cx="5376672" cy="777240"/>
          </a:xfrm>
          <a:prstGeom prst="roundRect">
            <a:avLst>
              <a:gd name="adj" fmla="val 7059"/>
            </a:avLst>
          </a:prstGeom>
          <a:solidFill>
            <a:schemeClr val="accent5"/>
          </a:solidFill>
          <a:ln w="12700">
            <a:solidFill>
              <a:srgbClr val="9CCBAE"/>
            </a:solidFill>
            <a:prstDash val="solid"/>
          </a:ln>
        </p:spPr>
      </p:sp>
      <p:sp>
        <p:nvSpPr>
          <p:cNvPr id="9" name="Text 7"/>
          <p:cNvSpPr txBox="1"/>
          <p:nvPr/>
        </p:nvSpPr>
        <p:spPr>
          <a:xfrm>
            <a:off x="6537960" y="1554480"/>
            <a:ext cx="5074920" cy="777240"/>
          </a:xfrm>
          <a:prstGeom prst="rect">
            <a:avLst/>
          </a:prstGeom>
          <a:noFill/>
          <a:ln/>
        </p:spPr>
        <p:txBody>
          <a:bodyPr wrap="square" lIns="0" tIns="0" rIns="0" bIns="0" rtlCol="0" anchor="ctr"/>
          <a:lstStyle/>
          <a:p>
            <a:pPr indent="0" marL="0">
              <a:buNone/>
            </a:pPr>
            <a:r>
              <a:rPr lang="en-US" sz="1300" dirty="0">
                <a:solidFill>
                  <a:schemeClr val="tx1"/>
                </a:solidFill>
              </a:rPr>
              <a:t>Removed columns filled after the sale → honest 81.5%</a:t>
            </a:r>
            <a:endParaRPr lang="en-US" sz="1300" dirty="0"/>
          </a:p>
        </p:txBody>
      </p:sp>
      <p:sp>
        <p:nvSpPr>
          <p:cNvPr id="10" name="Challenge 2"/>
          <p:cNvSpPr/>
          <p:nvPr/>
        </p:nvSpPr>
        <p:spPr>
          <a:xfrm>
            <a:off x="457200" y="2468880"/>
            <a:ext cx="5440680" cy="777240"/>
          </a:xfrm>
          <a:prstGeom prst="roundRect">
            <a:avLst>
              <a:gd name="adj" fmla="val 7059"/>
            </a:avLst>
          </a:prstGeom>
          <a:solidFill>
            <a:schemeClr val="accent6"/>
          </a:solidFill>
          <a:ln w="12700">
            <a:solidFill>
              <a:srgbClr val="EBB98F"/>
            </a:solidFill>
            <a:prstDash val="solid"/>
          </a:ln>
        </p:spPr>
      </p:sp>
      <p:sp>
        <p:nvSpPr>
          <p:cNvPr id="11" name="Text 9"/>
          <p:cNvSpPr txBox="1"/>
          <p:nvPr/>
        </p:nvSpPr>
        <p:spPr>
          <a:xfrm>
            <a:off x="640080" y="2468880"/>
            <a:ext cx="5120640" cy="777240"/>
          </a:xfrm>
          <a:prstGeom prst="rect">
            <a:avLst/>
          </a:prstGeom>
          <a:noFill/>
          <a:ln/>
        </p:spPr>
        <p:txBody>
          <a:bodyPr wrap="square" lIns="0" tIns="0" rIns="0" bIns="0" rtlCol="0" anchor="ctr"/>
          <a:lstStyle/>
          <a:p>
            <a:pPr indent="0" marL="0">
              <a:buNone/>
            </a:pPr>
            <a:r>
              <a:rPr lang="en-US" sz="1300" dirty="0">
                <a:solidFill>
                  <a:schemeClr val="tx1"/>
                </a:solidFill>
              </a:rPr>
              <a:t>Empty form fields pulled every score to ~26%</a:t>
            </a:r>
            <a:endParaRPr lang="en-US" sz="1300" dirty="0"/>
          </a:p>
        </p:txBody>
      </p:sp>
      <p:sp>
        <p:nvSpPr>
          <p:cNvPr id="12" name="Arrow"/>
          <p:cNvSpPr/>
          <p:nvPr/>
        </p:nvSpPr>
        <p:spPr>
          <a:xfrm>
            <a:off x="5943600" y="2857500"/>
            <a:ext cx="347472" cy="0"/>
          </a:xfrm>
          <a:prstGeom prst="line">
            <a:avLst/>
          </a:prstGeom>
          <a:noFill/>
          <a:ln w="25400">
            <a:solidFill>
              <a:srgbClr val="9AA6B5"/>
            </a:solidFill>
            <a:prstDash val="solid"/>
            <a:tailEnd type="triangle"/>
          </a:ln>
        </p:spPr>
      </p:sp>
      <p:sp>
        <p:nvSpPr>
          <p:cNvPr id="13" name="Solution 2"/>
          <p:cNvSpPr/>
          <p:nvPr/>
        </p:nvSpPr>
        <p:spPr>
          <a:xfrm>
            <a:off x="6355080" y="2468880"/>
            <a:ext cx="5376672" cy="777240"/>
          </a:xfrm>
          <a:prstGeom prst="roundRect">
            <a:avLst>
              <a:gd name="adj" fmla="val 7059"/>
            </a:avLst>
          </a:prstGeom>
          <a:solidFill>
            <a:schemeClr val="accent5"/>
          </a:solidFill>
          <a:ln w="12700">
            <a:solidFill>
              <a:srgbClr val="9CCBAE"/>
            </a:solidFill>
            <a:prstDash val="solid"/>
          </a:ln>
        </p:spPr>
      </p:sp>
      <p:sp>
        <p:nvSpPr>
          <p:cNvPr id="14" name="Text 12"/>
          <p:cNvSpPr txBox="1"/>
          <p:nvPr/>
        </p:nvSpPr>
        <p:spPr>
          <a:xfrm>
            <a:off x="6537960" y="2468880"/>
            <a:ext cx="5074920" cy="777240"/>
          </a:xfrm>
          <a:prstGeom prst="rect">
            <a:avLst/>
          </a:prstGeom>
          <a:noFill/>
          <a:ln/>
        </p:spPr>
        <p:txBody>
          <a:bodyPr wrap="square" lIns="0" tIns="0" rIns="0" bIns="0" rtlCol="0" anchor="ctr"/>
          <a:lstStyle/>
          <a:p>
            <a:pPr indent="0" marL="0">
              <a:buNone/>
            </a:pPr>
            <a:r>
              <a:rPr lang="en-US" sz="1300" dirty="0">
                <a:solidFill>
                  <a:schemeClr val="tx1"/>
                </a:solidFill>
              </a:rPr>
              <a:t>Trained on 6 collectable inputs; unknown fields averaged</a:t>
            </a:r>
            <a:endParaRPr lang="en-US" sz="1300" dirty="0"/>
          </a:p>
        </p:txBody>
      </p:sp>
      <p:sp>
        <p:nvSpPr>
          <p:cNvPr id="15" name="Challenge 3"/>
          <p:cNvSpPr/>
          <p:nvPr/>
        </p:nvSpPr>
        <p:spPr>
          <a:xfrm>
            <a:off x="457200" y="3383280"/>
            <a:ext cx="5440680" cy="777240"/>
          </a:xfrm>
          <a:prstGeom prst="roundRect">
            <a:avLst>
              <a:gd name="adj" fmla="val 7059"/>
            </a:avLst>
          </a:prstGeom>
          <a:solidFill>
            <a:schemeClr val="accent6"/>
          </a:solidFill>
          <a:ln w="12700">
            <a:solidFill>
              <a:srgbClr val="EBB98F"/>
            </a:solidFill>
            <a:prstDash val="solid"/>
          </a:ln>
        </p:spPr>
      </p:sp>
      <p:sp>
        <p:nvSpPr>
          <p:cNvPr id="16" name="Text 14"/>
          <p:cNvSpPr txBox="1"/>
          <p:nvPr/>
        </p:nvSpPr>
        <p:spPr>
          <a:xfrm>
            <a:off x="640080" y="3383280"/>
            <a:ext cx="5120640" cy="777240"/>
          </a:xfrm>
          <a:prstGeom prst="rect">
            <a:avLst/>
          </a:prstGeom>
          <a:noFill/>
          <a:ln/>
        </p:spPr>
        <p:txBody>
          <a:bodyPr wrap="square" lIns="0" tIns="0" rIns="0" bIns="0" rtlCol="0" anchor="ctr"/>
          <a:lstStyle/>
          <a:p>
            <a:pPr indent="0" marL="0">
              <a:buNone/>
            </a:pPr>
            <a:r>
              <a:rPr lang="en-US" sz="1300" dirty="0">
                <a:solidFill>
                  <a:schemeClr val="tx1"/>
                </a:solidFill>
              </a:rPr>
              <a:t>More time on the website sometimes lowered the score</a:t>
            </a:r>
            <a:endParaRPr lang="en-US" sz="1300" dirty="0"/>
          </a:p>
        </p:txBody>
      </p:sp>
      <p:sp>
        <p:nvSpPr>
          <p:cNvPr id="17" name="Arrow"/>
          <p:cNvSpPr/>
          <p:nvPr/>
        </p:nvSpPr>
        <p:spPr>
          <a:xfrm>
            <a:off x="5943600" y="3771900"/>
            <a:ext cx="347472" cy="0"/>
          </a:xfrm>
          <a:prstGeom prst="line">
            <a:avLst/>
          </a:prstGeom>
          <a:noFill/>
          <a:ln w="25400">
            <a:solidFill>
              <a:srgbClr val="9AA6B5"/>
            </a:solidFill>
            <a:prstDash val="solid"/>
            <a:tailEnd type="triangle"/>
          </a:ln>
        </p:spPr>
      </p:sp>
      <p:sp>
        <p:nvSpPr>
          <p:cNvPr id="18" name="Solution 3"/>
          <p:cNvSpPr/>
          <p:nvPr/>
        </p:nvSpPr>
        <p:spPr>
          <a:xfrm>
            <a:off x="6355080" y="3383280"/>
            <a:ext cx="5376672" cy="777240"/>
          </a:xfrm>
          <a:prstGeom prst="roundRect">
            <a:avLst>
              <a:gd name="adj" fmla="val 7059"/>
            </a:avLst>
          </a:prstGeom>
          <a:solidFill>
            <a:schemeClr val="accent5"/>
          </a:solidFill>
          <a:ln w="12700">
            <a:solidFill>
              <a:srgbClr val="9CCBAE"/>
            </a:solidFill>
            <a:prstDash val="solid"/>
          </a:ln>
        </p:spPr>
      </p:sp>
      <p:sp>
        <p:nvSpPr>
          <p:cNvPr id="19" name="Text 17"/>
          <p:cNvSpPr txBox="1"/>
          <p:nvPr/>
        </p:nvSpPr>
        <p:spPr>
          <a:xfrm>
            <a:off x="6537960" y="3383280"/>
            <a:ext cx="5074920" cy="777240"/>
          </a:xfrm>
          <a:prstGeom prst="rect">
            <a:avLst/>
          </a:prstGeom>
          <a:noFill/>
          <a:ln/>
        </p:spPr>
        <p:txBody>
          <a:bodyPr wrap="square" lIns="0" tIns="0" rIns="0" bIns="0" rtlCol="0" anchor="ctr"/>
          <a:lstStyle/>
          <a:p>
            <a:pPr indent="0" marL="0">
              <a:buNone/>
            </a:pPr>
            <a:r>
              <a:rPr lang="en-US" sz="1300" dirty="0">
                <a:solidFill>
                  <a:schemeClr val="tx1"/>
                </a:solidFill>
              </a:rPr>
              <a:t>Monotonic constraint + automatic consistency tests</a:t>
            </a:r>
            <a:endParaRPr lang="en-US" sz="1300" dirty="0"/>
          </a:p>
        </p:txBody>
      </p:sp>
      <p:sp>
        <p:nvSpPr>
          <p:cNvPr id="20" name="Challenge 4"/>
          <p:cNvSpPr/>
          <p:nvPr/>
        </p:nvSpPr>
        <p:spPr>
          <a:xfrm>
            <a:off x="457200" y="4297680"/>
            <a:ext cx="5440680" cy="777240"/>
          </a:xfrm>
          <a:prstGeom prst="roundRect">
            <a:avLst>
              <a:gd name="adj" fmla="val 7059"/>
            </a:avLst>
          </a:prstGeom>
          <a:solidFill>
            <a:schemeClr val="accent6"/>
          </a:solidFill>
          <a:ln w="12700">
            <a:solidFill>
              <a:srgbClr val="EBB98F"/>
            </a:solidFill>
            <a:prstDash val="solid"/>
          </a:ln>
        </p:spPr>
      </p:sp>
      <p:sp>
        <p:nvSpPr>
          <p:cNvPr id="21" name="Text 19"/>
          <p:cNvSpPr txBox="1"/>
          <p:nvPr/>
        </p:nvSpPr>
        <p:spPr>
          <a:xfrm>
            <a:off x="640080" y="4297680"/>
            <a:ext cx="5120640" cy="777240"/>
          </a:xfrm>
          <a:prstGeom prst="rect">
            <a:avLst/>
          </a:prstGeom>
          <a:noFill/>
          <a:ln/>
        </p:spPr>
        <p:txBody>
          <a:bodyPr wrap="square" lIns="0" tIns="0" rIns="0" bIns="0" rtlCol="0" anchor="ctr"/>
          <a:lstStyle/>
          <a:p>
            <a:pPr indent="0" marL="0">
              <a:buNone/>
            </a:pPr>
            <a:r>
              <a:rPr lang="en-US" sz="1300" dirty="0">
                <a:solidFill>
                  <a:schemeClr val="tx1"/>
                </a:solidFill>
              </a:rPr>
              <a:t>No public dataset of real messages with outcomes (AUC 0.58–0.61)</a:t>
            </a:r>
            <a:endParaRPr lang="en-US" sz="1300" dirty="0"/>
          </a:p>
        </p:txBody>
      </p:sp>
      <p:sp>
        <p:nvSpPr>
          <p:cNvPr id="22" name="Arrow"/>
          <p:cNvSpPr/>
          <p:nvPr/>
        </p:nvSpPr>
        <p:spPr>
          <a:xfrm>
            <a:off x="5943600" y="4686300"/>
            <a:ext cx="347472" cy="0"/>
          </a:xfrm>
          <a:prstGeom prst="line">
            <a:avLst/>
          </a:prstGeom>
          <a:noFill/>
          <a:ln w="25400">
            <a:solidFill>
              <a:srgbClr val="9AA6B5"/>
            </a:solidFill>
            <a:prstDash val="solid"/>
            <a:tailEnd type="triangle"/>
          </a:ln>
        </p:spPr>
      </p:sp>
      <p:sp>
        <p:nvSpPr>
          <p:cNvPr id="23" name="Solution 4"/>
          <p:cNvSpPr/>
          <p:nvPr/>
        </p:nvSpPr>
        <p:spPr>
          <a:xfrm>
            <a:off x="6355080" y="4297680"/>
            <a:ext cx="5376672" cy="777240"/>
          </a:xfrm>
          <a:prstGeom prst="roundRect">
            <a:avLst>
              <a:gd name="adj" fmla="val 7059"/>
            </a:avLst>
          </a:prstGeom>
          <a:solidFill>
            <a:schemeClr val="accent5"/>
          </a:solidFill>
          <a:ln w="12700">
            <a:solidFill>
              <a:srgbClr val="9CCBAE"/>
            </a:solidFill>
            <a:prstDash val="solid"/>
          </a:ln>
        </p:spPr>
      </p:sp>
      <p:sp>
        <p:nvSpPr>
          <p:cNvPr id="24" name="Text 22"/>
          <p:cNvSpPr txBox="1"/>
          <p:nvPr/>
        </p:nvSpPr>
        <p:spPr>
          <a:xfrm>
            <a:off x="6537960" y="4297680"/>
            <a:ext cx="5074920" cy="777240"/>
          </a:xfrm>
          <a:prstGeom prst="rect">
            <a:avLst/>
          </a:prstGeom>
          <a:noFill/>
          <a:ln/>
        </p:spPr>
        <p:txBody>
          <a:bodyPr wrap="square" lIns="0" tIns="0" rIns="0" bIns="0" rtlCol="0" anchor="ctr"/>
          <a:lstStyle/>
          <a:p>
            <a:pPr indent="0" marL="0">
              <a:buNone/>
            </a:pPr>
            <a:r>
              <a:rPr lang="en-US" sz="1300" dirty="0">
                <a:solidFill>
                  <a:schemeClr val="tx1"/>
                </a:solidFill>
              </a:rPr>
              <a:t>Explainable signal weights + model that learns from own chats</a:t>
            </a:r>
            <a:endParaRPr lang="en-US" sz="1300" dirty="0"/>
          </a:p>
        </p:txBody>
      </p:sp>
      <p:sp>
        <p:nvSpPr>
          <p:cNvPr id="25" name="Challenge 5"/>
          <p:cNvSpPr/>
          <p:nvPr/>
        </p:nvSpPr>
        <p:spPr>
          <a:xfrm>
            <a:off x="457200" y="5212080"/>
            <a:ext cx="5440680" cy="777240"/>
          </a:xfrm>
          <a:prstGeom prst="roundRect">
            <a:avLst>
              <a:gd name="adj" fmla="val 7059"/>
            </a:avLst>
          </a:prstGeom>
          <a:solidFill>
            <a:schemeClr val="accent6"/>
          </a:solidFill>
          <a:ln w="12700">
            <a:solidFill>
              <a:srgbClr val="EBB98F"/>
            </a:solidFill>
            <a:prstDash val="solid"/>
          </a:ln>
        </p:spPr>
      </p:sp>
      <p:sp>
        <p:nvSpPr>
          <p:cNvPr id="26" name="Text 24"/>
          <p:cNvSpPr txBox="1"/>
          <p:nvPr/>
        </p:nvSpPr>
        <p:spPr>
          <a:xfrm>
            <a:off x="640080" y="5212080"/>
            <a:ext cx="5120640" cy="777240"/>
          </a:xfrm>
          <a:prstGeom prst="rect">
            <a:avLst/>
          </a:prstGeom>
          <a:noFill/>
          <a:ln/>
        </p:spPr>
        <p:txBody>
          <a:bodyPr wrap="square" lIns="0" tIns="0" rIns="0" bIns="0" rtlCol="0" anchor="ctr"/>
          <a:lstStyle/>
          <a:p>
            <a:pPr indent="0" marL="0">
              <a:buNone/>
            </a:pPr>
            <a:r>
              <a:rPr lang="en-US" sz="1300" dirty="0">
                <a:solidFill>
                  <a:schemeClr val="tx1"/>
                </a:solidFill>
              </a:rPr>
              <a:t>Twilio limits, changing tunnel links, typos in messages</a:t>
            </a:r>
            <a:endParaRPr lang="en-US" sz="1300" dirty="0"/>
          </a:p>
        </p:txBody>
      </p:sp>
      <p:sp>
        <p:nvSpPr>
          <p:cNvPr id="27" name="Arrow"/>
          <p:cNvSpPr/>
          <p:nvPr/>
        </p:nvSpPr>
        <p:spPr>
          <a:xfrm>
            <a:off x="5943600" y="5600700"/>
            <a:ext cx="347472" cy="0"/>
          </a:xfrm>
          <a:prstGeom prst="line">
            <a:avLst/>
          </a:prstGeom>
          <a:noFill/>
          <a:ln w="25400">
            <a:solidFill>
              <a:srgbClr val="9AA6B5"/>
            </a:solidFill>
            <a:prstDash val="solid"/>
            <a:tailEnd type="triangle"/>
          </a:ln>
        </p:spPr>
      </p:sp>
      <p:sp>
        <p:nvSpPr>
          <p:cNvPr id="28" name="Solution 5"/>
          <p:cNvSpPr/>
          <p:nvPr/>
        </p:nvSpPr>
        <p:spPr>
          <a:xfrm>
            <a:off x="6355080" y="5212080"/>
            <a:ext cx="5376672" cy="777240"/>
          </a:xfrm>
          <a:prstGeom prst="roundRect">
            <a:avLst>
              <a:gd name="adj" fmla="val 7059"/>
            </a:avLst>
          </a:prstGeom>
          <a:solidFill>
            <a:schemeClr val="accent5"/>
          </a:solidFill>
          <a:ln w="12700">
            <a:solidFill>
              <a:srgbClr val="9CCBAE"/>
            </a:solidFill>
            <a:prstDash val="solid"/>
          </a:ln>
        </p:spPr>
      </p:sp>
      <p:sp>
        <p:nvSpPr>
          <p:cNvPr id="29" name="Text 27"/>
          <p:cNvSpPr txBox="1"/>
          <p:nvPr/>
        </p:nvSpPr>
        <p:spPr>
          <a:xfrm>
            <a:off x="6537960" y="5212080"/>
            <a:ext cx="5074920" cy="777240"/>
          </a:xfrm>
          <a:prstGeom prst="rect">
            <a:avLst/>
          </a:prstGeom>
          <a:noFill/>
          <a:ln/>
        </p:spPr>
        <p:txBody>
          <a:bodyPr wrap="square" lIns="0" tIns="0" rIns="0" bIns="0" rtlCol="0" anchor="ctr"/>
          <a:lstStyle/>
          <a:p>
            <a:pPr indent="0" marL="0">
              <a:buNone/>
            </a:pPr>
            <a:r>
              <a:rPr lang="en-US" sz="1300" dirty="0">
                <a:solidFill>
                  <a:schemeClr val="tx1"/>
                </a:solidFill>
              </a:rPr>
              <a:t>Simulator, root webhook, clear Connect page; typo correction</a:t>
            </a:r>
            <a:endParaRPr lang="en-US" sz="1300" dirty="0"/>
          </a:p>
        </p:txBody>
      </p:sp>
      <p:sp>
        <p:nvSpPr>
          <p:cNvPr id="25" name="Slide Number Placeholder 0"/>
          <p:cNvSpPr>
            <a:spLocks noGrp="1"/>
          </p:cNvSpPr>
          <p:nvPr>
            <p:ph type="sldNum" sz="quarter" idx="4294967295"/>
          </p:nvPr>
        </p:nvSpPr>
        <p:spPr>
          <a:xfrm>
            <a:off x="1127455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F5A68"/>
                </a:solidFill>
                <a:latin typeface="Arial"/>
                <a:ea typeface="Arial"/>
                <a:cs typeface="Aria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685800"/>
          </a:xfrm>
          <a:prstGeom prst="rect">
            <a:avLst/>
          </a:prstGeom>
          <a:noFill/>
          <a:ln/>
        </p:spPr>
        <p:txBody>
          <a:bodyPr wrap="square" lIns="0" tIns="0" rIns="0" bIns="0" rtlCol="0" anchor="ctr"/>
          <a:lstStyle/>
          <a:p>
            <a:pPr algn="ctr" indent="0" marL="0">
              <a:buNone/>
            </a:pPr>
            <a:r>
              <a:rPr lang="en-US" sz="3200" b="1" dirty="0">
                <a:solidFill>
                  <a:srgbClr val="222B38"/>
                </a:solidFill>
                <a:latin typeface="Times New Roman" pitchFamily="34" charset="0"/>
                <a:ea typeface="Times New Roman" pitchFamily="34" charset="-122"/>
                <a:cs typeface="Times New Roman" pitchFamily="34" charset="-120"/>
              </a:rPr>
              <a:t>CONCLUSION &amp; FUTURE WORK</a:t>
            </a:r>
            <a:endParaRPr lang="en-US" sz="3200" dirty="0"/>
          </a:p>
        </p:txBody>
      </p:sp>
      <p:sp>
        <p:nvSpPr>
          <p:cNvPr id="3" name="Conclusion box"/>
          <p:cNvSpPr/>
          <p:nvPr/>
        </p:nvSpPr>
        <p:spPr>
          <a:xfrm>
            <a:off x="457200" y="1188720"/>
            <a:ext cx="6583680" cy="4983480"/>
          </a:xfrm>
          <a:prstGeom prst="roundRect">
            <a:avLst>
              <a:gd name="adj" fmla="val 1101"/>
            </a:avLst>
          </a:prstGeom>
          <a:solidFill>
            <a:schemeClr val="bg2"/>
          </a:solidFill>
          <a:ln w="12700">
            <a:solidFill>
              <a:srgbClr val="9DB7D9"/>
            </a:solidFill>
            <a:prstDash val="solid"/>
          </a:ln>
        </p:spPr>
      </p:sp>
      <p:sp>
        <p:nvSpPr>
          <p:cNvPr id="4" name="Text 2"/>
          <p:cNvSpPr txBox="1"/>
          <p:nvPr/>
        </p:nvSpPr>
        <p:spPr>
          <a:xfrm>
            <a:off x="685800" y="1325880"/>
            <a:ext cx="6126480" cy="365760"/>
          </a:xfrm>
          <a:prstGeom prst="rect">
            <a:avLst/>
          </a:prstGeom>
          <a:noFill/>
          <a:ln/>
        </p:spPr>
        <p:txBody>
          <a:bodyPr wrap="square" lIns="0" tIns="0" rIns="0" bIns="0" rtlCol="0" anchor="ctr"/>
          <a:lstStyle/>
          <a:p>
            <a:pPr indent="0" marL="0">
              <a:buNone/>
            </a:pPr>
            <a:r>
              <a:rPr lang="en-US" sz="1600" b="1" dirty="0">
                <a:solidFill>
                  <a:schemeClr val="tx2"/>
                </a:solidFill>
              </a:rPr>
              <a:t>Conclusion</a:t>
            </a:r>
            <a:endParaRPr lang="en-US" sz="1600" dirty="0"/>
          </a:p>
        </p:txBody>
      </p:sp>
      <p:sp>
        <p:nvSpPr>
          <p:cNvPr id="5" name="Text 3"/>
          <p:cNvSpPr txBox="1"/>
          <p:nvPr/>
        </p:nvSpPr>
        <p:spPr>
          <a:xfrm>
            <a:off x="685800" y="1783080"/>
            <a:ext cx="6126480" cy="4206240"/>
          </a:xfrm>
          <a:prstGeom prst="rect">
            <a:avLst/>
          </a:prstGeom>
          <a:noFill/>
          <a:ln/>
        </p:spPr>
        <p:txBody>
          <a:bodyPr wrap="square" lIns="0" tIns="0" rIns="0" bIns="0" rtlCol="0" anchor="t"/>
          <a:lstStyle/>
          <a:p>
            <a:pPr indent="0" marL="0">
              <a:lnSpc>
                <a:spcPct val="110000"/>
              </a:lnSpc>
              <a:buNone/>
            </a:pPr>
            <a:r>
              <a:rPr lang="en-US" sz="1450" dirty="0">
                <a:solidFill>
                  <a:schemeClr val="tx1"/>
                </a:solidFill>
              </a:rPr>
              <a:t>We built a working lead intelligence system for small businesses: enquiries from WhatsApp, website and email are captured automatically, scored by a calibrated ML model trained on real lead data, and adjusted by what the customer actually wrote.</a:t>
            </a:r>
            <a:endParaRPr lang="en-US" sz="1450" dirty="0"/>
          </a:p>
          <a:p>
            <a:pPr indent="0" marL="0">
              <a:lnSpc>
                <a:spcPct val="110000"/>
              </a:lnSpc>
              <a:buNone/>
            </a:pPr>
            <a:r>
              <a:rPr lang="en-US" sz="600" dirty="0">
                <a:solidFill>
                  <a:schemeClr val="tx1"/>
                </a:solidFill>
              </a:rPr>
              <a:t> </a:t>
            </a:r>
            <a:endParaRPr lang="en-US" sz="1450" dirty="0"/>
          </a:p>
          <a:p>
            <a:pPr indent="0" marL="0">
              <a:lnSpc>
                <a:spcPct val="110000"/>
              </a:lnSpc>
              <a:buNone/>
            </a:pPr>
            <a:r>
              <a:rPr lang="en-US" sz="1450" dirty="0">
                <a:solidFill>
                  <a:schemeClr val="tx1"/>
                </a:solidFill>
              </a:rPr>
              <a:t>Every score comes with a reason, the WhatsApp assistant answers routine questions from the owner's product list, and the salesperson stays in control of every message sent.</a:t>
            </a:r>
            <a:endParaRPr lang="en-US" sz="1450" dirty="0"/>
          </a:p>
          <a:p>
            <a:pPr indent="0" marL="0">
              <a:lnSpc>
                <a:spcPct val="110000"/>
              </a:lnSpc>
              <a:buNone/>
            </a:pPr>
            <a:r>
              <a:rPr lang="en-US" sz="600" dirty="0">
                <a:solidFill>
                  <a:schemeClr val="tx1"/>
                </a:solidFill>
              </a:rPr>
              <a:t> </a:t>
            </a:r>
            <a:endParaRPr lang="en-US" sz="1450" dirty="0"/>
          </a:p>
          <a:p>
            <a:pPr indent="0" marL="0">
              <a:lnSpc>
                <a:spcPct val="110000"/>
              </a:lnSpc>
              <a:buNone/>
            </a:pPr>
            <a:r>
              <a:rPr lang="en-US" sz="1450" dirty="0">
                <a:solidFill>
                  <a:schemeClr val="tx1"/>
                </a:solidFill>
              </a:rPr>
              <a:t>The system keeps learning from the business's own results instead of relying on unsuitable public data.</a:t>
            </a:r>
            <a:endParaRPr lang="en-US" sz="1450" dirty="0"/>
          </a:p>
        </p:txBody>
      </p:sp>
      <p:sp>
        <p:nvSpPr>
          <p:cNvPr id="6" name="Text 4"/>
          <p:cNvSpPr txBox="1"/>
          <p:nvPr/>
        </p:nvSpPr>
        <p:spPr>
          <a:xfrm>
            <a:off x="7406640" y="1188720"/>
            <a:ext cx="4297680" cy="365760"/>
          </a:xfrm>
          <a:prstGeom prst="rect">
            <a:avLst/>
          </a:prstGeom>
          <a:noFill/>
          <a:ln/>
        </p:spPr>
        <p:txBody>
          <a:bodyPr wrap="square" lIns="0" tIns="0" rIns="0" bIns="0" rtlCol="0" anchor="ctr"/>
          <a:lstStyle/>
          <a:p>
            <a:pPr indent="0" marL="0">
              <a:buNone/>
            </a:pPr>
            <a:r>
              <a:rPr lang="en-US" sz="1600" b="1" dirty="0">
                <a:solidFill>
                  <a:schemeClr val="accent2"/>
                </a:solidFill>
              </a:rPr>
              <a:t>Future work</a:t>
            </a:r>
            <a:endParaRPr lang="en-US" sz="1600" dirty="0"/>
          </a:p>
        </p:txBody>
      </p:sp>
      <p:sp>
        <p:nvSpPr>
          <p:cNvPr id="7" name="Icon circle"/>
          <p:cNvSpPr/>
          <p:nvPr/>
        </p:nvSpPr>
        <p:spPr>
          <a:xfrm>
            <a:off x="7406640" y="1801368"/>
            <a:ext cx="548640" cy="548640"/>
          </a:xfrm>
          <a:prstGeom prst="ellipse">
            <a:avLst/>
          </a:prstGeom>
          <a:solidFill>
            <a:schemeClr val="accent1"/>
          </a:solidFill>
          <a:ln w="12700">
            <a:solidFill>
              <a:schemeClr val="accent1"/>
            </a:solidFill>
            <a:prstDash val="solid"/>
          </a:ln>
        </p:spPr>
      </p:sp>
      <p:pic>
        <p:nvPicPr>
          <p:cNvPr id="8" name="Image 0" descr="Globe icon">    </p:cNvPr>
          <p:cNvPicPr>
            <a:picLocks noChangeAspect="1"/>
          </p:cNvPicPr>
          <p:nvPr/>
        </p:nvPicPr>
        <p:blipFill>
          <a:blip r:embed="rId1"/>
          <a:stretch>
            <a:fillRect/>
          </a:stretch>
        </p:blipFill>
        <p:spPr>
          <a:xfrm>
            <a:off x="7543800" y="1938528"/>
            <a:ext cx="274320" cy="274320"/>
          </a:xfrm>
          <a:prstGeom prst="rect">
            <a:avLst/>
          </a:prstGeom>
        </p:spPr>
      </p:pic>
      <p:sp>
        <p:nvSpPr>
          <p:cNvPr id="9" name="Text 6"/>
          <p:cNvSpPr txBox="1"/>
          <p:nvPr/>
        </p:nvSpPr>
        <p:spPr>
          <a:xfrm>
            <a:off x="8138160" y="1691640"/>
            <a:ext cx="3611880" cy="777240"/>
          </a:xfrm>
          <a:prstGeom prst="rect">
            <a:avLst/>
          </a:prstGeom>
          <a:noFill/>
          <a:ln/>
        </p:spPr>
        <p:txBody>
          <a:bodyPr wrap="square" lIns="0" tIns="0" rIns="0" bIns="0" rtlCol="0" anchor="ctr"/>
          <a:lstStyle/>
          <a:p>
            <a:pPr indent="0" marL="0">
              <a:buNone/>
            </a:pPr>
            <a:r>
              <a:rPr lang="en-US" sz="1450" b="1" dirty="0">
                <a:solidFill>
                  <a:schemeClr val="tx1"/>
                </a:solidFill>
              </a:rPr>
              <a:t>Cloud deployment</a:t>
            </a:r>
            <a:endParaRPr lang="en-US" sz="1400" dirty="0"/>
          </a:p>
          <a:p>
            <a:pPr indent="0" marL="0">
              <a:buNone/>
            </a:pPr>
            <a:r>
              <a:rPr lang="en-US" sz="1250" dirty="0">
                <a:solidFill>
                  <a:srgbClr val="4F5A68"/>
                </a:solidFill>
              </a:rPr>
              <a:t>fixed domain, PostgreSQL, login</a:t>
            </a:r>
            <a:endParaRPr lang="en-US" sz="1400" dirty="0"/>
          </a:p>
        </p:txBody>
      </p:sp>
      <p:sp>
        <p:nvSpPr>
          <p:cNvPr id="10" name="Icon circle"/>
          <p:cNvSpPr/>
          <p:nvPr/>
        </p:nvSpPr>
        <p:spPr>
          <a:xfrm>
            <a:off x="7406640" y="2898648"/>
            <a:ext cx="548640" cy="548640"/>
          </a:xfrm>
          <a:prstGeom prst="ellipse">
            <a:avLst/>
          </a:prstGeom>
          <a:solidFill>
            <a:schemeClr val="accent2"/>
          </a:solidFill>
          <a:ln w="12700">
            <a:solidFill>
              <a:schemeClr val="accent2"/>
            </a:solidFill>
            <a:prstDash val="solid"/>
          </a:ln>
        </p:spPr>
      </p:sp>
      <p:pic>
        <p:nvPicPr>
          <p:cNvPr id="11" name="Image 1" descr="Whatsapp icon">    </p:cNvPr>
          <p:cNvPicPr>
            <a:picLocks noChangeAspect="1"/>
          </p:cNvPicPr>
          <p:nvPr/>
        </p:nvPicPr>
        <p:blipFill>
          <a:blip r:embed="rId2"/>
          <a:stretch>
            <a:fillRect/>
          </a:stretch>
        </p:blipFill>
        <p:spPr>
          <a:xfrm>
            <a:off x="7543800" y="3035808"/>
            <a:ext cx="274320" cy="274320"/>
          </a:xfrm>
          <a:prstGeom prst="rect">
            <a:avLst/>
          </a:prstGeom>
        </p:spPr>
      </p:pic>
      <p:sp>
        <p:nvSpPr>
          <p:cNvPr id="12" name="Text 8"/>
          <p:cNvSpPr txBox="1"/>
          <p:nvPr/>
        </p:nvSpPr>
        <p:spPr>
          <a:xfrm>
            <a:off x="8138160" y="2788920"/>
            <a:ext cx="3611880" cy="777240"/>
          </a:xfrm>
          <a:prstGeom prst="rect">
            <a:avLst/>
          </a:prstGeom>
          <a:noFill/>
          <a:ln/>
        </p:spPr>
        <p:txBody>
          <a:bodyPr wrap="square" lIns="0" tIns="0" rIns="0" bIns="0" rtlCol="0" anchor="ctr"/>
          <a:lstStyle/>
          <a:p>
            <a:pPr indent="0" marL="0">
              <a:buNone/>
            </a:pPr>
            <a:r>
              <a:rPr lang="en-US" sz="1450" b="1" dirty="0">
                <a:solidFill>
                  <a:schemeClr val="tx1"/>
                </a:solidFill>
              </a:rPr>
              <a:t>Own WhatsApp number</a:t>
            </a:r>
            <a:endParaRPr lang="en-US" sz="1400" dirty="0"/>
          </a:p>
          <a:p>
            <a:pPr indent="0" marL="0">
              <a:buNone/>
            </a:pPr>
            <a:r>
              <a:rPr lang="en-US" sz="1250" dirty="0">
                <a:solidFill>
                  <a:srgbClr val="4F5A68"/>
                </a:solidFill>
              </a:rPr>
              <a:t>Meta Cloud API / Twilio Sender</a:t>
            </a:r>
            <a:endParaRPr lang="en-US" sz="1400" dirty="0"/>
          </a:p>
        </p:txBody>
      </p:sp>
      <p:sp>
        <p:nvSpPr>
          <p:cNvPr id="13" name="Icon circle"/>
          <p:cNvSpPr/>
          <p:nvPr/>
        </p:nvSpPr>
        <p:spPr>
          <a:xfrm>
            <a:off x="7406640" y="3995928"/>
            <a:ext cx="548640" cy="548640"/>
          </a:xfrm>
          <a:prstGeom prst="ellipse">
            <a:avLst/>
          </a:prstGeom>
          <a:solidFill>
            <a:schemeClr val="accent3"/>
          </a:solidFill>
          <a:ln w="12700">
            <a:solidFill>
              <a:schemeClr val="accent3"/>
            </a:solidFill>
            <a:prstDash val="solid"/>
          </a:ln>
        </p:spPr>
      </p:sp>
      <p:pic>
        <p:nvPicPr>
          <p:cNvPr id="14" name="Image 2" descr="Comments icon">    </p:cNvPr>
          <p:cNvPicPr>
            <a:picLocks noChangeAspect="1"/>
          </p:cNvPicPr>
          <p:nvPr/>
        </p:nvPicPr>
        <p:blipFill>
          <a:blip r:embed="rId3"/>
          <a:stretch>
            <a:fillRect/>
          </a:stretch>
        </p:blipFill>
        <p:spPr>
          <a:xfrm>
            <a:off x="7543800" y="4133088"/>
            <a:ext cx="274320" cy="274320"/>
          </a:xfrm>
          <a:prstGeom prst="rect">
            <a:avLst/>
          </a:prstGeom>
        </p:spPr>
      </p:pic>
      <p:sp>
        <p:nvSpPr>
          <p:cNvPr id="15" name="Text 10"/>
          <p:cNvSpPr txBox="1"/>
          <p:nvPr/>
        </p:nvSpPr>
        <p:spPr>
          <a:xfrm>
            <a:off x="8138160" y="3886200"/>
            <a:ext cx="3611880" cy="777240"/>
          </a:xfrm>
          <a:prstGeom prst="rect">
            <a:avLst/>
          </a:prstGeom>
          <a:noFill/>
          <a:ln/>
        </p:spPr>
        <p:txBody>
          <a:bodyPr wrap="square" lIns="0" tIns="0" rIns="0" bIns="0" rtlCol="0" anchor="ctr"/>
          <a:lstStyle/>
          <a:p>
            <a:pPr indent="0" marL="0">
              <a:buNone/>
            </a:pPr>
            <a:r>
              <a:rPr lang="en-US" sz="1450" b="1" dirty="0">
                <a:solidFill>
                  <a:schemeClr val="tx1"/>
                </a:solidFill>
              </a:rPr>
              <a:t>Telugu, Hindi, Hinglish</a:t>
            </a:r>
            <a:endParaRPr lang="en-US" sz="1400" dirty="0"/>
          </a:p>
          <a:p>
            <a:pPr indent="0" marL="0">
              <a:buNone/>
            </a:pPr>
            <a:r>
              <a:rPr lang="en-US" sz="1250" dirty="0">
                <a:solidFill>
                  <a:srgbClr val="4F5A68"/>
                </a:solidFill>
              </a:rPr>
              <a:t>multi-language signals</a:t>
            </a:r>
            <a:endParaRPr lang="en-US" sz="1400" dirty="0"/>
          </a:p>
        </p:txBody>
      </p:sp>
      <p:sp>
        <p:nvSpPr>
          <p:cNvPr id="16" name="Icon circle"/>
          <p:cNvSpPr/>
          <p:nvPr/>
        </p:nvSpPr>
        <p:spPr>
          <a:xfrm>
            <a:off x="7406640" y="5093208"/>
            <a:ext cx="548640" cy="548640"/>
          </a:xfrm>
          <a:prstGeom prst="ellipse">
            <a:avLst/>
          </a:prstGeom>
          <a:solidFill>
            <a:schemeClr val="tx2"/>
          </a:solidFill>
          <a:ln w="12700">
            <a:solidFill>
              <a:schemeClr val="tx2"/>
            </a:solidFill>
            <a:prstDash val="solid"/>
          </a:ln>
        </p:spPr>
      </p:sp>
      <p:pic>
        <p:nvPicPr>
          <p:cNvPr id="17" name="Image 3" descr="Robot icon">    </p:cNvPr>
          <p:cNvPicPr>
            <a:picLocks noChangeAspect="1"/>
          </p:cNvPicPr>
          <p:nvPr/>
        </p:nvPicPr>
        <p:blipFill>
          <a:blip r:embed="rId4"/>
          <a:stretch>
            <a:fillRect/>
          </a:stretch>
        </p:blipFill>
        <p:spPr>
          <a:xfrm>
            <a:off x="7543800" y="5230368"/>
            <a:ext cx="274320" cy="274320"/>
          </a:xfrm>
          <a:prstGeom prst="rect">
            <a:avLst/>
          </a:prstGeom>
        </p:spPr>
      </p:pic>
      <p:sp>
        <p:nvSpPr>
          <p:cNvPr id="18" name="Text 12"/>
          <p:cNvSpPr txBox="1"/>
          <p:nvPr/>
        </p:nvSpPr>
        <p:spPr>
          <a:xfrm>
            <a:off x="8138160" y="4983480"/>
            <a:ext cx="3611880" cy="777240"/>
          </a:xfrm>
          <a:prstGeom prst="rect">
            <a:avLst/>
          </a:prstGeom>
          <a:noFill/>
          <a:ln/>
        </p:spPr>
        <p:txBody>
          <a:bodyPr wrap="square" lIns="0" tIns="0" rIns="0" bIns="0" rtlCol="0" anchor="ctr"/>
          <a:lstStyle/>
          <a:p>
            <a:pPr indent="0" marL="0">
              <a:buNone/>
            </a:pPr>
            <a:r>
              <a:rPr lang="en-US" sz="1450" b="1" dirty="0">
                <a:solidFill>
                  <a:schemeClr val="tx1"/>
                </a:solidFill>
              </a:rPr>
              <a:t>Optional LLM drafts</a:t>
            </a:r>
            <a:endParaRPr lang="en-US" sz="1400" dirty="0"/>
          </a:p>
          <a:p>
            <a:pPr indent="0" marL="0">
              <a:buNone/>
            </a:pPr>
            <a:r>
              <a:rPr lang="en-US" sz="1250" dirty="0">
                <a:solidFill>
                  <a:srgbClr val="4F5A68"/>
                </a:solidFill>
              </a:rPr>
              <a:t>with rule-based fallback</a:t>
            </a:r>
            <a:endParaRPr lang="en-US" sz="1400" dirty="0"/>
          </a:p>
        </p:txBody>
      </p:sp>
      <p:sp>
        <p:nvSpPr>
          <p:cNvPr id="25" name="Slide Number Placeholder 0"/>
          <p:cNvSpPr>
            <a:spLocks noGrp="1"/>
          </p:cNvSpPr>
          <p:nvPr>
            <p:ph type="sldNum" sz="quarter" idx="4294967295"/>
          </p:nvPr>
        </p:nvSpPr>
        <p:spPr>
          <a:xfrm>
            <a:off x="11274552"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F5A68"/>
                </a:solidFill>
                <a:latin typeface="Arial"/>
                <a:ea typeface="Arial"/>
                <a:cs typeface="Aria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457200" y="1554480"/>
            <a:ext cx="11274552" cy="1005840"/>
          </a:xfrm>
          <a:prstGeom prst="rect">
            <a:avLst/>
          </a:prstGeom>
          <a:noFill/>
          <a:ln/>
        </p:spPr>
        <p:txBody>
          <a:bodyPr wrap="square" lIns="0" tIns="0" rIns="0" bIns="0" rtlCol="0" anchor="ctr"/>
          <a:lstStyle/>
          <a:p>
            <a:pPr algn="ctr" indent="0" marL="0">
              <a:buNone/>
            </a:pPr>
            <a:r>
              <a:rPr lang="en-US" sz="5400" b="1" dirty="0">
                <a:solidFill>
                  <a:schemeClr val="bg1"/>
                </a:solidFill>
                <a:latin typeface="Times New Roman" pitchFamily="34" charset="0"/>
                <a:ea typeface="Times New Roman" pitchFamily="34" charset="-122"/>
                <a:cs typeface="Times New Roman" pitchFamily="34" charset="-120"/>
              </a:rPr>
              <a:t>THANK YOU</a:t>
            </a:r>
            <a:endParaRPr lang="en-US" sz="5400" dirty="0"/>
          </a:p>
        </p:txBody>
      </p:sp>
      <p:sp>
        <p:nvSpPr>
          <p:cNvPr id="3" name="Text 1"/>
          <p:cNvSpPr txBox="1"/>
          <p:nvPr/>
        </p:nvSpPr>
        <p:spPr>
          <a:xfrm>
            <a:off x="457200" y="2606040"/>
            <a:ext cx="11274552" cy="502920"/>
          </a:xfrm>
          <a:prstGeom prst="rect">
            <a:avLst/>
          </a:prstGeom>
          <a:noFill/>
          <a:ln/>
        </p:spPr>
        <p:txBody>
          <a:bodyPr wrap="square" lIns="0" tIns="0" rIns="0" bIns="0" rtlCol="0" anchor="ctr"/>
          <a:lstStyle/>
          <a:p>
            <a:pPr algn="ctr" indent="0" marL="0">
              <a:buNone/>
            </a:pPr>
            <a:r>
              <a:rPr lang="en-US" sz="1800" dirty="0">
                <a:solidFill>
                  <a:schemeClr val="accent4"/>
                </a:solidFill>
              </a:rPr>
              <a:t>Questions are welcome</a:t>
            </a:r>
            <a:endParaRPr lang="en-US" sz="1800" dirty="0"/>
          </a:p>
        </p:txBody>
      </p:sp>
      <p:sp>
        <p:nvSpPr>
          <p:cNvPr id="4" name="Member"/>
          <p:cNvSpPr/>
          <p:nvPr/>
        </p:nvSpPr>
        <p:spPr>
          <a:xfrm>
            <a:off x="1463040" y="3749040"/>
            <a:ext cx="2834640" cy="685800"/>
          </a:xfrm>
          <a:prstGeom prst="roundRect">
            <a:avLst>
              <a:gd name="adj" fmla="val 8000"/>
            </a:avLst>
          </a:prstGeom>
          <a:solidFill>
            <a:srgbClr val="1D4E89"/>
          </a:solidFill>
          <a:ln w="12700">
            <a:solidFill>
              <a:srgbClr val="1D4E89"/>
            </a:solidFill>
            <a:prstDash val="solid"/>
          </a:ln>
        </p:spPr>
      </p:sp>
      <p:sp>
        <p:nvSpPr>
          <p:cNvPr id="5" name="Text 3"/>
          <p:cNvSpPr txBox="1"/>
          <p:nvPr/>
        </p:nvSpPr>
        <p:spPr>
          <a:xfrm>
            <a:off x="1463040" y="3749040"/>
            <a:ext cx="2834640" cy="685800"/>
          </a:xfrm>
          <a:prstGeom prst="rect">
            <a:avLst/>
          </a:prstGeom>
          <a:noFill/>
          <a:ln/>
        </p:spPr>
        <p:txBody>
          <a:bodyPr wrap="square" lIns="0" tIns="0" rIns="0" bIns="0" rtlCol="0" anchor="ctr"/>
          <a:lstStyle/>
          <a:p>
            <a:pPr algn="ctr" indent="0" marL="0">
              <a:buNone/>
            </a:pPr>
            <a:r>
              <a:rPr lang="en-US" sz="1500" b="1" dirty="0">
                <a:solidFill>
                  <a:schemeClr val="bg1"/>
                </a:solidFill>
              </a:rPr>
              <a:t>Thoomu Rithwik Reddy</a:t>
            </a:r>
            <a:endParaRPr lang="en-US" sz="1500" dirty="0"/>
          </a:p>
        </p:txBody>
      </p:sp>
      <p:sp>
        <p:nvSpPr>
          <p:cNvPr id="6" name="Member"/>
          <p:cNvSpPr/>
          <p:nvPr/>
        </p:nvSpPr>
        <p:spPr>
          <a:xfrm>
            <a:off x="4663440" y="3749040"/>
            <a:ext cx="2834640" cy="685800"/>
          </a:xfrm>
          <a:prstGeom prst="roundRect">
            <a:avLst>
              <a:gd name="adj" fmla="val 8000"/>
            </a:avLst>
          </a:prstGeom>
          <a:solidFill>
            <a:srgbClr val="1D4E89"/>
          </a:solidFill>
          <a:ln w="12700">
            <a:solidFill>
              <a:srgbClr val="1D4E89"/>
            </a:solidFill>
            <a:prstDash val="solid"/>
          </a:ln>
        </p:spPr>
      </p:sp>
      <p:sp>
        <p:nvSpPr>
          <p:cNvPr id="7" name="Text 5"/>
          <p:cNvSpPr txBox="1"/>
          <p:nvPr/>
        </p:nvSpPr>
        <p:spPr>
          <a:xfrm>
            <a:off x="4663440" y="3749040"/>
            <a:ext cx="2834640" cy="685800"/>
          </a:xfrm>
          <a:prstGeom prst="rect">
            <a:avLst/>
          </a:prstGeom>
          <a:noFill/>
          <a:ln/>
        </p:spPr>
        <p:txBody>
          <a:bodyPr wrap="square" lIns="0" tIns="0" rIns="0" bIns="0" rtlCol="0" anchor="ctr"/>
          <a:lstStyle/>
          <a:p>
            <a:pPr algn="ctr" indent="0" marL="0">
              <a:buNone/>
            </a:pPr>
            <a:r>
              <a:rPr lang="en-US" sz="1500" b="1" dirty="0">
                <a:solidFill>
                  <a:schemeClr val="bg1"/>
                </a:solidFill>
              </a:rPr>
              <a:t>Vadla Dinesh Achary</a:t>
            </a:r>
            <a:endParaRPr lang="en-US" sz="1500" dirty="0"/>
          </a:p>
        </p:txBody>
      </p:sp>
      <p:sp>
        <p:nvSpPr>
          <p:cNvPr id="8" name="Member"/>
          <p:cNvSpPr/>
          <p:nvPr/>
        </p:nvSpPr>
        <p:spPr>
          <a:xfrm>
            <a:off x="7863840" y="3749040"/>
            <a:ext cx="2834640" cy="685800"/>
          </a:xfrm>
          <a:prstGeom prst="roundRect">
            <a:avLst>
              <a:gd name="adj" fmla="val 8000"/>
            </a:avLst>
          </a:prstGeom>
          <a:solidFill>
            <a:srgbClr val="1D4E89"/>
          </a:solidFill>
          <a:ln w="12700">
            <a:solidFill>
              <a:srgbClr val="1D4E89"/>
            </a:solidFill>
            <a:prstDash val="solid"/>
          </a:ln>
        </p:spPr>
      </p:sp>
      <p:sp>
        <p:nvSpPr>
          <p:cNvPr id="9" name="Text 7"/>
          <p:cNvSpPr txBox="1"/>
          <p:nvPr/>
        </p:nvSpPr>
        <p:spPr>
          <a:xfrm>
            <a:off x="7863840" y="3749040"/>
            <a:ext cx="2834640" cy="685800"/>
          </a:xfrm>
          <a:prstGeom prst="rect">
            <a:avLst/>
          </a:prstGeom>
          <a:noFill/>
          <a:ln/>
        </p:spPr>
        <p:txBody>
          <a:bodyPr wrap="square" lIns="0" tIns="0" rIns="0" bIns="0" rtlCol="0" anchor="ctr"/>
          <a:lstStyle/>
          <a:p>
            <a:pPr algn="ctr" indent="0" marL="0">
              <a:buNone/>
            </a:pPr>
            <a:r>
              <a:rPr lang="en-US" sz="1500" b="1" dirty="0">
                <a:solidFill>
                  <a:schemeClr val="bg1"/>
                </a:solidFill>
              </a:rPr>
              <a:t>Bathula Shivani</a:t>
            </a:r>
            <a:endParaRPr lang="en-US" sz="1500" dirty="0"/>
          </a:p>
        </p:txBody>
      </p:sp>
      <p:sp>
        <p:nvSpPr>
          <p:cNvPr id="10" name="Text 8"/>
          <p:cNvSpPr txBox="1"/>
          <p:nvPr/>
        </p:nvSpPr>
        <p:spPr>
          <a:xfrm>
            <a:off x="457200" y="4846320"/>
            <a:ext cx="11274552" cy="365760"/>
          </a:xfrm>
          <a:prstGeom prst="rect">
            <a:avLst/>
          </a:prstGeom>
          <a:noFill/>
          <a:ln/>
        </p:spPr>
        <p:txBody>
          <a:bodyPr wrap="square" lIns="0" tIns="0" rIns="0" bIns="0" rtlCol="0" anchor="ctr"/>
          <a:lstStyle/>
          <a:p>
            <a:pPr algn="ctr" indent="0" marL="0">
              <a:buNone/>
            </a:pPr>
            <a:r>
              <a:rPr lang="en-US" sz="1300" dirty="0">
                <a:solidFill>
                  <a:srgbClr val="DBE6F3"/>
                </a:solidFill>
              </a:rPr>
              <a:t>Guide: Assistant Professor T. Vijayalaxmi  ·  Department of Information Technology</a:t>
            </a:r>
            <a:endParaRPr lang="en-US" sz="1300" dirty="0"/>
          </a:p>
        </p:txBody>
      </p:sp>
    </p:spTree>
  </p:cSld>
  <p:clrMapOvr>
    <a:masterClrMapping/>
  </p:clrMapOvr>
</p:sld>
</file>

<file path=ppt/theme/theme1.xml><?xml version="1.0" encoding="utf-8"?>
<a:theme xmlns:a="http://schemas.openxmlformats.org/drawingml/2006/main" name="Lead Conversion Review 2">
  <a:themeElements>
    <a:clrScheme name="Lead Conversion Review 2">
      <a:dk1>
        <a:srgbClr val="222B38"/>
      </a:dk1>
      <a:lt1>
        <a:srgbClr val="FFFFFF"/>
      </a:lt1>
      <a:dk2>
        <a:srgbClr val="13315C"/>
      </a:dk2>
      <a:lt2>
        <a:srgbClr val="EAF1F8"/>
      </a:lt2>
      <a:accent1>
        <a:srgbClr val="2F6DB5"/>
      </a:accent1>
      <a:accent2>
        <a:srgbClr val="1E7A46"/>
      </a:accent2>
      <a:accent3>
        <a:srgbClr val="B5560F"/>
      </a:accent3>
      <a:accent4>
        <a:srgbClr val="F4A261"/>
      </a:accent4>
      <a:accent5>
        <a:srgbClr val="E8F3EC"/>
      </a:accent5>
      <a:accent6>
        <a:srgbClr val="FDF0E6"/>
      </a:accent6>
      <a:hlink>
        <a:srgbClr val="0A5FA3"/>
      </a:hlink>
      <a:folHlink>
        <a:srgbClr val="9AA6B5"/>
      </a:folHlink>
    </a:clrScheme>
    <a:fontScheme name="Lead Conversion Review 2">
      <a:majorFont>
        <a:latin typeface="Times New Roman"/>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Sales / Lead Conversion Intelligence System for Small and Medium Enterprises - Second Review</dc:title>
  <dc:subject>PptxGenJS Presentation</dc:subject>
  <dc:creator>PptxGenJS</dc:creator>
  <cp:lastModifiedBy>PptxGenJS</cp:lastModifiedBy>
  <cp:revision>1</cp:revision>
  <dcterms:created xsi:type="dcterms:W3CDTF">2026-10-25T06:14:04Z</dcterms:created>
  <dcterms:modified xsi:type="dcterms:W3CDTF">2026-10-25T06:14:04Z</dcterms:modified>
</cp:coreProperties>
</file>